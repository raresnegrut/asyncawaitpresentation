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961" autoAdjust="0"/>
  </p:normalViewPr>
  <p:slideViewPr>
    <p:cSldViewPr snapToGrid="0" snapToObjects="1">
      <p:cViewPr varScale="1">
        <p:scale>
          <a:sx n="170" d="100"/>
          <a:sy n="170" d="100"/>
        </p:scale>
        <p:origin x="84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54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Beyond the Basics of async/await. You've written 'async Task DoSomethingAsync()' hundreds of times. You know the rule: if it's async, you await it.</a:t>
            </a:r>
          </a:p>
          <a:p>
            <a:r>
              <a:rPr lang="en-US" dirty="0"/>
              <a:t>Your IDE screams at you if you forget. Your code reviews demand it. And so you do </a:t>
            </a:r>
            <a:r>
              <a:rPr lang="en-US"/>
              <a:t>it - </a:t>
            </a:r>
            <a:r>
              <a:rPr lang="en-US" dirty="0"/>
              <a:t>almost mechanically.</a:t>
            </a:r>
          </a:p>
          <a:p>
            <a:r>
              <a:rPr lang="en-US" dirty="0"/>
              <a:t>But do you know what actually happens when you press F5? The rest of this talk answers the questions you've probably never asked.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written this method a thousand times. Three lines. Simple.</a:t>
            </a:r>
          </a:p>
          <a:p>
            <a:r>
              <a:rPr lang="en-US" dirty="0"/>
              <a:t>But behind those three lines, the compiler is doing a lot. It's rewriting your method into something you wouldn't recognise. And the runtime is coordinating a whole cast of infrastructure you've never had to think </a:t>
            </a:r>
            <a:r>
              <a:rPr lang="en-US"/>
              <a:t>about - </a:t>
            </a:r>
            <a:r>
              <a:rPr lang="en-US" dirty="0"/>
              <a:t>until today.</a:t>
            </a:r>
          </a:p>
          <a:p>
            <a:r>
              <a:rPr lang="en-US" dirty="0"/>
              <a:t>We're going to answer: What is a Task, really? Who actually runs it? What does await compile to? Why does ConfigureAwait(false) exist, and should you care? Let's peel the layers back, one at a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from the problem. Why does async code exist at all? The answer is resource efficiency. Threads are expensive and we need a way to not waste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Threads are expensive. Each thread in .NET costs roughly 1 MB of stack space, plus the OS overhead of creating, scheduling, and context-switching it. Creating a thread isn't </a:t>
            </a:r>
            <a:r>
              <a:rPr lang="en-US"/>
              <a:t>free - </a:t>
            </a:r>
            <a:r>
              <a:rPr lang="en-US" dirty="0"/>
              <a:t>the OS has to allocate that stack, set up kernel data structures, and register the thread with the scheduler.</a:t>
            </a:r>
          </a:p>
          <a:p>
            <a:r>
              <a:rPr lang="en-US" dirty="0"/>
              <a:t>Destroying it has its own cost. Now think about a server handling 10,000 concurrent requests. If each request occupies a thread for the duration of its </a:t>
            </a:r>
            <a:r>
              <a:rPr lang="en-US"/>
              <a:t>work - </a:t>
            </a:r>
            <a:r>
              <a:rPr lang="en-US" dirty="0"/>
              <a:t>including time spent waiting for a database query or HTTP </a:t>
            </a:r>
            <a:r>
              <a:rPr lang="en-US"/>
              <a:t>response - </a:t>
            </a:r>
            <a:r>
              <a:rPr lang="en-US" dirty="0"/>
              <a:t>that's 10,000 threads.</a:t>
            </a:r>
          </a:p>
          <a:p>
            <a:r>
              <a:rPr lang="en-US" dirty="0"/>
              <a:t>That's roughly 10 GB of stack space alone, before you've done anything useful. And the OS thread scheduler is spending all its time context-switching between thousands of threads, most of which are doing absolutely nothing. A blocked thread is alive, consuming memory, registered with the </a:t>
            </a:r>
            <a:r>
              <a:rPr lang="en-US"/>
              <a:t>scheduler - </a:t>
            </a:r>
            <a:r>
              <a:rPr lang="en-US" dirty="0"/>
              <a:t>and accomplishing nothing.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t>
            </a:r>
            <a:r>
              <a:rPr lang="en-US" dirty="0" err="1"/>
              <a:t>Thread.Sleep</a:t>
            </a:r>
            <a:r>
              <a:rPr lang="en-US" dirty="0"/>
              <a:t> to delay something from happening is wrong in most scenarios. The thread is alive, consuming memory, registered with the OS </a:t>
            </a:r>
            <a:r>
              <a:rPr lang="en-US"/>
              <a:t>scheduler - </a:t>
            </a:r>
            <a:r>
              <a:rPr lang="en-US" dirty="0"/>
              <a:t>and accomplishing absolutely nothing. It's just waiting.</a:t>
            </a:r>
          </a:p>
          <a:p>
            <a:r>
              <a:rPr lang="en-US" dirty="0"/>
              <a:t>But because it's blocked, nobody else can use it. With Task.Delay, no thread is held. A timer is set at the OS level.</a:t>
            </a:r>
          </a:p>
          <a:p>
            <a:r>
              <a:rPr lang="en-US" dirty="0"/>
              <a:t>The thread is released and can do other work. When the timer fires, the runtime arranges for a thread to pick up where we left off.</a:t>
            </a:r>
          </a:p>
          <a:p>
            <a:r>
              <a:rPr lang="en-US" dirty="0"/>
              <a:t>That server handling 10,000 requests? With async I/O, it might only need 20-50 threads. This is also why async is not the same as parallelism. Parallelism means doing multiple things at the same time.</a:t>
            </a:r>
          </a:p>
          <a:p>
            <a:r>
              <a:rPr lang="en-US" dirty="0"/>
              <a:t>Async means not holding resources hostage while doing nothing. A single-threaded application can still benefit from </a:t>
            </a:r>
            <a:r>
              <a:rPr lang="en-US"/>
              <a:t>async - </a:t>
            </a:r>
            <a:r>
              <a:rPr lang="en-US" dirty="0"/>
              <a:t>one thread can juggle many operations instead of being pinned to one at a time. The phrase to remember: async is about yielding control while waiting, so that resources (threads) can be used elsewhere.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 goal is 'don't block the thread while waiting,' how did we achieve that before async/await came along in C# 5.0? The answer was the Task Parallel Library (TPL), specifically the ContinueWith method. The idea: start an operation, and attach a callback that runs when it finishes.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ContinueWith, each sequential step pushes you deeper in nesting. Real code has sequential steps where each step needs the result of the previous one, so you end up nesting callbacks - this is 'callback hell,' the same problem JavaScript developers faced. It gets worse with error handling: there's no try/catch.</a:t>
            </a:r>
          </a:p>
          <a:p>
            <a:r>
              <a:rPr lang="en-US" dirty="0"/>
              <a:t>Exceptions are wrapped in AggregateException on the Task's .Exception property. You have to check IsFaulted manually in every callback. Miss a check, and the exception vanishes silently.</a:t>
            </a:r>
          </a:p>
          <a:p>
            <a:r>
              <a:rPr lang="en-US" dirty="0"/>
              <a:t>And there's Unwrap() - because ContinueWith on a Task that returns another Task gives you a Task&lt;Task&gt;, and you have to flatten it yourself. The pain points: nesting grows with each step, error handling is manual and error-prone, composing sequential steps requires Unwrap and careful return types, and the code reads nothing like the sequential logic it represents.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same logic with async/await: flat, sequential, try/catch works normally. The compiler handles all the callback plumbing for you. This is the same underlying </a:t>
            </a:r>
            <a:r>
              <a:rPr lang="en-US"/>
              <a:t>mechanism - </a:t>
            </a:r>
            <a:r>
              <a:rPr lang="en-US" dirty="0"/>
              <a:t>continuations on </a:t>
            </a:r>
            <a:r>
              <a:rPr lang="en-US"/>
              <a:t>Tasks - </a:t>
            </a:r>
            <a:r>
              <a:rPr lang="en-US" dirty="0"/>
              <a:t>but the developer experience is night and day.</a:t>
            </a:r>
          </a:p>
          <a:p>
            <a:r>
              <a:rPr lang="en-US" dirty="0"/>
              <a:t>await is syntactic sugar that solves the callback-hell problem the TPL introduced.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saying 'Task</a:t>
            </a:r>
            <a:r>
              <a:rPr lang="en-US"/>
              <a:t>' - </a:t>
            </a:r>
            <a:r>
              <a:rPr lang="en-US" dirty="0"/>
              <a:t>it's time to pin down what that actually means. Here's the most important misconception to kill: a Task is not a thread.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Task does not represent a thread. It does not inherently own a thread, use a thread, or require a thread. A Task is a promise - a data structure that represents an operation that will complete at some point in the future.</a:t>
            </a:r>
          </a:p>
          <a:p>
            <a:r>
              <a:rPr lang="en-US" dirty="0"/>
              <a:t>You can ask it: 'Are you done yet?' You can say: 'Call me back when you're done.' Task.Delay does NOT create a thread. It sets a system timer. During the 1000ms wait, zero threads are involved.</a:t>
            </a:r>
          </a:p>
          <a:p>
            <a:r>
              <a:rPr lang="en-US" dirty="0"/>
              <a:t>Task.Run takes your delegate and queues it to be executed by a worker thread. But the Task is still just the promise object - the notification mechanism. TaskCompletionSource proves no thread ever needs to be involved: you create a Task and complete it manually, perhaps in response to an event callback, a hardware interrupt, or a message from another system.</a:t>
            </a:r>
          </a:p>
          <a:p>
            <a:r>
              <a:rPr lang="en-US" dirty="0"/>
              <a:t>This is how most truly asynchronous APIs work under the hood - at the bottom of the stack, there's almost always a TaskCompletionSource being completed by an OS callback. Task&lt;T&gt; is just Task plus a result value. Task is a promise that something will finish.</a:t>
            </a:r>
          </a:p>
          <a:p>
            <a:r>
              <a:rPr lang="en-US" dirty="0"/>
              <a:t>Task&lt;T&gt; is a promise that something will finish and produce a value of type 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a Task is just a promise, and Task.Delay doesn't use threads, something still has to run the code you pass to Task.Run. Where do those threads come from? The answer is the .NET ThreadPool.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ThreadPool is a pool of pre-created worker threads, managed by the runtime, that exist for the lifetime of your application. When you call Task.Run, the delegate is placed into a queue and a worker thread dequeues and executes it. Why a pool instead of creating a new thread each time? Because thread creation is expensive: allocating ~1 MB of stack space, making OS system calls, registering with the kernel scheduler.</a:t>
            </a:r>
          </a:p>
          <a:p>
            <a:r>
              <a:rPr lang="en-US" dirty="0"/>
              <a:t>If your server handles 1,000 requests per second and each needs a thread for 5ms of CPU work, creating and destroying 1,000 threads per second would be ruinous. The pool solves this by reusing a fixed-ish set of threads. The pool starts with about one thread per CPU core.</a:t>
            </a:r>
          </a:p>
          <a:p>
            <a:r>
              <a:rPr lang="en-US" dirty="0"/>
              <a:t>If work items queue up faster than threads can process them, it slowly injects new </a:t>
            </a:r>
            <a:r>
              <a:rPr lang="en-US"/>
              <a:t>threads - </a:t>
            </a:r>
            <a:r>
              <a:rPr lang="en-US" dirty="0"/>
              <a:t>roughly one every 500ms. This conservative growth avoids oversaturating the CPU with context-switching overhead. But it means if you suddenly block many ThreadPool threads (by calling .Result or .Wait()), you starve the pool.</a:t>
            </a:r>
          </a:p>
          <a:p>
            <a:r>
              <a:rPr lang="en-US" dirty="0"/>
              <a:t>The pool sees threads are 'busy' (even though they're just blocked-waiting), and adds new threads very slowly, causing cascading stalls.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Task.Delay does NOT occupy a ThreadPool thread during the delay. It registers a system timer. No thread is consumed during the wait.</a:t>
            </a:r>
          </a:p>
          <a:p>
            <a:r>
              <a:rPr lang="en-US" dirty="0"/>
              <a:t>But when that timer fires, someone needs to run the code that comes after the await. That 'code after the await' is called a </a:t>
            </a:r>
            <a:r>
              <a:rPr lang="en-US"/>
              <a:t>continuation - </a:t>
            </a:r>
            <a:r>
              <a:rPr lang="en-US" dirty="0"/>
              <a:t>and by default, it gets queued to a ThreadPool thread to execute. This is the fundamental pattern: the code before an await runs on one thread.</a:t>
            </a:r>
          </a:p>
          <a:p>
            <a:r>
              <a:rPr lang="en-US" dirty="0"/>
              <a:t>The code after the </a:t>
            </a:r>
            <a:r>
              <a:rPr lang="en-US"/>
              <a:t>await - </a:t>
            </a:r>
            <a:r>
              <a:rPr lang="en-US" dirty="0"/>
              <a:t>the </a:t>
            </a:r>
            <a:r>
              <a:rPr lang="en-US"/>
              <a:t>continuation - </a:t>
            </a:r>
            <a:r>
              <a:rPr lang="en-US" dirty="0"/>
              <a:t>may run on an entirely different thread. The ThreadPool is the default place where continuations are dispatched. But it's not the only </a:t>
            </a:r>
            <a:r>
              <a:rPr lang="en-US"/>
              <a:t>option - </a:t>
            </a:r>
            <a:r>
              <a:rPr lang="en-US" dirty="0"/>
              <a:t>that's where SynchronizationContext comes 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said that after an await, the continuation runs on a ThreadPool thread. But that's not always true. In WPF or WinForms, you can update UI controls after an await without getting a cross-thread exception.</a:t>
            </a:r>
          </a:p>
          <a:p>
            <a:r>
              <a:rPr lang="en-US" dirty="0"/>
              <a:t>That means the continuation ran on the UI thread. How? The answer is SynchronizationContext.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SynchronizationContext is an abstraction that answers one question: where should a continuation run? </a:t>
            </a:r>
            <a:br>
              <a:rPr lang="en-US" dirty="0"/>
            </a:br>
            <a:r>
              <a:rPr lang="en-US" dirty="0"/>
              <a:t>It has a Post method that takes a delegate and schedules it to run in the 'right place.’ </a:t>
            </a:r>
            <a:br>
              <a:rPr lang="en-US" dirty="0"/>
            </a:br>
            <a:r>
              <a:rPr lang="en-US" dirty="0"/>
              <a:t>In WinForms, the WindowsFormsSynchronizationContext posts the delegate to the UI thread's Win32 message loop. </a:t>
            </a:r>
            <a:br>
              <a:rPr lang="en-US" dirty="0"/>
            </a:br>
            <a:r>
              <a:rPr lang="en-US" dirty="0"/>
              <a:t>In WPF, the DispatcherSynchronizationContext posts to the WPF Dispatcher, also on the UI thread. </a:t>
            </a:r>
            <a:br>
              <a:rPr lang="en-US" dirty="0"/>
            </a:br>
            <a:r>
              <a:rPr lang="en-US" dirty="0"/>
              <a:t>In ASP.NET Classic (pre-Core), there was a request-scoped context ensuring one thread at a time per request.</a:t>
            </a:r>
          </a:p>
          <a:p>
            <a:r>
              <a:rPr lang="en-US" dirty="0"/>
              <a:t>In ASP.NET Core and console apps, there is NO </a:t>
            </a:r>
            <a:r>
              <a:rPr lang="en-US" dirty="0" err="1"/>
              <a:t>SynchronizationContext</a:t>
            </a:r>
            <a:r>
              <a:rPr lang="en-US" dirty="0"/>
              <a:t> - Current returns null. When you await something, the async infrastructure checks SynchronizationContext.Current BEFORE suspending. If one exists, it's captured, and when the awaited operation completes, the continuation is posted to that context via its Post method.</a:t>
            </a:r>
          </a:p>
          <a:p>
            <a:r>
              <a:rPr lang="en-US" dirty="0"/>
              <a:t>This is why in a WPF app you can safely update UI after an await. Below SynchronizationContext there's </a:t>
            </a:r>
            <a:r>
              <a:rPr lang="en-US" dirty="0" err="1"/>
              <a:t>TaskScheduler</a:t>
            </a:r>
            <a:r>
              <a:rPr lang="en-US" dirty="0"/>
              <a:t> - the lower-level scheduler used by TPL's Task.Run and ContinueWith. The default, TaskScheduler.Default, sends work to the ThreadPool.</a:t>
            </a:r>
          </a:p>
          <a:p>
            <a:r>
              <a:rPr lang="en-US" dirty="0"/>
              <a:t>You typically don't interact with it directly in async/await code.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scenario step by step: 1. You're on the UI thread. SynchronizationContext.Current is set.</a:t>
            </a:r>
          </a:p>
          <a:p>
            <a:r>
              <a:rPr lang="en-US" dirty="0"/>
              <a:t>2. You call SomeAsyncMethod().</a:t>
            </a:r>
            <a:r>
              <a:rPr lang="en-US"/>
              <a:t>Result - </a:t>
            </a:r>
            <a:r>
              <a:rPr lang="en-US" dirty="0"/>
              <a:t>this BLOCKS the UI thread.</a:t>
            </a:r>
            <a:br>
              <a:rPr lang="en-US" dirty="0"/>
            </a:br>
            <a:r>
              <a:rPr lang="en-US" dirty="0"/>
              <a:t>3. Inside the async method, the code hits an await. The infrastructure captures the UI </a:t>
            </a:r>
            <a:r>
              <a:rPr lang="en-US" dirty="0" err="1"/>
              <a:t>SynchronizationContext</a:t>
            </a:r>
            <a:r>
              <a:rPr lang="en-US" dirty="0"/>
              <a:t>. </a:t>
            </a:r>
          </a:p>
          <a:p>
            <a:r>
              <a:rPr lang="en-US" dirty="0"/>
              <a:t>4. The awaited operation completes. The infrastructure tries to post the continuation to the UI thread via the captured context.</a:t>
            </a:r>
          </a:p>
          <a:p>
            <a:r>
              <a:rPr lang="en-US" dirty="0"/>
              <a:t>5. But the UI thread is blocked in step 2, waiting for the very Task that needs the UI thread to finish. </a:t>
            </a:r>
          </a:p>
          <a:p>
            <a:r>
              <a:rPr lang="en-US" dirty="0"/>
              <a:t>6. DEADLOCK.</a:t>
            </a:r>
          </a:p>
          <a:p>
            <a:r>
              <a:rPr lang="en-US" dirty="0"/>
              <a:t>The UI thread is waiting for the Task. The Task is waiting for the UI thread. This deadlock does NOT happen in console apps or ASP.NET Core, because there's no </a:t>
            </a:r>
            <a:r>
              <a:rPr lang="en-US"/>
              <a:t>SynchronizationContext - </a:t>
            </a:r>
            <a:r>
              <a:rPr lang="en-US" dirty="0"/>
              <a:t>continuations just run on ThreadPool threads, so there's no single thread everyone is fighting over.</a:t>
            </a:r>
          </a:p>
          <a:p>
            <a:r>
              <a:rPr lang="en-US" dirty="0"/>
              <a:t>But in UI apps and classic ASP.NET, it's a constant trap.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know that after an await, your code might resume on a completely different thread. But what about ambient state? Things like the current culture, the security principal, per-request correlation </a:t>
            </a:r>
            <a:r>
              <a:rPr lang="en-US"/>
              <a:t>IDs - </a:t>
            </a:r>
            <a:r>
              <a:rPr lang="en-US" dirty="0"/>
              <a:t>data logically associated with 'this flow of execution' rather than a specific thread. If the thread changes, how does that data survive? The answer is ExecutionContext.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ExecutionContext is an opaque container maintained by the runtime. It holds all the ambient data associated with the current flow of execution. When the async infrastructure suspends your code at an await, it captures the current ExecutionContext.</a:t>
            </a:r>
          </a:p>
          <a:p>
            <a:r>
              <a:rPr lang="en-US" dirty="0"/>
              <a:t>When the continuation </a:t>
            </a:r>
            <a:r>
              <a:rPr lang="en-US"/>
              <a:t>resumes - </a:t>
            </a:r>
            <a:r>
              <a:rPr lang="en-US" dirty="0"/>
              <a:t>possibly on a different </a:t>
            </a:r>
            <a:r>
              <a:rPr lang="en-US"/>
              <a:t>thread - </a:t>
            </a:r>
            <a:r>
              <a:rPr lang="en-US" dirty="0"/>
              <a:t>the captured ExecutionContext is restored before your code runs. You almost never interact with ExecutionContext directly. It's automatic.</a:t>
            </a:r>
          </a:p>
          <a:p>
            <a:r>
              <a:rPr lang="en-US" dirty="0"/>
              <a:t>What flows inside it? The security context, the call context, the current culture, and any AsyncLocal&lt;T&gt; values. AsyncLocal&lt;T&gt; is a 'logical thread-local</a:t>
            </a:r>
            <a:r>
              <a:rPr lang="en-US"/>
              <a:t>' - </a:t>
            </a:r>
            <a:r>
              <a:rPr lang="en-US" dirty="0"/>
              <a:t>a value associated with the current async flow, not any particular physical thread. The value persists across the await because ExecutionContext was captured (carrying the AsyncLocal data) and restored on the other side.</a:t>
            </a:r>
          </a:p>
          <a:p>
            <a:r>
              <a:rPr lang="en-US" dirty="0"/>
              <a:t>It doesn't matter that the thread </a:t>
            </a:r>
            <a:r>
              <a:rPr lang="en-US"/>
              <a:t>changed - </a:t>
            </a:r>
            <a:r>
              <a:rPr lang="en-US" dirty="0"/>
              <a:t>the logical context was preserved.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fork execution - say, by starting a </a:t>
            </a:r>
            <a:r>
              <a:rPr lang="en-US" dirty="0" err="1"/>
              <a:t>Task.Run</a:t>
            </a:r>
            <a:r>
              <a:rPr lang="en-US" dirty="0"/>
              <a:t> - the child flow gets a COPY of the parent's ExecutionContext. Modifications in the child don't affect the parent. This is copy-on-write semantics.</a:t>
            </a:r>
          </a:p>
          <a:p>
            <a:r>
              <a:rPr lang="en-US" dirty="0"/>
              <a:t>This is the right behaviour for things like per-request correlation IDs: you want every task spawned during a request to inherit the ID, but you don't want a child task accidentally overwriting the parent's state. Why not ThreadLocal&lt;T&gt;? Because ThreadLocal is tied to the physical thread, not the logical async flow. After an await, the continuation might run on a different thread - and your ThreadLocal value will be gone, or worse, you'll see someone else's value left over from whatever that thread was doing before.</a:t>
            </a:r>
          </a:p>
          <a:p>
            <a:r>
              <a:rPr lang="en-US" dirty="0"/>
              <a:t>AsyncLocal&lt;T&gt; always works correctly across await boundaries. ThreadLocal&lt;T&gt; is a trap in async code.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 time we've used await, we've awaited a Task. You might think await and Task are inseparable. They're not.</a:t>
            </a:r>
          </a:p>
          <a:p>
            <a:r>
              <a:rPr lang="en-US" dirty="0"/>
              <a:t>The await keyword doesn't know about Task. It doesn't require Task. Instead, await is pattern-based.</a:t>
            </a:r>
          </a:p>
          <a:p>
            <a:r>
              <a:rPr lang="en-US" dirty="0"/>
              <a:t>It relies on the awaitable pattern.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object is awaitable if it has a GetAwaiter() method - instance method or extension method, the compiler doesn't care. It just needs to return an awaiter. The awaiter provides three things: IsCompleted (a bool - has it already finished? enables the fast path), OnCompleted(Action) (registers a callback - 'when you're done, call this'), and GetResult() (returns the result or rethrows the exception).</a:t>
            </a:r>
          </a:p>
          <a:p>
            <a:r>
              <a:rPr lang="en-US" dirty="0"/>
              <a:t>That's it. Any type with GetAwaiter() returning something with these three members can be awaited. Task happens to implement this pattern, but it's not special.</a:t>
            </a:r>
          </a:p>
          <a:p>
            <a:r>
              <a:rPr lang="en-US" dirty="0"/>
              <a:t>This extensibility is how ValueTask works (a more allocation-efficient alternative), and how ConfigureAwait(false) works - by returning a different wrapper type whose awaiter skips SynchronizationContext capture.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prove it by building a custom awaitable. MyDelayAwaitable has GetAwaiter() that returns MyDelayAwaiter. MyDelayAwaiter implements INotifyCompletion and provides IsCompleted, OnCompleted, and GetResult.</a:t>
            </a:r>
          </a:p>
          <a:p>
            <a:r>
              <a:rPr lang="en-US" dirty="0"/>
              <a:t>The compiler sees 'await expr', looks for expr.GetAwaiter(), and generates code against the IsCompleted, OnCompleted, and GetResult members. It doesn't care that MyDelayAwaitable isn't Task. It just needs the pattern.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Everything we've covered - Tasks, the ThreadPool, SynchronizationContext, ExecutionContext, </a:t>
            </a:r>
            <a:r>
              <a:rPr lang="en-US" dirty="0" err="1"/>
              <a:t>awaiters</a:t>
            </a:r>
            <a:r>
              <a:rPr lang="en-US" dirty="0"/>
              <a:t> - comes together in what the compiler does when it sees the async keyword. The compiler rewrites your entire method into a state machine.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Console.WriteLine calls. Two await points. This method has three segments of code - the parts between the suspension points.</a:t>
            </a:r>
          </a:p>
          <a:p>
            <a:r>
              <a:rPr lang="en-US" dirty="0"/>
              <a:t>Segment A: Step 1 and starting the first delay. Segment B: Step 2 and starting the second delay. Segment C: Step 3.</a:t>
            </a:r>
          </a:p>
          <a:p>
            <a:r>
              <a:rPr lang="en-US" dirty="0"/>
              <a:t>The state machine's job is to execute one segment at a time, suspend if the awaited operation isn't finished yet, and resume at the right segment when it is.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1) Creates a struct implementing IAsyncStateMachine. 2) Moves all your method's local variables into fields on that struct - because they can't live on the stack, since the stack frame is gone when the method returns at a suspension point. 3) Adds a state field (&lt;&gt;1__state) that tracks which segment to execute next.</a:t>
            </a:r>
          </a:p>
          <a:p>
            <a:r>
              <a:rPr lang="en-US" dirty="0"/>
              <a:t>4) Adds an </a:t>
            </a:r>
            <a:r>
              <a:rPr lang="en-US" dirty="0" err="1"/>
              <a:t>AsyncTaskMethodBuilder</a:t>
            </a:r>
            <a:r>
              <a:rPr lang="en-US" dirty="0"/>
              <a:t> field: the infrastructure piece that creates the caller-visible Task, sets its result or exception, and coordinates with SynchronizationContext and ExecutionContext. 5) Adds awaiter fields (one per await expression) to hold the awaiter while suspended. 6) Puts all your code into a MoveNext() method, rewritten as a “switch” on the state field.</a:t>
            </a:r>
          </a:p>
          <a:p>
            <a:r>
              <a:rPr lang="en-US" dirty="0"/>
              <a:t>7) Replaces your original method with a thin stub that creates the state machine and starts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Start calls MoveNext() synchronously on the calling thread. The first segment of your code - up to the first await that isn't already complete - on the calling thread, not on a ThreadPool thread. This is an important detail: async methods begin executing synchronously.</a:t>
            </a:r>
          </a:p>
          <a:p>
            <a:r>
              <a:rPr lang="en-US" dirty="0"/>
              <a:t>The method only 'becomes asynchronous' at the point where it actually suspends.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MoveNext(), state is -1 on the first entry, so we hit the default branch. We execute the first segment of your code (Step 1), then call Task.Delay(1000).GetAwaiter(). We check </a:t>
            </a:r>
            <a:r>
              <a:rPr lang="en-US" dirty="0" err="1"/>
              <a:t>IsCompleted</a:t>
            </a:r>
            <a:r>
              <a:rPr lang="en-US" dirty="0"/>
              <a:t> - false, because 1000ms hasn't elapsed.</a:t>
            </a:r>
          </a:p>
          <a:p>
            <a:r>
              <a:rPr lang="en-US" dirty="0"/>
              <a:t>So we: set state to 0, stash the awaiter, and call AwaitUnsafeOnCompleted on the builder. The builder captures SynchronizationContext.Current and ExecutionContext, wraps MoveNext in a callback, and passes it to the awaiter's UnsafeOnCompleted. Then we RETURN from </a:t>
            </a:r>
            <a:r>
              <a:rPr lang="en-US" dirty="0" err="1"/>
              <a:t>MoveNext</a:t>
            </a:r>
            <a:r>
              <a:rPr lang="en-US" dirty="0"/>
              <a:t> - the method is now 'paused.' The thread is released.</a:t>
            </a:r>
          </a:p>
          <a:p>
            <a:r>
              <a:rPr lang="en-US" dirty="0"/>
              <a:t>The caller gets back an incomplete Task. No thread is blocked. A system timer is ticking.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timer fires (~1000ms later), the continuation is dispatched. MoveNext() runs again with state=0. We retrieve the stashed awaiter, clear the field, reset state to -1 (running).</a:t>
            </a:r>
          </a:p>
          <a:p>
            <a:r>
              <a:rPr lang="en-US" dirty="0"/>
              <a:t>Jump to AfterFirstAwait. Call GetResult() - if the Task faulted, this throws and the catch block handles it. Otherwise, execute Step 2, get the next awaiter for Task.Delay(500), check IsCompleted (false again), set state=1, stash awaiter, register continuation, return.</a:t>
            </a:r>
          </a:p>
          <a:p>
            <a:r>
              <a:rPr lang="en-US" dirty="0"/>
              <a:t>Thread is free again.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exception in your code or in GetResult() is caught by the try/catch and set on the outer Task via SetException(). This is what transitions the outer Task to faulted state. On success, SetResult() completes the promise the caller is awaiting.</a:t>
            </a:r>
          </a:p>
          <a:p>
            <a:r>
              <a:rPr lang="en-US" dirty="0"/>
              <a:t>State -2 is the terminal state - MoveNext won't be called again. The machine is finished.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the full execution. Call 1: state=-1, prints Step 1, gets awaiter, not completed, suspends, returns incomplete Task. The calling thread is free.</a:t>
            </a:r>
          </a:p>
          <a:p>
            <a:r>
              <a:rPr lang="en-US" dirty="0"/>
              <a:t>Timer is ticking. ~1000ms pass. Timer fires.</a:t>
            </a:r>
          </a:p>
          <a:p>
            <a:r>
              <a:rPr lang="en-US" dirty="0"/>
              <a:t>Call 2: state=0, resumes, GetResult(), prints Step 2, next awaiter, suspends again. ~500ms pass. Timer fires.</a:t>
            </a:r>
          </a:p>
          <a:p>
            <a:r>
              <a:rPr lang="en-US" dirty="0"/>
              <a:t>Call 3: state=1, resumes, GetResult(), prints Step 3, SetResult(), Task complete. That's the entire lifecycle. Three calls to MoveNext().</a:t>
            </a:r>
          </a:p>
          <a:p>
            <a:r>
              <a:rPr lang="en-US" dirty="0"/>
              <a:t>Three segments of code. Two suspension points. Zero threads blocked during the waits.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Path: Those IsCompleted checks are a critical performance optimisation. If the awaited Task has already completed (cached HTTP responses, buffered stream reads, Task.Delay(0)), the state machine doesn't bother suspending. It skips the state assignment, the awaiter stash, the context capture, the continuation registration; all of it.</a:t>
            </a:r>
          </a:p>
          <a:p>
            <a:r>
              <a:rPr lang="en-US" dirty="0"/>
              <a:t>Just falls through and continues synchronously. No thread switch, no callback overhead. The Struct-to-Heap Boxing Story: The state machine is declared as a struct, not a class.</a:t>
            </a:r>
          </a:p>
          <a:p>
            <a:r>
              <a:rPr lang="en-US" dirty="0"/>
              <a:t>It starts on the stack - no heap allocation. If the method runs to completion without ever truly suspending (all awaits hit the IsCompleted fast path), zero allocations. But if it does need to suspend, the builder boxes the struct onto the heap so it can survive beyond the current stack frame.</a:t>
            </a:r>
          </a:p>
          <a:p>
            <a:r>
              <a:rPr lang="en-US" dirty="0"/>
              <a:t>In the best case: zero allocations. In the typical case: one allocation (the boxed state machine). Compare with ContinueWith: closures, delegates, and Task objects at each step.</a:t>
            </a:r>
          </a:p>
          <a:p>
            <a:r>
              <a:rPr lang="en-US" dirty="0"/>
              <a:t>The compiler approach is far more efficient. async/await: a struct, a switch, some callbacks. No magic - just a very clever compiler rewrite.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understand the state machine, the awaitable pattern, and SynchronizationContext, we can finally explain the one piece of async advice everyone has heard but few can explain: ConfigureAwait(false).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when you await something, the AsyncTaskMethodBuilder captures SynchronizationContext.Current and uses it to schedule the continuation. In a UI app, that means the continuation runs on the UI thread. ConfigureAwait(false) tells the infrastructure: 'I don't need to come back to the original SynchronizationContext.</a:t>
            </a:r>
          </a:p>
          <a:p>
            <a:r>
              <a:rPr lang="en-US" dirty="0"/>
              <a:t>Run my continuation wherever is most convenient.' In practice, that means the ThreadPool. Mechanically: Task.ConfigureAwait(false) returns a </a:t>
            </a:r>
            <a:r>
              <a:rPr lang="en-US"/>
              <a:t>ConfiguredTaskAwaitable - </a:t>
            </a:r>
            <a:r>
              <a:rPr lang="en-US" dirty="0"/>
              <a:t>a different struct. This is the awaitable pattern from Section 8 in action.</a:t>
            </a:r>
          </a:p>
          <a:p>
            <a:r>
              <a:rPr lang="en-US" dirty="0"/>
              <a:t>Its awaiter's OnCompleted implementation deliberately ignores the current SynchronizationContext and schedules the continuation directly to the ThreadPool.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ConfigureAwait(false) in library code. If you're writing a NuGet package, a shared utility, or any code that doesn't know whether it'll be called from a UI app - use it on every await. Why? </a:t>
            </a:r>
          </a:p>
          <a:p>
            <a:r>
              <a:rPr lang="en-US" dirty="0"/>
              <a:t>1) Deadlock prevention: a UI developer calls your library method with .Result, blocking the UI thread.</a:t>
            </a:r>
          </a:p>
          <a:p>
            <a:r>
              <a:rPr lang="en-US" dirty="0"/>
              <a:t>Your library's continuation tries to post back to the UI thread. Deadlock. With ConfigureAwait(false), your continuation runs on the ThreadPool, so there's no contention.</a:t>
            </a:r>
          </a:p>
          <a:p>
            <a:r>
              <a:rPr lang="en-US" dirty="0"/>
              <a:t>2) Performance: posting to a SynchronizationContext has overhead - queueing, waking the target thread, context switching.</a:t>
            </a:r>
          </a:p>
          <a:p>
            <a:r>
              <a:rPr lang="en-US" dirty="0"/>
              <a:t>If you don't need the original context, why pay for it? Don't use it in application-level UI code - if you're in a WPF button click handler and need to update a text box after an await, you need to be back on the UI thread.</a:t>
            </a:r>
          </a:p>
          <a:p>
            <a:r>
              <a:rPr lang="en-US" dirty="0"/>
              <a:t>In ASP.NET Core, there is no SynchronizationContext, so ConfigureAwait(false) is largely a no-op.</a:t>
            </a:r>
          </a:p>
          <a:p>
            <a:r>
              <a:rPr lang="en-US" dirty="0"/>
              <a:t>But it's still good practice in library code, because your library might be consumed in a WPF app someday. You need it on EVERY await in library code, not just the first one.</a:t>
            </a:r>
            <a:br>
              <a:rPr lang="en-US" dirty="0"/>
            </a:br>
            <a:br>
              <a:rPr lang="en-US" dirty="0"/>
            </a:br>
            <a:r>
              <a:rPr lang="en-US" dirty="0"/>
              <a:t>Pitfalls of </a:t>
            </a:r>
            <a:r>
              <a:rPr lang="en-US" dirty="0" err="1"/>
              <a:t>configureAwait</a:t>
            </a:r>
            <a:r>
              <a:rPr lang="en-US" dirty="0"/>
              <a:t> false:</a:t>
            </a:r>
            <a:br>
              <a:rPr lang="en-US" dirty="0"/>
            </a:br>
            <a:r>
              <a:rPr lang="en-US" dirty="0"/>
              <a:t>legacy asp net: continuation is queued to request context. Request context is responsible for value of </a:t>
            </a:r>
            <a:r>
              <a:rPr lang="en-US" dirty="0" err="1"/>
              <a:t>HttpContext.Current</a:t>
            </a:r>
            <a:r>
              <a:rPr lang="en-US" dirty="0"/>
              <a:t>. Using </a:t>
            </a:r>
            <a:r>
              <a:rPr lang="en-US" dirty="0" err="1"/>
              <a:t>configureAwait</a:t>
            </a:r>
            <a:r>
              <a:rPr lang="en-US" dirty="0"/>
              <a:t>(false) avoids the capture of context -&gt; Any code dependent on </a:t>
            </a:r>
            <a:r>
              <a:rPr lang="en-US" dirty="0" err="1"/>
              <a:t>HttpContext.Current</a:t>
            </a:r>
            <a:r>
              <a:rPr lang="en-US" dirty="0"/>
              <a:t> will now get null as its value.</a:t>
            </a:r>
            <a:br>
              <a:rPr lang="en-US" dirty="0"/>
            </a:br>
            <a:r>
              <a:rPr lang="en-US" dirty="0" err="1"/>
              <a:t>AspNetSynchronizationContext</a:t>
            </a:r>
            <a:r>
              <a:rPr lang="en-US" dirty="0"/>
              <a:t> would be responsible for reattaching </a:t>
            </a:r>
            <a:r>
              <a:rPr lang="en-US" dirty="0" err="1"/>
              <a:t>HttpContext.Current</a:t>
            </a:r>
            <a:r>
              <a:rPr lang="en-US" dirty="0"/>
              <a:t> value. Not capturing it means </a:t>
            </a:r>
            <a:r>
              <a:rPr lang="en-US" dirty="0" err="1"/>
              <a:t>HttpContext.Current</a:t>
            </a:r>
            <a:r>
              <a:rPr lang="en-US" dirty="0"/>
              <a:t> is null.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the whole picture together. This is the recap of everything we've covered.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write 'async Task MyMethod()', the compiler generates a state </a:t>
            </a:r>
            <a:r>
              <a:rPr lang="en-US"/>
              <a:t>machine - </a:t>
            </a:r>
            <a:r>
              <a:rPr lang="en-US" dirty="0"/>
              <a:t>a struct with MoveNext() containing all your code as a switch statement. Each await is a potential suspension point. When execution reaches an await, the state machine asks the awaiter: 'Are you done?' If </a:t>
            </a:r>
            <a:r>
              <a:rPr lang="en-US"/>
              <a:t>yes - </a:t>
            </a:r>
            <a:r>
              <a:rPr lang="en-US" dirty="0"/>
              <a:t>fast </a:t>
            </a:r>
            <a:r>
              <a:rPr lang="en-US"/>
              <a:t>path - </a:t>
            </a:r>
            <a:r>
              <a:rPr lang="en-US" dirty="0"/>
              <a:t>it keeps running.</a:t>
            </a:r>
          </a:p>
          <a:p>
            <a:r>
              <a:rPr lang="en-US" dirty="0"/>
              <a:t>If not, it records state, registers MoveNext as a callback, and </a:t>
            </a:r>
            <a:r>
              <a:rPr lang="en-US"/>
              <a:t>returns - </a:t>
            </a:r>
            <a:r>
              <a:rPr lang="en-US" dirty="0"/>
              <a:t>freeing the thread. When the awaited operation completes, the builder restores ExecutionContext, and either posts MoveNext to the captured SynchronizationContext or queues it to the ThreadPool. Your code resumes at the right state.</a:t>
            </a:r>
          </a:p>
          <a:p>
            <a:r>
              <a:rPr lang="en-US" dirty="0"/>
              <a:t>The Task returned to the caller is just a </a:t>
            </a:r>
            <a:r>
              <a:rPr lang="en-US"/>
              <a:t>promise - </a:t>
            </a:r>
            <a:r>
              <a:rPr lang="en-US" dirty="0"/>
              <a:t>a handle on the outcome. When MoveNext falls through, the builder calls SetResult, and the caller's own await can resume. Every piece has a job: async exists to free threads during waits.</a:t>
            </a:r>
          </a:p>
          <a:p>
            <a:r>
              <a:rPr lang="en-US" dirty="0"/>
              <a:t>Tasks are promises, not threads. The ThreadPool is the default engine. SynchronizationContext decides where continuations run.</a:t>
            </a:r>
          </a:p>
          <a:p>
            <a:r>
              <a:rPr lang="en-US" dirty="0"/>
              <a:t>ExecutionContext flows ambient state. The awaitable pattern makes await extensible. The state machine is the compiler's rewrite.</a:t>
            </a:r>
          </a:p>
          <a:p>
            <a:r>
              <a:rPr lang="en-US" dirty="0"/>
              <a:t>ConfigureAwait(false) opts out of context capture.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started this talk knowing that async/await is something you put on methods because you're told you must. Now you know what it does, why it exists, and how the compiler and runtime conspire to make it work. The next time you see a deadlock or a mysterious context bug, you’ll hopefully have the mental model to diagnose it, or at least have a starting point on where you should look.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9144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457200"/>
            <a:ext cx="4572000" cy="2743200"/>
          </a:xfrm>
          <a:prstGeom prst="rect">
            <a:avLst/>
          </a:prstGeom>
          <a:solidFill>
            <a:srgbClr val="A78BFA"/>
          </a:solidFill>
          <a:ln/>
        </p:spPr>
        <p:txBody>
          <a:bodyPr/>
          <a:lstStyle/>
          <a:p>
            <a:endParaRPr lang="en-US"/>
          </a:p>
        </p:txBody>
      </p:sp>
      <p:sp>
        <p:nvSpPr>
          <p:cNvPr id="4" name="Text 2"/>
          <p:cNvSpPr/>
          <p:nvPr/>
        </p:nvSpPr>
        <p:spPr>
          <a:xfrm>
            <a:off x="640080" y="1463040"/>
            <a:ext cx="7315200" cy="640080"/>
          </a:xfrm>
          <a:prstGeom prst="rect">
            <a:avLst/>
          </a:prstGeom>
          <a:noFill/>
          <a:ln/>
        </p:spPr>
        <p:txBody>
          <a:bodyPr wrap="square" lIns="0" tIns="0" rIns="0" bIns="0" rtlCol="0" anchor="ctr"/>
          <a:lstStyle/>
          <a:p>
            <a:pPr marL="0" indent="0">
              <a:buNone/>
            </a:pPr>
            <a:r>
              <a:rPr lang="en-US" sz="2400" dirty="0">
                <a:solidFill>
                  <a:srgbClr val="94A3B8"/>
                </a:solidFill>
                <a:latin typeface="Calibri" pitchFamily="34" charset="0"/>
                <a:ea typeface="Calibri" pitchFamily="34" charset="-122"/>
                <a:cs typeface="Calibri" pitchFamily="34" charset="-120"/>
              </a:rPr>
              <a:t>Beyond the Basics of</a:t>
            </a:r>
            <a:endParaRPr lang="en-US" sz="2400" dirty="0"/>
          </a:p>
        </p:txBody>
      </p:sp>
      <p:sp>
        <p:nvSpPr>
          <p:cNvPr id="5" name="Text 3"/>
          <p:cNvSpPr/>
          <p:nvPr/>
        </p:nvSpPr>
        <p:spPr>
          <a:xfrm>
            <a:off x="640080" y="2011680"/>
            <a:ext cx="7315200" cy="1097280"/>
          </a:xfrm>
          <a:prstGeom prst="rect">
            <a:avLst/>
          </a:prstGeom>
          <a:noFill/>
          <a:ln/>
        </p:spPr>
        <p:txBody>
          <a:bodyPr wrap="square" lIns="0" tIns="0" rIns="0" bIns="0" rtlCol="0" anchor="ctr"/>
          <a:lstStyle/>
          <a:p>
            <a:pPr marL="0" indent="0">
              <a:buNone/>
            </a:pPr>
            <a:r>
              <a:rPr lang="en-US" sz="4800" b="1" dirty="0">
                <a:solidFill>
                  <a:srgbClr val="F1F5F9"/>
                </a:solidFill>
                <a:latin typeface="Trebuchet MS" pitchFamily="34" charset="0"/>
                <a:ea typeface="Trebuchet MS" pitchFamily="34" charset="-122"/>
                <a:cs typeface="Trebuchet MS" pitchFamily="34" charset="-120"/>
              </a:rPr>
              <a:t>async / await</a:t>
            </a:r>
            <a:endParaRPr lang="en-US" sz="4800" dirty="0"/>
          </a:p>
        </p:txBody>
      </p:sp>
      <p:sp>
        <p:nvSpPr>
          <p:cNvPr id="6" name="Text 4"/>
          <p:cNvSpPr/>
          <p:nvPr/>
        </p:nvSpPr>
        <p:spPr>
          <a:xfrm>
            <a:off x="640080" y="3200400"/>
            <a:ext cx="6400800" cy="457200"/>
          </a:xfrm>
          <a:prstGeom prst="rect">
            <a:avLst/>
          </a:prstGeom>
          <a:noFill/>
          <a:ln/>
        </p:spPr>
        <p:txBody>
          <a:bodyPr wrap="square" lIns="0" tIns="0" rIns="0" bIns="0" rtlCol="0" anchor="ctr"/>
          <a:lstStyle/>
          <a:p>
            <a:pPr marL="0" indent="0">
              <a:buNone/>
            </a:pPr>
            <a:r>
              <a:rPr lang="en-US" sz="1600" i="1" dirty="0">
                <a:solidFill>
                  <a:srgbClr val="38BDF8"/>
                </a:solidFill>
                <a:latin typeface="Calibri" pitchFamily="34" charset="0"/>
                <a:ea typeface="Calibri" pitchFamily="34" charset="-122"/>
                <a:cs typeface="Calibri" pitchFamily="34" charset="-120"/>
              </a:rPr>
              <a:t>What really happens when you press F5</a:t>
            </a:r>
            <a:endParaRPr lang="en-US" sz="1600" dirty="0"/>
          </a:p>
        </p:txBody>
      </p:sp>
      <p:sp>
        <p:nvSpPr>
          <p:cNvPr id="7" name="Shape 5"/>
          <p:cNvSpPr/>
          <p:nvPr/>
        </p:nvSpPr>
        <p:spPr>
          <a:xfrm>
            <a:off x="0" y="4754880"/>
            <a:ext cx="9144000" cy="388620"/>
          </a:xfrm>
          <a:prstGeom prst="rect">
            <a:avLst/>
          </a:prstGeom>
          <a:solidFill>
            <a:srgbClr val="1E293B"/>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"We all do this, but why?"</a:t>
            </a:r>
            <a:endParaRPr lang="en-US" sz="28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You’ve written this method a thousand times...</a:t>
            </a:r>
            <a:endParaRPr lang="en-US" sz="1400" dirty="0"/>
          </a:p>
        </p:txBody>
      </p:sp>
      <p:sp>
        <p:nvSpPr>
          <p:cNvPr id="4" name="Shape 2"/>
          <p:cNvSpPr/>
          <p:nvPr/>
        </p:nvSpPr>
        <p:spPr>
          <a:xfrm>
            <a:off x="457200" y="1280160"/>
            <a:ext cx="5029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371600"/>
            <a:ext cx="4754880" cy="164592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DoWorkAsync()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Console.WriteLine("Before");</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Console.WriteLine("After");</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5760720" y="1463040"/>
            <a:ext cx="301752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is a Task, really?</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Who actually runs it?</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What does await compile to?</a:t>
            </a:r>
            <a:endParaRPr lang="en-US" sz="1400" dirty="0"/>
          </a:p>
          <a:p>
            <a:pPr marL="342900" indent="-342900">
              <a:spcAft>
                <a:spcPts val="800"/>
              </a:spcAft>
              <a:buSzPct val="100000"/>
              <a:buChar char="•"/>
            </a:pPr>
            <a:r>
              <a:rPr lang="en-US" sz="1400" dirty="0">
                <a:solidFill>
                  <a:srgbClr val="38BDF8"/>
                </a:solidFill>
                <a:latin typeface="Calibri" pitchFamily="34" charset="0"/>
                <a:ea typeface="Calibri" pitchFamily="34" charset="-122"/>
                <a:cs typeface="Calibri" pitchFamily="34" charset="-120"/>
              </a:rPr>
              <a:t>Why does ConfigureAwait(false) exist?</a:t>
            </a:r>
            <a:endParaRPr lang="en-US" sz="1400" dirty="0"/>
          </a:p>
        </p:txBody>
      </p:sp>
      <p:sp>
        <p:nvSpPr>
          <p:cNvPr id="7" name="Shape 5"/>
          <p:cNvSpPr/>
          <p:nvPr/>
        </p:nvSpPr>
        <p:spPr>
          <a:xfrm>
            <a:off x="457200" y="4206240"/>
            <a:ext cx="8229600" cy="640080"/>
          </a:xfrm>
          <a:prstGeom prst="rect">
            <a:avLst/>
          </a:prstGeom>
          <a:solidFill>
            <a:srgbClr val="1E293B"/>
          </a:solidFill>
          <a:ln/>
        </p:spPr>
        <p:txBody>
          <a:bodyPr/>
          <a:lstStyle/>
          <a:p>
            <a:endParaRPr lang="en-US"/>
          </a:p>
        </p:txBody>
      </p:sp>
      <p:sp>
        <p:nvSpPr>
          <p:cNvPr id="8" name="Shape 6"/>
          <p:cNvSpPr/>
          <p:nvPr/>
        </p:nvSpPr>
        <p:spPr>
          <a:xfrm>
            <a:off x="457200" y="4206240"/>
            <a:ext cx="73152" cy="640080"/>
          </a:xfrm>
          <a:prstGeom prst="rect">
            <a:avLst/>
          </a:prstGeom>
          <a:solidFill>
            <a:srgbClr val="38BDF8"/>
          </a:solidFill>
          <a:ln/>
        </p:spPr>
        <p:txBody>
          <a:bodyPr/>
          <a:lstStyle/>
          <a:p>
            <a:endParaRPr lang="en-US"/>
          </a:p>
        </p:txBody>
      </p:sp>
      <p:sp>
        <p:nvSpPr>
          <p:cNvPr id="9" name="Text 7"/>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use async/await every day. It’s time to understand what’s happening underneath.</a:t>
            </a:r>
            <a:endParaRPr lang="en-US" sz="13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02</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Why async code</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exists at all</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problem async was designed to solve</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Threads Are Expensive</a:t>
            </a:r>
            <a:endParaRPr lang="en-US" sz="2800" dirty="0"/>
          </a:p>
        </p:txBody>
      </p:sp>
      <p:sp>
        <p:nvSpPr>
          <p:cNvPr id="3" name="Shape 1"/>
          <p:cNvSpPr/>
          <p:nvPr/>
        </p:nvSpPr>
        <p:spPr>
          <a:xfrm>
            <a:off x="457200" y="1097280"/>
            <a:ext cx="2560320" cy="13716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457200" y="1188720"/>
            <a:ext cx="2560320" cy="731520"/>
          </a:xfrm>
          <a:prstGeom prst="rect">
            <a:avLst/>
          </a:prstGeom>
          <a:noFill/>
          <a:ln/>
        </p:spPr>
        <p:txBody>
          <a:bodyPr wrap="square" lIns="0" tIns="0" rIns="0" bIns="0" rtlCol="0" anchor="ctr"/>
          <a:lstStyle/>
          <a:p>
            <a:pPr marL="0" indent="0" algn="ctr">
              <a:buNone/>
            </a:pPr>
            <a:r>
              <a:rPr lang="en-US" sz="3600" b="1" dirty="0">
                <a:solidFill>
                  <a:srgbClr val="38BDF8"/>
                </a:solidFill>
                <a:latin typeface="Trebuchet MS" pitchFamily="34" charset="0"/>
                <a:ea typeface="Trebuchet MS" pitchFamily="34" charset="-122"/>
                <a:cs typeface="Trebuchet MS" pitchFamily="34" charset="-120"/>
              </a:rPr>
              <a:t>~1 MB</a:t>
            </a:r>
            <a:endParaRPr lang="en-US" sz="3600" dirty="0"/>
          </a:p>
        </p:txBody>
      </p:sp>
      <p:sp>
        <p:nvSpPr>
          <p:cNvPr id="5" name="Text 3"/>
          <p:cNvSpPr/>
          <p:nvPr/>
        </p:nvSpPr>
        <p:spPr>
          <a:xfrm>
            <a:off x="457200" y="1920240"/>
            <a:ext cx="2560320" cy="457200"/>
          </a:xfrm>
          <a:prstGeom prst="rect">
            <a:avLst/>
          </a:prstGeom>
          <a:noFill/>
          <a:ln/>
        </p:spPr>
        <p:txBody>
          <a:bodyPr wrap="square" lIns="0" tIns="0" rIns="0" bIns="0" rtlCol="0" anchor="t"/>
          <a:lstStyle/>
          <a:p>
            <a:pPr marL="0" indent="0" algn="ctr">
              <a:buNone/>
            </a:pPr>
            <a:r>
              <a:rPr lang="en-US" sz="1200" dirty="0">
                <a:solidFill>
                  <a:srgbClr val="94A3B8"/>
                </a:solidFill>
                <a:latin typeface="Calibri" pitchFamily="34" charset="0"/>
                <a:ea typeface="Calibri" pitchFamily="34" charset="-122"/>
                <a:cs typeface="Calibri" pitchFamily="34" charset="-120"/>
              </a:rPr>
              <a:t>stack space per thread</a:t>
            </a:r>
            <a:endParaRPr lang="en-US" sz="1200" dirty="0"/>
          </a:p>
        </p:txBody>
      </p:sp>
      <p:sp>
        <p:nvSpPr>
          <p:cNvPr id="6" name="Shape 4"/>
          <p:cNvSpPr/>
          <p:nvPr/>
        </p:nvSpPr>
        <p:spPr>
          <a:xfrm>
            <a:off x="3291840" y="1097280"/>
            <a:ext cx="2560320" cy="13716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7" name="Text 5"/>
          <p:cNvSpPr/>
          <p:nvPr/>
        </p:nvSpPr>
        <p:spPr>
          <a:xfrm>
            <a:off x="3291840" y="1188720"/>
            <a:ext cx="2560320" cy="731520"/>
          </a:xfrm>
          <a:prstGeom prst="rect">
            <a:avLst/>
          </a:prstGeom>
          <a:noFill/>
          <a:ln/>
        </p:spPr>
        <p:txBody>
          <a:bodyPr wrap="square" lIns="0" tIns="0" rIns="0" bIns="0" rtlCol="0" anchor="ctr"/>
          <a:lstStyle/>
          <a:p>
            <a:pPr marL="0" indent="0" algn="ctr">
              <a:buNone/>
            </a:pPr>
            <a:r>
              <a:rPr lang="en-US" sz="3600" b="1" dirty="0">
                <a:solidFill>
                  <a:srgbClr val="38BDF8"/>
                </a:solidFill>
                <a:latin typeface="Trebuchet MS" pitchFamily="34" charset="0"/>
                <a:ea typeface="Trebuchet MS" pitchFamily="34" charset="-122"/>
                <a:cs typeface="Trebuchet MS" pitchFamily="34" charset="-120"/>
              </a:rPr>
              <a:t>10,000</a:t>
            </a:r>
            <a:endParaRPr lang="en-US" sz="3600" dirty="0"/>
          </a:p>
        </p:txBody>
      </p:sp>
      <p:sp>
        <p:nvSpPr>
          <p:cNvPr id="8" name="Text 6"/>
          <p:cNvSpPr/>
          <p:nvPr/>
        </p:nvSpPr>
        <p:spPr>
          <a:xfrm>
            <a:off x="3291840" y="1920240"/>
            <a:ext cx="2560320" cy="457200"/>
          </a:xfrm>
          <a:prstGeom prst="rect">
            <a:avLst/>
          </a:prstGeom>
          <a:noFill/>
          <a:ln/>
        </p:spPr>
        <p:txBody>
          <a:bodyPr wrap="square" lIns="0" tIns="0" rIns="0" bIns="0" rtlCol="0" anchor="t"/>
          <a:lstStyle/>
          <a:p>
            <a:pPr marL="0" indent="0" algn="ctr">
              <a:buNone/>
            </a:pPr>
            <a:r>
              <a:rPr lang="en-US" sz="1200" dirty="0">
                <a:solidFill>
                  <a:srgbClr val="94A3B8"/>
                </a:solidFill>
                <a:latin typeface="Calibri" pitchFamily="34" charset="0"/>
                <a:ea typeface="Calibri" pitchFamily="34" charset="-122"/>
                <a:cs typeface="Calibri" pitchFamily="34" charset="-120"/>
              </a:rPr>
              <a:t>concurrent requests</a:t>
            </a:r>
            <a:endParaRPr lang="en-US" sz="1200" dirty="0"/>
          </a:p>
        </p:txBody>
      </p:sp>
      <p:sp>
        <p:nvSpPr>
          <p:cNvPr id="9" name="Shape 7"/>
          <p:cNvSpPr/>
          <p:nvPr/>
        </p:nvSpPr>
        <p:spPr>
          <a:xfrm>
            <a:off x="6126480" y="1097280"/>
            <a:ext cx="2560320" cy="13716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10" name="Text 8"/>
          <p:cNvSpPr/>
          <p:nvPr/>
        </p:nvSpPr>
        <p:spPr>
          <a:xfrm>
            <a:off x="6126480" y="1188720"/>
            <a:ext cx="2560320" cy="731520"/>
          </a:xfrm>
          <a:prstGeom prst="rect">
            <a:avLst/>
          </a:prstGeom>
          <a:noFill/>
          <a:ln/>
        </p:spPr>
        <p:txBody>
          <a:bodyPr wrap="square" lIns="0" tIns="0" rIns="0" bIns="0" rtlCol="0" anchor="ctr"/>
          <a:lstStyle/>
          <a:p>
            <a:pPr marL="0" indent="0" algn="ctr">
              <a:buNone/>
            </a:pPr>
            <a:r>
              <a:rPr lang="en-US" sz="3600" b="1" dirty="0">
                <a:solidFill>
                  <a:srgbClr val="38BDF8"/>
                </a:solidFill>
                <a:latin typeface="Trebuchet MS" pitchFamily="34" charset="0"/>
                <a:ea typeface="Trebuchet MS" pitchFamily="34" charset="-122"/>
                <a:cs typeface="Trebuchet MS" pitchFamily="34" charset="-120"/>
              </a:rPr>
              <a:t>~10 GB</a:t>
            </a:r>
            <a:endParaRPr lang="en-US" sz="3600" dirty="0"/>
          </a:p>
        </p:txBody>
      </p:sp>
      <p:sp>
        <p:nvSpPr>
          <p:cNvPr id="11" name="Text 9"/>
          <p:cNvSpPr/>
          <p:nvPr/>
        </p:nvSpPr>
        <p:spPr>
          <a:xfrm>
            <a:off x="6126480" y="1920240"/>
            <a:ext cx="2560320" cy="457200"/>
          </a:xfrm>
          <a:prstGeom prst="rect">
            <a:avLst/>
          </a:prstGeom>
          <a:noFill/>
          <a:ln/>
        </p:spPr>
        <p:txBody>
          <a:bodyPr wrap="square" lIns="0" tIns="0" rIns="0" bIns="0" rtlCol="0" anchor="t"/>
          <a:lstStyle/>
          <a:p>
            <a:pPr marL="0" indent="0" algn="ctr">
              <a:buNone/>
            </a:pPr>
            <a:r>
              <a:rPr lang="en-US" sz="1200" dirty="0">
                <a:solidFill>
                  <a:srgbClr val="94A3B8"/>
                </a:solidFill>
                <a:latin typeface="Calibri" pitchFamily="34" charset="0"/>
                <a:ea typeface="Calibri" pitchFamily="34" charset="-122"/>
                <a:cs typeface="Calibri" pitchFamily="34" charset="-120"/>
              </a:rPr>
              <a:t>just for thread stacks</a:t>
            </a:r>
            <a:endParaRPr lang="en-US" sz="1200" dirty="0"/>
          </a:p>
        </p:txBody>
      </p:sp>
      <p:sp>
        <p:nvSpPr>
          <p:cNvPr id="12" name="Text 10"/>
          <p:cNvSpPr/>
          <p:nvPr/>
        </p:nvSpPr>
        <p:spPr>
          <a:xfrm>
            <a:off x="457200" y="2834640"/>
            <a:ext cx="8229600" cy="73152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If you block a thread while waiting, you’re </a:t>
            </a:r>
            <a:r>
              <a:rPr lang="en-US" sz="1500" dirty="0">
                <a:solidFill>
                  <a:srgbClr val="F3F7FB"/>
                </a:solidFill>
                <a:latin typeface="Calibri" pitchFamily="34" charset="0"/>
                <a:ea typeface="Calibri" pitchFamily="34" charset="-122"/>
                <a:cs typeface="Calibri" pitchFamily="34" charset="-120"/>
              </a:rPr>
              <a:t>paying</a:t>
            </a:r>
            <a:r>
              <a:rPr lang="en-US" sz="1500" dirty="0">
                <a:solidFill>
                  <a:srgbClr val="F1F5F9"/>
                </a:solidFill>
                <a:latin typeface="Calibri" pitchFamily="34" charset="0"/>
                <a:ea typeface="Calibri" pitchFamily="34" charset="-122"/>
                <a:cs typeface="Calibri" pitchFamily="34" charset="-120"/>
              </a:rPr>
              <a:t> for a resource</a:t>
            </a:r>
            <a:endParaRPr lang="en-US" sz="1500" dirty="0"/>
          </a:p>
          <a:p>
            <a:r>
              <a:rPr lang="en-US" sz="1500" dirty="0">
                <a:solidFill>
                  <a:srgbClr val="F3F7FB"/>
                </a:solidFill>
              </a:rPr>
              <a:t>For each thread: OS allocates stack, sets up kernel data structures, registers with scheduler</a:t>
            </a:r>
          </a:p>
          <a:p>
            <a:r>
              <a:rPr lang="en-US" sz="1500" dirty="0">
                <a:solidFill>
                  <a:srgbClr val="F3F7FB"/>
                </a:solidFill>
              </a:rPr>
              <a:t>10,000 concurrent requests = 10,000 threads = ~10 GB of stack memory before any useful work</a:t>
            </a:r>
          </a:p>
          <a:p>
            <a:r>
              <a:rPr lang="en-US" sz="1500" dirty="0">
                <a:solidFill>
                  <a:srgbClr val="F3F7FB"/>
                </a:solidFill>
              </a:rPr>
              <a:t>OS scheduler wastes time context-switching between thousands of idle threads</a:t>
            </a:r>
          </a:p>
          <a:p>
            <a:pPr marL="0" indent="0">
              <a:buNone/>
            </a:pPr>
            <a:r>
              <a:rPr lang="en-US" sz="1500" dirty="0">
                <a:solidFill>
                  <a:srgbClr val="F1F5F9"/>
                </a:solidFill>
                <a:latin typeface="Calibri" pitchFamily="34" charset="0"/>
                <a:ea typeface="Calibri" pitchFamily="34" charset="-122"/>
                <a:cs typeface="Calibri" pitchFamily="34" charset="-120"/>
              </a:rPr>
              <a:t>that’s accomplishing nothing.</a:t>
            </a:r>
            <a:endParaRPr lang="en-US" sz="1500" dirty="0"/>
          </a:p>
        </p:txBody>
      </p:sp>
      <p:sp>
        <p:nvSpPr>
          <p:cNvPr id="13" name="Shape 11"/>
          <p:cNvSpPr/>
          <p:nvPr/>
        </p:nvSpPr>
        <p:spPr>
          <a:xfrm>
            <a:off x="457200" y="4206240"/>
            <a:ext cx="8229600" cy="640080"/>
          </a:xfrm>
          <a:prstGeom prst="rect">
            <a:avLst/>
          </a:prstGeom>
          <a:solidFill>
            <a:srgbClr val="1E293B"/>
          </a:solidFill>
          <a:ln/>
        </p:spPr>
        <p:txBody>
          <a:bodyPr/>
          <a:lstStyle/>
          <a:p>
            <a:endParaRPr lang="en-US"/>
          </a:p>
        </p:txBody>
      </p:sp>
      <p:sp>
        <p:nvSpPr>
          <p:cNvPr id="14" name="Shape 12"/>
          <p:cNvSpPr/>
          <p:nvPr/>
        </p:nvSpPr>
        <p:spPr>
          <a:xfrm>
            <a:off x="457200" y="4206240"/>
            <a:ext cx="73152" cy="640080"/>
          </a:xfrm>
          <a:prstGeom prst="rect">
            <a:avLst/>
          </a:prstGeom>
          <a:solidFill>
            <a:srgbClr val="38BDF8"/>
          </a:solidFill>
          <a:ln/>
        </p:spPr>
        <p:txBody>
          <a:bodyPr/>
          <a:lstStyle/>
          <a:p>
            <a:endParaRPr lang="en-US"/>
          </a:p>
        </p:txBody>
      </p:sp>
      <p:sp>
        <p:nvSpPr>
          <p:cNvPr id="15" name="Text 1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 blocked thread is a wasted thread. Async frees threads during waits.</a:t>
            </a:r>
            <a:endParaRPr lang="en-US" sz="1300" dirty="0"/>
          </a:p>
        </p:txBody>
      </p:sp>
      <p:sp>
        <p:nvSpPr>
          <p:cNvPr id="16" name="Text 1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Blocking vs. Async</a:t>
            </a:r>
            <a:endParaRPr lang="en-US" sz="2800" dirty="0"/>
          </a:p>
        </p:txBody>
      </p:sp>
      <p:sp>
        <p:nvSpPr>
          <p:cNvPr id="3" name="Text 1"/>
          <p:cNvSpPr/>
          <p:nvPr/>
        </p:nvSpPr>
        <p:spPr>
          <a:xfrm>
            <a:off x="457200" y="1005840"/>
            <a:ext cx="3931920" cy="365760"/>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Synchronous (blocking)</a:t>
            </a:r>
            <a:endParaRPr lang="en-US" sz="1400" dirty="0"/>
          </a:p>
        </p:txBody>
      </p:sp>
      <p:sp>
        <p:nvSpPr>
          <p:cNvPr id="4" name="Shape 2"/>
          <p:cNvSpPr/>
          <p:nvPr/>
        </p:nvSpPr>
        <p:spPr>
          <a:xfrm>
            <a:off x="457200" y="1417320"/>
            <a:ext cx="3931920" cy="19202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08760"/>
            <a:ext cx="3657600" cy="17373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void DoWorkSync()</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Thread.Sleep(1000);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Thread held hostage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754880" y="1005840"/>
            <a:ext cx="3931920" cy="365760"/>
          </a:xfrm>
          <a:prstGeom prst="rect">
            <a:avLst/>
          </a:prstGeom>
          <a:noFill/>
          <a:ln/>
        </p:spPr>
        <p:txBody>
          <a:bodyPr wrap="square" lIns="0" tIns="0" rIns="0" bIns="0"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Asynchronous (non-blocking)</a:t>
            </a:r>
            <a:endParaRPr lang="en-US" sz="1400" dirty="0"/>
          </a:p>
        </p:txBody>
      </p:sp>
      <p:sp>
        <p:nvSpPr>
          <p:cNvPr id="7" name="Shape 5"/>
          <p:cNvSpPr/>
          <p:nvPr/>
        </p:nvSpPr>
        <p:spPr>
          <a:xfrm>
            <a:off x="4754880" y="1417320"/>
            <a:ext cx="3931920" cy="19202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8" name="Text 6"/>
          <p:cNvSpPr/>
          <p:nvPr/>
        </p:nvSpPr>
        <p:spPr>
          <a:xfrm>
            <a:off x="4892040" y="1508760"/>
            <a:ext cx="3657600" cy="17373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async Task DoWorkAsync()</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await Task.Delay(1000);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Thread is FREE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9" name="Text 7"/>
          <p:cNvSpPr/>
          <p:nvPr/>
        </p:nvSpPr>
        <p:spPr>
          <a:xfrm>
            <a:off x="457200" y="3566160"/>
            <a:ext cx="8229600" cy="54864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Async is not parallelism. It’s about yielding control while waiting,</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so resources can be used elsewhere.</a:t>
            </a:r>
            <a:endParaRPr lang="en-US" sz="1400" dirty="0"/>
          </a:p>
          <a:p>
            <a:r>
              <a:rPr lang="en-US" sz="1400" dirty="0">
                <a:solidFill>
                  <a:srgbClr val="F3F7FB"/>
                </a:solidFill>
              </a:rPr>
              <a:t>A server with async I/O needs only 20-50 threads for 10,000 concurrent requests</a:t>
            </a:r>
          </a:p>
          <a:p>
            <a:r>
              <a:rPr lang="en-US" sz="1400" dirty="0">
                <a:solidFill>
                  <a:srgbClr val="F3F7FB"/>
                </a:solidFill>
              </a:rPr>
              <a:t>A single-threaded app can still benefit: one thread juggles many operations</a:t>
            </a:r>
          </a:p>
        </p:txBody>
      </p:sp>
      <p:sp>
        <p:nvSpPr>
          <p:cNvPr id="10" name="Shape 8"/>
          <p:cNvSpPr/>
          <p:nvPr/>
        </p:nvSpPr>
        <p:spPr>
          <a:xfrm>
            <a:off x="457200" y="4297678"/>
            <a:ext cx="8203367" cy="548641"/>
          </a:xfrm>
          <a:prstGeom prst="rect">
            <a:avLst/>
          </a:prstGeom>
          <a:solidFill>
            <a:srgbClr val="1E293B"/>
          </a:solidFill>
          <a:ln/>
        </p:spPr>
        <p:txBody>
          <a:bodyPr/>
          <a:lstStyle/>
          <a:p>
            <a:endParaRPr lang="en-US"/>
          </a:p>
        </p:txBody>
      </p:sp>
      <p:sp>
        <p:nvSpPr>
          <p:cNvPr id="11" name="Shape 9"/>
          <p:cNvSpPr/>
          <p:nvPr/>
        </p:nvSpPr>
        <p:spPr>
          <a:xfrm>
            <a:off x="457200" y="4297678"/>
            <a:ext cx="73152" cy="548642"/>
          </a:xfrm>
          <a:prstGeom prst="rect">
            <a:avLst/>
          </a:prstGeom>
          <a:solidFill>
            <a:srgbClr val="38BDF8"/>
          </a:solidFill>
          <a:ln/>
        </p:spPr>
        <p:txBody>
          <a:bodyPr/>
          <a:lstStyle/>
          <a:p>
            <a:endParaRPr lang="en-US"/>
          </a:p>
        </p:txBody>
      </p:sp>
      <p:sp>
        <p:nvSpPr>
          <p:cNvPr id="12" name="Text 10"/>
          <p:cNvSpPr/>
          <p:nvPr/>
        </p:nvSpPr>
        <p:spPr>
          <a:xfrm>
            <a:off x="685800" y="427482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Async is about not wasting threads while waiting - not about doing things in parallel.</a:t>
            </a:r>
            <a:endParaRPr lang="en-US" sz="1300" dirty="0"/>
          </a:p>
        </p:txBody>
      </p:sp>
      <p:sp>
        <p:nvSpPr>
          <p:cNvPr id="13" name="Text 11"/>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03</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Async before await</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TPL way: ContinueWith and callback hell</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Callback Hell with ContinueWith</a:t>
            </a:r>
            <a:endParaRPr lang="en-US" sz="2800" dirty="0"/>
          </a:p>
        </p:txBody>
      </p:sp>
      <p:sp>
        <p:nvSpPr>
          <p:cNvPr id="3" name="Shape 1"/>
          <p:cNvSpPr/>
          <p:nvPr/>
        </p:nvSpPr>
        <p:spPr>
          <a:xfrm>
            <a:off x="457200" y="1005840"/>
            <a:ext cx="5486400" cy="29260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5212080" cy="274320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 DoWorkWithTPL()</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 Task.Delay(1000).ContinueWith(_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 step 1");</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Task.Delay(500).ContinueWith(_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 step 2");</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5" name="Text 3"/>
          <p:cNvSpPr/>
          <p:nvPr/>
        </p:nvSpPr>
        <p:spPr>
          <a:xfrm>
            <a:off x="6126480" y="1371600"/>
            <a:ext cx="2743200" cy="2286000"/>
          </a:xfrm>
          <a:prstGeom prst="rect">
            <a:avLst/>
          </a:prstGeom>
          <a:noFill/>
          <a:ln/>
        </p:spPr>
        <p:txBody>
          <a:bodyPr wrap="square" rtlCol="0" anchor="ctr"/>
          <a:lstStyle/>
          <a:p>
            <a:pPr marL="342900" indent="-342900">
              <a:spcAft>
                <a:spcPts val="800"/>
              </a:spcAft>
              <a:buSzPct val="100000"/>
              <a:buChar char="•"/>
            </a:pPr>
            <a:r>
              <a:rPr lang="en-US" sz="1200" dirty="0">
                <a:solidFill>
                  <a:srgbClr val="F87171"/>
                </a:solidFill>
                <a:latin typeface="Calibri" pitchFamily="34" charset="0"/>
                <a:ea typeface="Calibri" pitchFamily="34" charset="-122"/>
                <a:cs typeface="Calibri" pitchFamily="34" charset="-120"/>
              </a:rPr>
              <a:t>Nesting grows with each step</a:t>
            </a:r>
            <a:endParaRPr lang="en-US" sz="1200" dirty="0"/>
          </a:p>
          <a:p>
            <a:pPr marL="342900" indent="-342900">
              <a:spcAft>
                <a:spcPts val="800"/>
              </a:spcAft>
              <a:buSzPct val="100000"/>
              <a:buChar char="•"/>
            </a:pPr>
            <a:r>
              <a:rPr lang="en-US" sz="1200" dirty="0">
                <a:solidFill>
                  <a:srgbClr val="F87171"/>
                </a:solidFill>
                <a:latin typeface="Calibri" pitchFamily="34" charset="0"/>
                <a:ea typeface="Calibri" pitchFamily="34" charset="-122"/>
                <a:cs typeface="Calibri" pitchFamily="34" charset="-120"/>
              </a:rPr>
              <a:t>No try/catch - manual IsFaulted checks</a:t>
            </a:r>
            <a:endParaRPr lang="en-US" sz="1200" dirty="0"/>
          </a:p>
          <a:p>
            <a:pPr marL="342900" indent="-342900">
              <a:spcAft>
                <a:spcPts val="800"/>
              </a:spcAft>
              <a:buSzPct val="100000"/>
              <a:buChar char="•"/>
            </a:pPr>
            <a:r>
              <a:rPr lang="en-US" sz="1200" dirty="0">
                <a:solidFill>
                  <a:srgbClr val="F87171"/>
                </a:solidFill>
                <a:latin typeface="Calibri" pitchFamily="34" charset="0"/>
                <a:ea typeface="Calibri" pitchFamily="34" charset="-122"/>
                <a:cs typeface="Calibri" pitchFamily="34" charset="-120"/>
              </a:rPr>
              <a:t>AggregateException wrapping</a:t>
            </a:r>
            <a:endParaRPr lang="en-US" sz="1200" dirty="0"/>
          </a:p>
          <a:p>
            <a:pPr marL="342900" indent="-342900">
              <a:spcAft>
                <a:spcPts val="800"/>
              </a:spcAft>
              <a:buSzPct val="100000"/>
              <a:buChar char="•"/>
            </a:pPr>
            <a:r>
              <a:rPr lang="en-US" sz="1200" dirty="0">
                <a:solidFill>
                  <a:srgbClr val="F87171"/>
                </a:solidFill>
                <a:latin typeface="Calibri" pitchFamily="34" charset="0"/>
                <a:ea typeface="Calibri" pitchFamily="34" charset="-122"/>
                <a:cs typeface="Calibri" pitchFamily="34" charset="-120"/>
              </a:rPr>
              <a:t>Unwrap() for Task&lt;Task&gt;</a:t>
            </a:r>
            <a:endParaRPr lang="en-US" sz="1200" dirty="0"/>
          </a:p>
        </p:txBody>
      </p:sp>
      <p:sp>
        <p:nvSpPr>
          <p:cNvPr id="6" name="Shape 4"/>
          <p:cNvSpPr/>
          <p:nvPr/>
        </p:nvSpPr>
        <p:spPr>
          <a:xfrm>
            <a:off x="457200" y="4206240"/>
            <a:ext cx="8229600" cy="640080"/>
          </a:xfrm>
          <a:prstGeom prst="rect">
            <a:avLst/>
          </a:prstGeom>
          <a:solidFill>
            <a:srgbClr val="1E293B"/>
          </a:solidFill>
          <a:ln/>
        </p:spPr>
        <p:txBody>
          <a:bodyPr/>
          <a:lstStyle/>
          <a:p>
            <a:endParaRPr lang="en-US"/>
          </a:p>
        </p:txBody>
      </p:sp>
      <p:sp>
        <p:nvSpPr>
          <p:cNvPr id="7" name="Shape 5"/>
          <p:cNvSpPr/>
          <p:nvPr/>
        </p:nvSpPr>
        <p:spPr>
          <a:xfrm>
            <a:off x="457200" y="4206240"/>
            <a:ext cx="73152" cy="640080"/>
          </a:xfrm>
          <a:prstGeom prst="rect">
            <a:avLst/>
          </a:prstGeom>
          <a:solidFill>
            <a:srgbClr val="38BDF8"/>
          </a:solidFill>
          <a:ln/>
        </p:spPr>
        <p:txBody>
          <a:bodyPr/>
          <a:lstStyle/>
          <a:p>
            <a:endParaRPr lang="en-US"/>
          </a:p>
        </p:txBody>
      </p:sp>
      <p:sp>
        <p:nvSpPr>
          <p:cNvPr id="8" name="Text 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await is syntactic sugar that solves callback hell. Same mechanics, dramatically better DX.</a:t>
            </a:r>
            <a:endParaRPr lang="en-US" sz="1300" dirty="0"/>
          </a:p>
        </p:txBody>
      </p:sp>
      <p:sp>
        <p:nvSpPr>
          <p:cNvPr id="9" name="Text 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Same Logic, with await</a:t>
            </a:r>
            <a:endParaRPr lang="en-US" sz="2800" dirty="0"/>
          </a:p>
        </p:txBody>
      </p:sp>
      <p:sp>
        <p:nvSpPr>
          <p:cNvPr id="3" name="Shape 1"/>
          <p:cNvSpPr/>
          <p:nvPr/>
        </p:nvSpPr>
        <p:spPr>
          <a:xfrm>
            <a:off x="457200" y="1097280"/>
            <a:ext cx="50292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188720"/>
            <a:ext cx="4754880" cy="219456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DoWorkClean()</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Console.WriteLine("Before");</a:t>
            </a:r>
            <a:endParaRPr lang="en-US" sz="1400" dirty="0"/>
          </a:p>
          <a:p>
            <a:pPr marL="0" indent="0">
              <a:spcAft>
                <a:spcPts val="200"/>
              </a:spcAft>
              <a:buNone/>
            </a:pP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Console.WriteLine("After step 1");</a:t>
            </a:r>
            <a:endParaRPr lang="en-US" sz="1400" dirty="0"/>
          </a:p>
          <a:p>
            <a:pPr marL="0" indent="0">
              <a:spcAft>
                <a:spcPts val="200"/>
              </a:spcAft>
              <a:buNone/>
            </a:pP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Task.Delay(500);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Console.WriteLine("After step 2");</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5" name="Text 3"/>
          <p:cNvSpPr/>
          <p:nvPr/>
        </p:nvSpPr>
        <p:spPr>
          <a:xfrm>
            <a:off x="5760720" y="1371600"/>
            <a:ext cx="3108960" cy="2011680"/>
          </a:xfrm>
          <a:prstGeom prst="rect">
            <a:avLst/>
          </a:prstGeom>
          <a:noFill/>
          <a:ln/>
        </p:spPr>
        <p:txBody>
          <a:bodyPr wrap="square" rtlCol="0" anchor="ctr"/>
          <a:lstStyle/>
          <a:p>
            <a:pPr marL="342900" indent="-342900">
              <a:spcAft>
                <a:spcPts val="800"/>
              </a:spcAft>
              <a:buSzPct val="100000"/>
              <a:buChar char="•"/>
            </a:pPr>
            <a:r>
              <a:rPr lang="en-US" sz="1300" dirty="0">
                <a:solidFill>
                  <a:srgbClr val="4ADE80"/>
                </a:solidFill>
                <a:latin typeface="Calibri" pitchFamily="34" charset="0"/>
                <a:ea typeface="Calibri" pitchFamily="34" charset="-122"/>
                <a:cs typeface="Calibri" pitchFamily="34" charset="-120"/>
              </a:rPr>
              <a:t>Flat and sequential</a:t>
            </a:r>
            <a:endParaRPr lang="en-US" sz="1300" dirty="0"/>
          </a:p>
          <a:p>
            <a:pPr marL="342900" indent="-342900">
              <a:spcAft>
                <a:spcPts val="800"/>
              </a:spcAft>
              <a:buSzPct val="100000"/>
              <a:buChar char="•"/>
            </a:pPr>
            <a:r>
              <a:rPr lang="en-US" sz="1300" dirty="0">
                <a:solidFill>
                  <a:srgbClr val="4ADE80"/>
                </a:solidFill>
                <a:latin typeface="Calibri" pitchFamily="34" charset="0"/>
                <a:ea typeface="Calibri" pitchFamily="34" charset="-122"/>
                <a:cs typeface="Calibri" pitchFamily="34" charset="-120"/>
              </a:rPr>
              <a:t>try/catch works normally</a:t>
            </a:r>
            <a:endParaRPr lang="en-US" sz="1300" dirty="0"/>
          </a:p>
          <a:p>
            <a:pPr marL="342900" indent="-342900">
              <a:spcAft>
                <a:spcPts val="800"/>
              </a:spcAft>
              <a:buSzPct val="100000"/>
              <a:buChar char="•"/>
            </a:pPr>
            <a:r>
              <a:rPr lang="en-US" sz="1300" dirty="0">
                <a:solidFill>
                  <a:srgbClr val="4ADE80"/>
                </a:solidFill>
                <a:latin typeface="Calibri" pitchFamily="34" charset="0"/>
                <a:ea typeface="Calibri" pitchFamily="34" charset="-122"/>
                <a:cs typeface="Calibri" pitchFamily="34" charset="-120"/>
              </a:rPr>
              <a:t>Compiler handles all callback plumbing</a:t>
            </a:r>
            <a:endParaRPr lang="en-US" sz="1300" dirty="0"/>
          </a:p>
          <a:p>
            <a:pPr marL="342900" indent="-342900">
              <a:spcAft>
                <a:spcPts val="800"/>
              </a:spcAft>
              <a:buSzPct val="100000"/>
              <a:buChar char="•"/>
            </a:pPr>
            <a:r>
              <a:rPr lang="en-US" sz="1300" dirty="0">
                <a:solidFill>
                  <a:srgbClr val="4ADE80"/>
                </a:solidFill>
                <a:latin typeface="Calibri" pitchFamily="34" charset="0"/>
                <a:ea typeface="Calibri" pitchFamily="34" charset="-122"/>
                <a:cs typeface="Calibri" pitchFamily="34" charset="-120"/>
              </a:rPr>
              <a:t>Reads like the logic it represents</a:t>
            </a:r>
            <a:endParaRPr lang="en-US" sz="13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04</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What is a Task?</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Spoiler: it’s not a thread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A Task Is a Promise, Not a Thread</a:t>
            </a:r>
            <a:endParaRPr lang="en-US" sz="2800" dirty="0"/>
          </a:p>
        </p:txBody>
      </p:sp>
      <p:sp>
        <p:nvSpPr>
          <p:cNvPr id="3" name="Text 1"/>
          <p:cNvSpPr/>
          <p:nvPr/>
        </p:nvSpPr>
        <p:spPr>
          <a:xfrm>
            <a:off x="457200" y="914400"/>
            <a:ext cx="8229600" cy="64008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A Task is a data structure representing work that will complete in the future.</a:t>
            </a:r>
            <a:endParaRPr lang="en-US" sz="1500" dirty="0"/>
          </a:p>
          <a:p>
            <a:pPr marL="0" indent="0">
              <a:buNone/>
            </a:pPr>
            <a:r>
              <a:rPr lang="en-US" sz="1500" dirty="0">
                <a:solidFill>
                  <a:srgbClr val="F1F5F9"/>
                </a:solidFill>
                <a:latin typeface="Calibri" pitchFamily="34" charset="0"/>
                <a:ea typeface="Calibri" pitchFamily="34" charset="-122"/>
                <a:cs typeface="Calibri" pitchFamily="34" charset="-120"/>
              </a:rPr>
              <a:t>It does not own, use, or require a thread.</a:t>
            </a:r>
            <a:endParaRPr lang="en-US" sz="1500" dirty="0"/>
          </a:p>
        </p:txBody>
      </p:sp>
      <p:sp>
        <p:nvSpPr>
          <p:cNvPr id="4" name="Text 2"/>
          <p:cNvSpPr/>
          <p:nvPr/>
        </p:nvSpPr>
        <p:spPr>
          <a:xfrm>
            <a:off x="457200" y="1691640"/>
            <a:ext cx="393192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No thread involved</a:t>
            </a:r>
            <a:endParaRPr lang="en-US" sz="1300" dirty="0"/>
          </a:p>
        </p:txBody>
      </p:sp>
      <p:sp>
        <p:nvSpPr>
          <p:cNvPr id="5" name="Shape 3"/>
          <p:cNvSpPr/>
          <p:nvPr/>
        </p:nvSpPr>
        <p:spPr>
          <a:xfrm>
            <a:off x="457200" y="2057400"/>
            <a:ext cx="3931920" cy="82296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2148840"/>
            <a:ext cx="3657600" cy="64008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Sets a timer. No thread runs "the delay."</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Task delayTask = Task.Delay(1000);</a:t>
            </a:r>
            <a:endParaRPr lang="en-US" sz="1100" dirty="0"/>
          </a:p>
        </p:txBody>
      </p:sp>
      <p:sp>
        <p:nvSpPr>
          <p:cNvPr id="7" name="Text 5"/>
          <p:cNvSpPr/>
          <p:nvPr/>
        </p:nvSpPr>
        <p:spPr>
          <a:xfrm>
            <a:off x="4754880" y="1691640"/>
            <a:ext cx="3931920" cy="32004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Uses a worker thread</a:t>
            </a:r>
            <a:endParaRPr lang="en-US" sz="1300" dirty="0"/>
          </a:p>
        </p:txBody>
      </p:sp>
      <p:sp>
        <p:nvSpPr>
          <p:cNvPr id="8" name="Shape 6"/>
          <p:cNvSpPr/>
          <p:nvPr/>
        </p:nvSpPr>
        <p:spPr>
          <a:xfrm>
            <a:off x="4754880" y="2057400"/>
            <a:ext cx="3931920" cy="10058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9" name="Text 7"/>
          <p:cNvSpPr/>
          <p:nvPr/>
        </p:nvSpPr>
        <p:spPr>
          <a:xfrm>
            <a:off x="4892040" y="2148840"/>
            <a:ext cx="3657600" cy="82296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Queues lambda to a worker thread.</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Task runTask = Task.Run(() =&gt;</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Console.WriteLine("On a thread"));</a:t>
            </a:r>
            <a:endParaRPr lang="en-US" sz="1100" dirty="0"/>
          </a:p>
        </p:txBody>
      </p:sp>
      <p:sp>
        <p:nvSpPr>
          <p:cNvPr id="12" name="Text 10"/>
          <p:cNvSpPr/>
          <p:nvPr/>
        </p:nvSpPr>
        <p:spPr>
          <a:xfrm>
            <a:off x="594360" y="3703320"/>
            <a:ext cx="4754880" cy="457200"/>
          </a:xfrm>
          <a:prstGeom prst="rect">
            <a:avLst/>
          </a:prstGeom>
          <a:noFill/>
          <a:ln/>
        </p:spPr>
        <p:txBody>
          <a:bodyPr wrap="square" lIns="0" tIns="0" rIns="0" bIns="0" rtlCol="0" anchor="t"/>
          <a:lstStyle/>
          <a:p>
            <a:pPr marL="0" indent="0">
              <a:spcAft>
                <a:spcPts val="200"/>
              </a:spcAft>
              <a:buNone/>
            </a:pPr>
            <a:endParaRPr lang="en-US" sz="1100" dirty="0"/>
          </a:p>
        </p:txBody>
      </p:sp>
      <p:sp>
        <p:nvSpPr>
          <p:cNvPr id="13" name="Shape 11"/>
          <p:cNvSpPr/>
          <p:nvPr/>
        </p:nvSpPr>
        <p:spPr>
          <a:xfrm>
            <a:off x="457200" y="4069080"/>
            <a:ext cx="8229600" cy="777240"/>
          </a:xfrm>
          <a:prstGeom prst="rect">
            <a:avLst/>
          </a:prstGeom>
          <a:solidFill>
            <a:srgbClr val="1E293B"/>
          </a:solidFill>
          <a:ln/>
        </p:spPr>
        <p:txBody>
          <a:bodyPr/>
          <a:lstStyle/>
          <a:p>
            <a:endParaRPr lang="en-US"/>
          </a:p>
        </p:txBody>
      </p:sp>
      <p:sp>
        <p:nvSpPr>
          <p:cNvPr id="14" name="Shape 12"/>
          <p:cNvSpPr/>
          <p:nvPr/>
        </p:nvSpPr>
        <p:spPr>
          <a:xfrm>
            <a:off x="457200" y="4069080"/>
            <a:ext cx="73152" cy="777240"/>
          </a:xfrm>
          <a:prstGeom prst="rect">
            <a:avLst/>
          </a:prstGeom>
          <a:solidFill>
            <a:srgbClr val="38BDF8"/>
          </a:solidFill>
          <a:ln/>
        </p:spPr>
        <p:txBody>
          <a:bodyPr/>
          <a:lstStyle/>
          <a:p>
            <a:endParaRPr lang="en-US"/>
          </a:p>
        </p:txBody>
      </p:sp>
      <p:sp>
        <p:nvSpPr>
          <p:cNvPr id="15" name="Text 13"/>
          <p:cNvSpPr/>
          <p:nvPr/>
        </p:nvSpPr>
        <p:spPr>
          <a:xfrm>
            <a:off x="722376" y="4069080"/>
            <a:ext cx="7772400" cy="640080"/>
          </a:xfrm>
          <a:prstGeom prst="rect">
            <a:avLst/>
          </a:prstGeom>
          <a:noFill/>
          <a:ln/>
        </p:spPr>
        <p:txBody>
          <a:bodyPr wrap="square" lIns="0" tIns="0" rIns="0" bIns="0" rtlCol="0" anchor="ctr"/>
          <a:lstStyle/>
          <a:p>
            <a:r>
              <a:rPr lang="en-US" sz="1300" i="1" dirty="0">
                <a:solidFill>
                  <a:srgbClr val="F1F5F9"/>
                </a:solidFill>
                <a:latin typeface="Calibri" pitchFamily="34" charset="0"/>
                <a:ea typeface="Calibri" pitchFamily="34" charset="-122"/>
                <a:cs typeface="Calibri" pitchFamily="34" charset="-120"/>
              </a:rPr>
              <a:t>A Task is a unit of work, not a unit of execution. i.e. It encapsulates work to be done, but does not run/execute the code itself. </a:t>
            </a:r>
            <a:endParaRPr lang="en-US" sz="1300" dirty="0"/>
          </a:p>
        </p:txBody>
      </p:sp>
      <p:sp>
        <p:nvSpPr>
          <p:cNvPr id="16" name="Text 1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05</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ThreadPool</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default engine behind Task.Run and continuations</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How the ThreadPool Works</a:t>
            </a:r>
            <a:endParaRPr lang="en-US" sz="2800" dirty="0"/>
          </a:p>
        </p:txBody>
      </p:sp>
      <p:sp>
        <p:nvSpPr>
          <p:cNvPr id="3" name="Text 1"/>
          <p:cNvSpPr/>
          <p:nvPr/>
        </p:nvSpPr>
        <p:spPr>
          <a:xfrm>
            <a:off x="457200" y="914400"/>
            <a:ext cx="8229600" cy="64008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A pool of pre-created worker threads managed by the runtime.</a:t>
            </a:r>
            <a:endParaRPr lang="en-US" sz="1400" dirty="0"/>
          </a:p>
          <a:p>
            <a:r>
              <a:rPr lang="en-US" sz="1400" dirty="0">
                <a:solidFill>
                  <a:srgbClr val="F3F7FB"/>
                </a:solidFill>
              </a:rPr>
              <a:t>Creating threads is expensive: ~1 MB stack, OS system calls, kernel scheduler registration</a:t>
            </a:r>
          </a:p>
          <a:p>
            <a:r>
              <a:rPr lang="en-US" sz="1400" dirty="0">
                <a:solidFill>
                  <a:srgbClr val="F3F7FB"/>
                </a:solidFill>
              </a:rPr>
              <a:t>1,000 req/sec × new thread each = ruinous overhead; the pool reuses threads instead</a:t>
            </a:r>
          </a:p>
          <a:p>
            <a:pPr marL="0" indent="0">
              <a:buNone/>
            </a:pPr>
            <a:r>
              <a:rPr lang="en-US" sz="1400" dirty="0">
                <a:solidFill>
                  <a:srgbClr val="F1F5F9"/>
                </a:solidFill>
                <a:latin typeface="Calibri" pitchFamily="34" charset="0"/>
                <a:ea typeface="Calibri" pitchFamily="34" charset="-122"/>
                <a:cs typeface="Calibri" pitchFamily="34" charset="-120"/>
              </a:rPr>
              <a:t>Task.Run() queues your delegate; a pool thread picks it up.</a:t>
            </a:r>
            <a:endParaRPr lang="en-US" sz="1400" dirty="0"/>
          </a:p>
        </p:txBody>
      </p:sp>
      <p:sp>
        <p:nvSpPr>
          <p:cNvPr id="4" name="Shape 2"/>
          <p:cNvSpPr/>
          <p:nvPr/>
        </p:nvSpPr>
        <p:spPr>
          <a:xfrm>
            <a:off x="457200" y="1737360"/>
            <a:ext cx="59436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828800"/>
            <a:ext cx="5669280" cy="164592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Task.Run(()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Console.WriteLine($"Thread {Environment.CurrentManagedThreadId}"));</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Task.Run(()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Console.WriteLine($"Thread {Environment.CurrentManagedThreadId}"));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Might be same thread, might be different - pool decides</a:t>
            </a:r>
            <a:endParaRPr lang="en-US" sz="1200" dirty="0"/>
          </a:p>
        </p:txBody>
      </p:sp>
      <p:sp>
        <p:nvSpPr>
          <p:cNvPr id="6" name="Text 4"/>
          <p:cNvSpPr/>
          <p:nvPr/>
        </p:nvSpPr>
        <p:spPr>
          <a:xfrm>
            <a:off x="457200" y="3657600"/>
            <a:ext cx="8229600" cy="914400"/>
          </a:xfrm>
          <a:prstGeom prst="rect">
            <a:avLst/>
          </a:prstGeom>
          <a:noFill/>
          <a:ln/>
        </p:spPr>
        <p:txBody>
          <a:bodyPr wrap="square" rtlCol="0" anchor="ctr"/>
          <a:lstStyle/>
          <a:p>
            <a:pPr marL="342900" indent="-342900">
              <a:spcAft>
                <a:spcPts val="500"/>
              </a:spcAft>
              <a:buSzPct val="100000"/>
              <a:buChar char="•"/>
            </a:pPr>
            <a:r>
              <a:rPr lang="en-US" sz="1200" dirty="0">
                <a:solidFill>
                  <a:srgbClr val="F1F5F9"/>
                </a:solidFill>
                <a:latin typeface="Calibri" pitchFamily="34" charset="0"/>
                <a:ea typeface="Calibri" pitchFamily="34" charset="-122"/>
                <a:cs typeface="Calibri" pitchFamily="34" charset="-120"/>
              </a:rPr>
              <a:t>Starts with ~1 thread per CPU core</a:t>
            </a:r>
            <a:endParaRPr lang="en-US" sz="1200" dirty="0"/>
          </a:p>
          <a:p>
            <a:pPr marL="342900" indent="-342900">
              <a:spcAft>
                <a:spcPts val="500"/>
              </a:spcAft>
              <a:buSzPct val="100000"/>
              <a:buChar char="•"/>
            </a:pPr>
            <a:r>
              <a:rPr lang="en-US" sz="1200" dirty="0">
                <a:solidFill>
                  <a:srgbClr val="F1F5F9"/>
                </a:solidFill>
                <a:latin typeface="Calibri" pitchFamily="34" charset="0"/>
                <a:ea typeface="Calibri" pitchFamily="34" charset="-122"/>
                <a:cs typeface="Calibri" pitchFamily="34" charset="-120"/>
              </a:rPr>
              <a:t>Slowly injects new threads if work backs up (~1 per 500ms)</a:t>
            </a:r>
            <a:endParaRPr lang="en-US" sz="1200" dirty="0"/>
          </a:p>
          <a:p>
            <a:pPr marL="342900" indent="-342900">
              <a:spcAft>
                <a:spcPts val="500"/>
              </a:spcAft>
              <a:buSzPct val="100000"/>
              <a:buChar char="•"/>
            </a:pPr>
            <a:r>
              <a:rPr lang="en-US" sz="1200" dirty="0">
                <a:solidFill>
                  <a:srgbClr val="FBBF24"/>
                </a:solidFill>
                <a:latin typeface="Calibri" pitchFamily="34" charset="0"/>
                <a:ea typeface="Calibri" pitchFamily="34" charset="-122"/>
                <a:cs typeface="Calibri" pitchFamily="34" charset="-120"/>
              </a:rPr>
              <a:t>Blocking pool threads with .Result or .Wait() causes starvation</a:t>
            </a:r>
            <a:endParaRPr lang="en-US" sz="12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Continuations: Code After the Await</a:t>
            </a:r>
            <a:endParaRPr lang="en-US" sz="2800" dirty="0"/>
          </a:p>
        </p:txBody>
      </p:sp>
      <p:sp>
        <p:nvSpPr>
          <p:cNvPr id="3" name="Text 1"/>
          <p:cNvSpPr/>
          <p:nvPr/>
        </p:nvSpPr>
        <p:spPr>
          <a:xfrm>
            <a:off x="457200" y="914400"/>
            <a:ext cx="8229600" cy="54864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When a timer fires, the code after the await - the continuation -</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is queued to a ThreadPool thread.</a:t>
            </a:r>
            <a:endParaRPr lang="en-US" sz="1400" dirty="0"/>
          </a:p>
        </p:txBody>
      </p:sp>
      <p:sp>
        <p:nvSpPr>
          <p:cNvPr id="4" name="Shape 2"/>
          <p:cNvSpPr/>
          <p:nvPr/>
        </p:nvSpPr>
        <p:spPr>
          <a:xfrm>
            <a:off x="457200" y="1645919"/>
            <a:ext cx="6858000" cy="2034541"/>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737360"/>
            <a:ext cx="6583680" cy="1737360"/>
          </a:xfrm>
          <a:prstGeom prst="rect">
            <a:avLst/>
          </a:prstGeom>
          <a:noFill/>
          <a:ln/>
        </p:spPr>
        <p:txBody>
          <a:bodyPr wrap="square" lIns="0" tIns="0" rIns="0" bIns="0" rtlCol="0" anchor="t"/>
          <a:lstStyle/>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async Task ShowThreads()</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    Console.WriteLine($"Before: thread {Environment.CurrentManagedThreadId}");</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    await Task.Delay(1000);</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    // Continuation may run on a DIFFERENT thread</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    Console.WriteLine($"After:  thread {Environment.CurrentManagedThreadId}");</a:t>
            </a:r>
            <a:endParaRPr lang="en-US" sz="1300" dirty="0"/>
          </a:p>
          <a:p>
            <a:pPr marL="0" indent="0">
              <a:spcAft>
                <a:spcPts val="200"/>
              </a:spcAft>
              <a:buNone/>
            </a:pPr>
            <a:r>
              <a:rPr lang="en-US" sz="1300" dirty="0">
                <a:solidFill>
                  <a:srgbClr val="E2E8F0"/>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457200" y="3657600"/>
            <a:ext cx="8229600" cy="54864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The thread before the await and the thread after the await</a:t>
            </a:r>
            <a:endParaRPr lang="en-US" sz="1400" dirty="0"/>
          </a:p>
          <a:p>
            <a:pPr marL="0" indent="0">
              <a:buNone/>
            </a:pPr>
            <a:r>
              <a:rPr lang="en-US" sz="1400" dirty="0">
                <a:solidFill>
                  <a:srgbClr val="94A3B8"/>
                </a:solidFill>
                <a:latin typeface="Calibri" pitchFamily="34" charset="0"/>
                <a:ea typeface="Calibri" pitchFamily="34" charset="-122"/>
                <a:cs typeface="Calibri" pitchFamily="34" charset="-120"/>
              </a:rPr>
              <a:t>may be completely different. The ThreadPool dispatches both.</a:t>
            </a:r>
            <a:endParaRPr lang="en-US" sz="1400" dirty="0"/>
          </a:p>
        </p:txBody>
      </p:sp>
      <p:sp>
        <p:nvSpPr>
          <p:cNvPr id="7" name="Shape 5"/>
          <p:cNvSpPr/>
          <p:nvPr/>
        </p:nvSpPr>
        <p:spPr>
          <a:xfrm>
            <a:off x="457200" y="4206240"/>
            <a:ext cx="8229600" cy="640080"/>
          </a:xfrm>
          <a:prstGeom prst="rect">
            <a:avLst/>
          </a:prstGeom>
          <a:solidFill>
            <a:srgbClr val="1E293B"/>
          </a:solidFill>
          <a:ln/>
        </p:spPr>
        <p:txBody>
          <a:bodyPr/>
          <a:lstStyle/>
          <a:p>
            <a:endParaRPr lang="en-US"/>
          </a:p>
        </p:txBody>
      </p:sp>
      <p:sp>
        <p:nvSpPr>
          <p:cNvPr id="8" name="Shape 6"/>
          <p:cNvSpPr/>
          <p:nvPr/>
        </p:nvSpPr>
        <p:spPr>
          <a:xfrm>
            <a:off x="457200" y="4206240"/>
            <a:ext cx="73152" cy="640080"/>
          </a:xfrm>
          <a:prstGeom prst="rect">
            <a:avLst/>
          </a:prstGeom>
          <a:solidFill>
            <a:srgbClr val="38BDF8"/>
          </a:solidFill>
          <a:ln/>
        </p:spPr>
        <p:txBody>
          <a:bodyPr/>
          <a:lstStyle/>
          <a:p>
            <a:endParaRPr lang="en-US"/>
          </a:p>
        </p:txBody>
      </p:sp>
      <p:sp>
        <p:nvSpPr>
          <p:cNvPr id="9" name="Text 7"/>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The ThreadPool is the default engine. Task.Delay uses a timer, not a thread - only the continuation needs one.</a:t>
            </a:r>
            <a:endParaRPr lang="en-US" sz="13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06</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SynchronizationContext</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&amp; TaskScheduler</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real schedulers: who decides where continuations run</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Where Do Continuations Run?</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SynchronizationContext answers: where should this continuation execute?</a:t>
            </a:r>
            <a:endParaRPr lang="en-US" sz="1500" dirty="0"/>
          </a:p>
        </p:txBody>
      </p:sp>
      <p:sp>
        <p:nvSpPr>
          <p:cNvPr id="4" name="Shape 2"/>
          <p:cNvSpPr/>
          <p:nvPr/>
        </p:nvSpPr>
        <p:spPr>
          <a:xfrm>
            <a:off x="457200" y="1508760"/>
            <a:ext cx="8229600" cy="548640"/>
          </a:xfrm>
          <a:prstGeom prst="rect">
            <a:avLst/>
          </a:prstGeom>
          <a:solidFill>
            <a:srgbClr val="1E293B"/>
          </a:solidFill>
          <a:ln/>
        </p:spPr>
        <p:txBody>
          <a:bodyPr/>
          <a:lstStyle/>
          <a:p>
            <a:endParaRPr lang="en-US"/>
          </a:p>
        </p:txBody>
      </p:sp>
      <p:sp>
        <p:nvSpPr>
          <p:cNvPr id="5" name="Shape 3"/>
          <p:cNvSpPr/>
          <p:nvPr/>
        </p:nvSpPr>
        <p:spPr>
          <a:xfrm>
            <a:off x="457200" y="1508760"/>
            <a:ext cx="64008" cy="548640"/>
          </a:xfrm>
          <a:prstGeom prst="rect">
            <a:avLst/>
          </a:prstGeom>
          <a:solidFill>
            <a:srgbClr val="38BDF8"/>
          </a:solidFill>
          <a:ln/>
        </p:spPr>
        <p:txBody>
          <a:bodyPr/>
          <a:lstStyle/>
          <a:p>
            <a:endParaRPr lang="en-US"/>
          </a:p>
        </p:txBody>
      </p:sp>
      <p:sp>
        <p:nvSpPr>
          <p:cNvPr id="6" name="Text 4"/>
          <p:cNvSpPr/>
          <p:nvPr/>
        </p:nvSpPr>
        <p:spPr>
          <a:xfrm>
            <a:off x="731520" y="1508760"/>
            <a:ext cx="2926080" cy="5486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WinForms / WPF</a:t>
            </a:r>
            <a:endParaRPr lang="en-US" sz="1400" dirty="0"/>
          </a:p>
        </p:txBody>
      </p:sp>
      <p:sp>
        <p:nvSpPr>
          <p:cNvPr id="7" name="Text 5"/>
          <p:cNvSpPr/>
          <p:nvPr/>
        </p:nvSpPr>
        <p:spPr>
          <a:xfrm>
            <a:off x="3657600" y="1508760"/>
            <a:ext cx="484632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UI thread message loop</a:t>
            </a:r>
            <a:endParaRPr lang="en-US" sz="1300" dirty="0"/>
          </a:p>
        </p:txBody>
      </p:sp>
      <p:sp>
        <p:nvSpPr>
          <p:cNvPr id="8" name="Shape 6"/>
          <p:cNvSpPr/>
          <p:nvPr/>
        </p:nvSpPr>
        <p:spPr>
          <a:xfrm>
            <a:off x="457200" y="2194560"/>
            <a:ext cx="8229600" cy="548640"/>
          </a:xfrm>
          <a:prstGeom prst="rect">
            <a:avLst/>
          </a:prstGeom>
          <a:solidFill>
            <a:srgbClr val="1E293B"/>
          </a:solidFill>
          <a:ln/>
        </p:spPr>
        <p:txBody>
          <a:bodyPr/>
          <a:lstStyle/>
          <a:p>
            <a:endParaRPr lang="en-US"/>
          </a:p>
        </p:txBody>
      </p:sp>
      <p:sp>
        <p:nvSpPr>
          <p:cNvPr id="9" name="Shape 7"/>
          <p:cNvSpPr/>
          <p:nvPr/>
        </p:nvSpPr>
        <p:spPr>
          <a:xfrm>
            <a:off x="457200" y="2194560"/>
            <a:ext cx="64008" cy="548640"/>
          </a:xfrm>
          <a:prstGeom prst="rect">
            <a:avLst/>
          </a:prstGeom>
          <a:solidFill>
            <a:srgbClr val="A78BFA"/>
          </a:solidFill>
          <a:ln/>
        </p:spPr>
        <p:txBody>
          <a:bodyPr/>
          <a:lstStyle/>
          <a:p>
            <a:endParaRPr lang="en-US"/>
          </a:p>
        </p:txBody>
      </p:sp>
      <p:sp>
        <p:nvSpPr>
          <p:cNvPr id="10" name="Text 8"/>
          <p:cNvSpPr/>
          <p:nvPr/>
        </p:nvSpPr>
        <p:spPr>
          <a:xfrm>
            <a:off x="731520" y="2194560"/>
            <a:ext cx="2926080" cy="5486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ASP.NET Classic</a:t>
            </a:r>
            <a:endParaRPr lang="en-US" sz="1400" dirty="0"/>
          </a:p>
        </p:txBody>
      </p:sp>
      <p:sp>
        <p:nvSpPr>
          <p:cNvPr id="11" name="Text 9"/>
          <p:cNvSpPr/>
          <p:nvPr/>
        </p:nvSpPr>
        <p:spPr>
          <a:xfrm>
            <a:off x="3657600" y="2194560"/>
            <a:ext cx="484632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One-thread-at-a-time per request</a:t>
            </a:r>
            <a:endParaRPr lang="en-US" sz="1300" dirty="0"/>
          </a:p>
        </p:txBody>
      </p:sp>
      <p:sp>
        <p:nvSpPr>
          <p:cNvPr id="12" name="Shape 10"/>
          <p:cNvSpPr/>
          <p:nvPr/>
        </p:nvSpPr>
        <p:spPr>
          <a:xfrm>
            <a:off x="457200" y="2880360"/>
            <a:ext cx="8229600" cy="548640"/>
          </a:xfrm>
          <a:prstGeom prst="rect">
            <a:avLst/>
          </a:prstGeom>
          <a:solidFill>
            <a:srgbClr val="1E293B"/>
          </a:solidFill>
          <a:ln/>
        </p:spPr>
        <p:txBody>
          <a:bodyPr/>
          <a:lstStyle/>
          <a:p>
            <a:endParaRPr lang="en-US"/>
          </a:p>
        </p:txBody>
      </p:sp>
      <p:sp>
        <p:nvSpPr>
          <p:cNvPr id="13" name="Shape 11"/>
          <p:cNvSpPr/>
          <p:nvPr/>
        </p:nvSpPr>
        <p:spPr>
          <a:xfrm>
            <a:off x="457200" y="2880360"/>
            <a:ext cx="64008" cy="548640"/>
          </a:xfrm>
          <a:prstGeom prst="rect">
            <a:avLst/>
          </a:prstGeom>
          <a:solidFill>
            <a:srgbClr val="FBBF24"/>
          </a:solidFill>
          <a:ln/>
        </p:spPr>
        <p:txBody>
          <a:bodyPr/>
          <a:lstStyle/>
          <a:p>
            <a:endParaRPr lang="en-US"/>
          </a:p>
        </p:txBody>
      </p:sp>
      <p:sp>
        <p:nvSpPr>
          <p:cNvPr id="14" name="Text 12"/>
          <p:cNvSpPr/>
          <p:nvPr/>
        </p:nvSpPr>
        <p:spPr>
          <a:xfrm>
            <a:off x="731520" y="2880360"/>
            <a:ext cx="2926080" cy="5486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ASP.NET Core / Console</a:t>
            </a:r>
            <a:endParaRPr lang="en-US" sz="1400" dirty="0"/>
          </a:p>
        </p:txBody>
      </p:sp>
      <p:sp>
        <p:nvSpPr>
          <p:cNvPr id="15" name="Text 13"/>
          <p:cNvSpPr/>
          <p:nvPr/>
        </p:nvSpPr>
        <p:spPr>
          <a:xfrm>
            <a:off x="3657600" y="2880360"/>
            <a:ext cx="484632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null - falls back to ThreadPool</a:t>
            </a:r>
            <a:endParaRPr lang="en-US" sz="1300" dirty="0"/>
          </a:p>
        </p:txBody>
      </p:sp>
      <p:sp>
        <p:nvSpPr>
          <p:cNvPr id="16" name="Text 14"/>
          <p:cNvSpPr/>
          <p:nvPr/>
        </p:nvSpPr>
        <p:spPr>
          <a:xfrm>
            <a:off x="457200" y="3657600"/>
            <a:ext cx="8229600" cy="32004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The priority chain when scheduling a continuation:</a:t>
            </a:r>
            <a:endParaRPr lang="en-US" sz="1300" dirty="0"/>
          </a:p>
        </p:txBody>
      </p:sp>
      <p:sp>
        <p:nvSpPr>
          <p:cNvPr id="17" name="Text 15"/>
          <p:cNvSpPr/>
          <p:nvPr/>
        </p:nvSpPr>
        <p:spPr>
          <a:xfrm>
            <a:off x="457200" y="3931920"/>
            <a:ext cx="8229600" cy="320040"/>
          </a:xfrm>
          <a:prstGeom prst="rect">
            <a:avLst/>
          </a:prstGeom>
          <a:noFill/>
          <a:ln/>
        </p:spPr>
        <p:txBody>
          <a:bodyPr wrap="square" lIns="0" tIns="0" rIns="0" bIns="0" rtlCol="0" anchor="ctr"/>
          <a:lstStyle/>
          <a:p>
            <a:pPr marL="0" indent="0">
              <a:buNone/>
            </a:pPr>
            <a:r>
              <a:rPr lang="en-US" sz="1400" dirty="0">
                <a:solidFill>
                  <a:srgbClr val="38BDF8"/>
                </a:solidFill>
                <a:latin typeface="Consolas" pitchFamily="34" charset="0"/>
                <a:ea typeface="Consolas" pitchFamily="34" charset="-122"/>
                <a:cs typeface="Consolas" pitchFamily="34" charset="-120"/>
              </a:rPr>
              <a:t>SynchronizationContext.Current  →  if null  →  TaskScheduler.Default  →  ThreadPool</a:t>
            </a:r>
            <a:endParaRPr lang="en-US" sz="1400" dirty="0"/>
          </a:p>
        </p:txBody>
      </p:sp>
      <p:sp>
        <p:nvSpPr>
          <p:cNvPr id="18" name="Text 1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Classic Deadlock</a:t>
            </a:r>
            <a:endParaRPr lang="en-US" sz="2800" dirty="0"/>
          </a:p>
        </p:txBody>
      </p:sp>
      <p:sp>
        <p:nvSpPr>
          <p:cNvPr id="3" name="Shape 1"/>
          <p:cNvSpPr/>
          <p:nvPr/>
        </p:nvSpPr>
        <p:spPr>
          <a:xfrm>
            <a:off x="457200" y="1005840"/>
            <a:ext cx="5303520" cy="28346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5029200" cy="26517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UI code - DON'T DO THIS</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void ButtonClick()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var result = SomeAsyncMethod().Result; // Blocks UI thread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async Task SomeAsyncMethod()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await Task.Delay(1000);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Continuation tries to post to UI thread...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...but UI thread is blocked above. DEADLOCK.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Console.WriteLine("Done");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5" name="Text 3"/>
          <p:cNvSpPr/>
          <p:nvPr/>
        </p:nvSpPr>
        <p:spPr>
          <a:xfrm>
            <a:off x="5943600" y="1188720"/>
            <a:ext cx="2926080" cy="2194560"/>
          </a:xfrm>
          <a:prstGeom prst="rect">
            <a:avLst/>
          </a:prstGeom>
          <a:noFill/>
          <a:ln/>
        </p:spPr>
        <p:txBody>
          <a:bodyPr wrap="square" rtlCol="0" anchor="ctr"/>
          <a:lstStyle/>
          <a:p>
            <a:pPr marL="0" indent="0">
              <a:spcAft>
                <a:spcPts val="800"/>
              </a:spcAft>
              <a:buNone/>
            </a:pPr>
            <a:r>
              <a:rPr lang="en-US" sz="1200" dirty="0">
                <a:solidFill>
                  <a:srgbClr val="F1F5F9"/>
                </a:solidFill>
                <a:latin typeface="Calibri" pitchFamily="34" charset="0"/>
                <a:ea typeface="Calibri" pitchFamily="34" charset="-122"/>
                <a:cs typeface="Calibri" pitchFamily="34" charset="-120"/>
              </a:rPr>
              <a:t>1. UI thread calls .Result → blocks</a:t>
            </a:r>
            <a:endParaRPr lang="en-US" sz="1200" dirty="0"/>
          </a:p>
          <a:p>
            <a:pPr marL="0" indent="0">
              <a:spcAft>
                <a:spcPts val="800"/>
              </a:spcAft>
              <a:buNone/>
            </a:pPr>
            <a:r>
              <a:rPr lang="en-US" sz="1200" dirty="0">
                <a:solidFill>
                  <a:srgbClr val="F1F5F9"/>
                </a:solidFill>
                <a:latin typeface="Calibri" pitchFamily="34" charset="0"/>
                <a:ea typeface="Calibri" pitchFamily="34" charset="-122"/>
                <a:cs typeface="Calibri" pitchFamily="34" charset="-120"/>
              </a:rPr>
              <a:t>2. Async method hits await → captures UI context</a:t>
            </a:r>
            <a:endParaRPr lang="en-US" sz="1200" dirty="0"/>
          </a:p>
          <a:p>
            <a:pPr marL="0" indent="0">
              <a:spcAft>
                <a:spcPts val="800"/>
              </a:spcAft>
              <a:buNone/>
            </a:pPr>
            <a:r>
              <a:rPr lang="en-US" sz="1200" dirty="0">
                <a:solidFill>
                  <a:srgbClr val="F1F5F9"/>
                </a:solidFill>
                <a:latin typeface="Calibri" pitchFamily="34" charset="0"/>
                <a:ea typeface="Calibri" pitchFamily="34" charset="-122"/>
                <a:cs typeface="Calibri" pitchFamily="34" charset="-120"/>
              </a:rPr>
              <a:t>3. Delay completes → posts back to UI thread</a:t>
            </a:r>
            <a:endParaRPr lang="en-US" sz="1200" dirty="0"/>
          </a:p>
          <a:p>
            <a:pPr marL="0" indent="0">
              <a:spcAft>
                <a:spcPts val="800"/>
              </a:spcAft>
              <a:buNone/>
            </a:pPr>
            <a:r>
              <a:rPr lang="en-US" sz="1200" b="1" dirty="0">
                <a:solidFill>
                  <a:srgbClr val="F87171"/>
                </a:solidFill>
                <a:latin typeface="Calibri" pitchFamily="34" charset="0"/>
                <a:ea typeface="Calibri" pitchFamily="34" charset="-122"/>
                <a:cs typeface="Calibri" pitchFamily="34" charset="-120"/>
              </a:rPr>
              <a:t>4. UI thread is blocked → deadlock</a:t>
            </a:r>
            <a:endParaRPr lang="en-US" sz="1200" dirty="0"/>
          </a:p>
        </p:txBody>
      </p:sp>
      <p:sp>
        <p:nvSpPr>
          <p:cNvPr id="6" name="Shape 4"/>
          <p:cNvSpPr/>
          <p:nvPr/>
        </p:nvSpPr>
        <p:spPr>
          <a:xfrm>
            <a:off x="457200" y="4206240"/>
            <a:ext cx="8229600" cy="640080"/>
          </a:xfrm>
          <a:prstGeom prst="rect">
            <a:avLst/>
          </a:prstGeom>
          <a:solidFill>
            <a:srgbClr val="1E293B"/>
          </a:solidFill>
          <a:ln/>
        </p:spPr>
        <p:txBody>
          <a:bodyPr/>
          <a:lstStyle/>
          <a:p>
            <a:endParaRPr lang="en-US"/>
          </a:p>
        </p:txBody>
      </p:sp>
      <p:sp>
        <p:nvSpPr>
          <p:cNvPr id="7" name="Shape 5"/>
          <p:cNvSpPr/>
          <p:nvPr/>
        </p:nvSpPr>
        <p:spPr>
          <a:xfrm>
            <a:off x="457200" y="4206240"/>
            <a:ext cx="73152" cy="640080"/>
          </a:xfrm>
          <a:prstGeom prst="rect">
            <a:avLst/>
          </a:prstGeom>
          <a:solidFill>
            <a:srgbClr val="38BDF8"/>
          </a:solidFill>
          <a:ln/>
        </p:spPr>
        <p:txBody>
          <a:bodyPr/>
          <a:lstStyle/>
          <a:p>
            <a:endParaRPr lang="en-US"/>
          </a:p>
        </p:txBody>
      </p:sp>
      <p:sp>
        <p:nvSpPr>
          <p:cNvPr id="8" name="Text 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SynchronizationContext is why UI code works after await - and why deadlocks happen when you block.</a:t>
            </a:r>
            <a:endParaRPr lang="en-US" sz="1300" dirty="0"/>
          </a:p>
          <a:p>
            <a:r>
              <a:rPr lang="en-US" sz="1300" dirty="0">
                <a:solidFill>
                  <a:srgbClr val="F3F7FB"/>
                </a:solidFill>
              </a:rPr>
              <a:t>This deadlock does NOT happen in console apps or ASP.NET Core - no SynchronizationContext means no single thread to fight over</a:t>
            </a:r>
          </a:p>
        </p:txBody>
      </p:sp>
      <p:sp>
        <p:nvSpPr>
          <p:cNvPr id="9" name="Text 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07</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ExecutionContext</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&amp; AsyncLocal</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How ambient state flows across awaits and thread hops</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State Flows Across Awaits</a:t>
            </a:r>
            <a:endParaRPr lang="en-US" sz="2800" dirty="0"/>
          </a:p>
        </p:txBody>
      </p:sp>
      <p:sp>
        <p:nvSpPr>
          <p:cNvPr id="3" name="Text 1"/>
          <p:cNvSpPr/>
          <p:nvPr/>
        </p:nvSpPr>
        <p:spPr>
          <a:xfrm>
            <a:off x="457200" y="914400"/>
            <a:ext cx="8229600" cy="54864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ExecutionContext is captured at each await and restored when the continuation runs.</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AsyncLocal&lt;T&gt; stores per-async-flow data inside it.</a:t>
            </a:r>
            <a:endParaRPr lang="en-US" sz="1300" dirty="0"/>
          </a:p>
        </p:txBody>
      </p:sp>
      <p:sp>
        <p:nvSpPr>
          <p:cNvPr id="4" name="Shape 2"/>
          <p:cNvSpPr/>
          <p:nvPr/>
        </p:nvSpPr>
        <p:spPr>
          <a:xfrm>
            <a:off x="457200" y="160020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691640"/>
            <a:ext cx="6126480" cy="21945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static AsyncLocal&lt;string&gt; _user = new AsyncLocal&lt;string&gt;();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async Task DemoAsyncLocal()</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Console.WriteLine($"Before: {_user.Value}");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await Task.Delay(500);</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Possibly on a different thread now, but: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Console.WriteLine($"After:  {_user.Value}");  // Alice!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Shape 4"/>
          <p:cNvSpPr/>
          <p:nvPr/>
        </p:nvSpPr>
        <p:spPr>
          <a:xfrm>
            <a:off x="457200" y="4114800"/>
            <a:ext cx="3931920" cy="365760"/>
          </a:xfrm>
          <a:prstGeom prst="rect">
            <a:avLst/>
          </a:prstGeom>
          <a:solidFill>
            <a:srgbClr val="1E293B"/>
          </a:solidFill>
          <a:ln/>
        </p:spPr>
        <p:txBody>
          <a:bodyPr/>
          <a:lstStyle/>
          <a:p>
            <a:endParaRPr lang="en-US"/>
          </a:p>
        </p:txBody>
      </p:sp>
      <p:sp>
        <p:nvSpPr>
          <p:cNvPr id="7" name="Text 5"/>
          <p:cNvSpPr/>
          <p:nvPr/>
        </p:nvSpPr>
        <p:spPr>
          <a:xfrm>
            <a:off x="594360" y="4114800"/>
            <a:ext cx="3749040" cy="36576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  AsyncLocal&lt;T&gt; - follows the async flow</a:t>
            </a:r>
            <a:endParaRPr lang="en-US" sz="1200" dirty="0"/>
          </a:p>
        </p:txBody>
      </p:sp>
      <p:sp>
        <p:nvSpPr>
          <p:cNvPr id="8" name="Shape 6"/>
          <p:cNvSpPr/>
          <p:nvPr/>
        </p:nvSpPr>
        <p:spPr>
          <a:xfrm>
            <a:off x="4754880" y="4114800"/>
            <a:ext cx="3931920" cy="365760"/>
          </a:xfrm>
          <a:prstGeom prst="rect">
            <a:avLst/>
          </a:prstGeom>
          <a:solidFill>
            <a:srgbClr val="1E293B"/>
          </a:solidFill>
          <a:ln/>
        </p:spPr>
        <p:txBody>
          <a:bodyPr/>
          <a:lstStyle/>
          <a:p>
            <a:endParaRPr lang="en-US"/>
          </a:p>
        </p:txBody>
      </p:sp>
      <p:sp>
        <p:nvSpPr>
          <p:cNvPr id="9" name="Text 7"/>
          <p:cNvSpPr/>
          <p:nvPr/>
        </p:nvSpPr>
        <p:spPr>
          <a:xfrm>
            <a:off x="4892040" y="4114800"/>
            <a:ext cx="3749040" cy="36576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  ThreadLocal&lt;T&gt; - tied to physical thread</a:t>
            </a:r>
            <a:endParaRPr lang="en-US" sz="1200" dirty="0"/>
          </a:p>
        </p:txBody>
      </p:sp>
      <p:sp>
        <p:nvSpPr>
          <p:cNvPr id="10" name="Text 8"/>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Copy-on-Write Isolation</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Child flows inherit the parent’s ExecutionContext, but changes stay in the child.</a:t>
            </a:r>
            <a:endParaRPr lang="en-US" sz="1400" dirty="0"/>
          </a:p>
        </p:txBody>
      </p:sp>
      <p:sp>
        <p:nvSpPr>
          <p:cNvPr id="4" name="Shape 2"/>
          <p:cNvSpPr/>
          <p:nvPr/>
        </p:nvSpPr>
        <p:spPr>
          <a:xfrm>
            <a:off x="457200" y="1463040"/>
            <a:ext cx="5943600" cy="21031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5669280" cy="192024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_user.Value = "Alice";</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await Task.Run(() =&gt;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Console.WriteLine(_user.Value);  // Alice (inherited)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_user.Value = "Bob";             // Only affects child</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Console.WriteLine(_user.Value);      // Alice (unchanged!)</a:t>
            </a:r>
            <a:endParaRPr lang="en-US" sz="1200" dirty="0"/>
          </a:p>
        </p:txBody>
      </p:sp>
      <p:sp>
        <p:nvSpPr>
          <p:cNvPr id="6" name="Shape 4"/>
          <p:cNvSpPr/>
          <p:nvPr/>
        </p:nvSpPr>
        <p:spPr>
          <a:xfrm>
            <a:off x="457200" y="4206240"/>
            <a:ext cx="8229600" cy="640080"/>
          </a:xfrm>
          <a:prstGeom prst="rect">
            <a:avLst/>
          </a:prstGeom>
          <a:solidFill>
            <a:srgbClr val="1E293B"/>
          </a:solidFill>
          <a:ln/>
        </p:spPr>
        <p:txBody>
          <a:bodyPr/>
          <a:lstStyle/>
          <a:p>
            <a:endParaRPr lang="en-US"/>
          </a:p>
        </p:txBody>
      </p:sp>
      <p:sp>
        <p:nvSpPr>
          <p:cNvPr id="7" name="Shape 5"/>
          <p:cNvSpPr/>
          <p:nvPr/>
        </p:nvSpPr>
        <p:spPr>
          <a:xfrm>
            <a:off x="457200" y="4206240"/>
            <a:ext cx="73152" cy="640080"/>
          </a:xfrm>
          <a:prstGeom prst="rect">
            <a:avLst/>
          </a:prstGeom>
          <a:solidFill>
            <a:srgbClr val="38BDF8"/>
          </a:solidFill>
          <a:ln/>
        </p:spPr>
        <p:txBody>
          <a:bodyPr/>
          <a:lstStyle/>
          <a:p>
            <a:endParaRPr lang="en-US"/>
          </a:p>
        </p:txBody>
      </p:sp>
      <p:sp>
        <p:nvSpPr>
          <p:cNvPr id="8" name="Text 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ExecutionContext flows automatically. Use AsyncLocal&lt;T&gt; for ambient state; never ThreadLocal&lt;T&gt;.</a:t>
            </a:r>
            <a:endParaRPr lang="en-US" sz="1300" dirty="0"/>
          </a:p>
        </p:txBody>
      </p:sp>
      <p:sp>
        <p:nvSpPr>
          <p:cNvPr id="9" name="Text 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08</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Awaitable Pattern</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await is pattern-based, not type-based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Makes Something Awaitable?</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500" dirty="0">
                <a:solidFill>
                  <a:srgbClr val="F1F5F9"/>
                </a:solidFill>
                <a:latin typeface="Calibri" pitchFamily="34" charset="0"/>
                <a:ea typeface="Calibri" pitchFamily="34" charset="-122"/>
                <a:cs typeface="Calibri" pitchFamily="34" charset="-120"/>
              </a:rPr>
              <a:t>await doesn’t require Task. It requires the awaitable pattern:</a:t>
            </a:r>
            <a:endParaRPr lang="en-US" sz="1500" dirty="0"/>
          </a:p>
        </p:txBody>
      </p:sp>
      <p:sp>
        <p:nvSpPr>
          <p:cNvPr id="4" name="Shape 2"/>
          <p:cNvSpPr/>
          <p:nvPr/>
        </p:nvSpPr>
        <p:spPr>
          <a:xfrm>
            <a:off x="457200" y="1508760"/>
            <a:ext cx="8229600" cy="502920"/>
          </a:xfrm>
          <a:prstGeom prst="rect">
            <a:avLst/>
          </a:prstGeom>
          <a:solidFill>
            <a:srgbClr val="1E293B"/>
          </a:solidFill>
          <a:ln/>
        </p:spPr>
        <p:txBody>
          <a:bodyPr/>
          <a:lstStyle/>
          <a:p>
            <a:endParaRPr lang="en-US"/>
          </a:p>
        </p:txBody>
      </p:sp>
      <p:sp>
        <p:nvSpPr>
          <p:cNvPr id="5" name="Text 3"/>
          <p:cNvSpPr/>
          <p:nvPr/>
        </p:nvSpPr>
        <p:spPr>
          <a:xfrm>
            <a:off x="640080" y="1508760"/>
            <a:ext cx="2743200" cy="502920"/>
          </a:xfrm>
          <a:prstGeom prst="rect">
            <a:avLst/>
          </a:prstGeom>
          <a:noFill/>
          <a:ln/>
        </p:spPr>
        <p:txBody>
          <a:bodyPr wrap="square" lIns="0" tIns="0" rIns="0" bIns="0" rtlCol="0" anchor="ctr"/>
          <a:lstStyle/>
          <a:p>
            <a:pPr marL="0" indent="0">
              <a:buNone/>
            </a:pPr>
            <a:r>
              <a:rPr lang="en-US" sz="1400" dirty="0">
                <a:solidFill>
                  <a:srgbClr val="38BDF8"/>
                </a:solidFill>
                <a:latin typeface="Consolas" pitchFamily="34" charset="0"/>
                <a:ea typeface="Consolas" pitchFamily="34" charset="-122"/>
                <a:cs typeface="Consolas" pitchFamily="34" charset="-120"/>
              </a:rPr>
              <a:t>GetAwaiter()</a:t>
            </a:r>
            <a:endParaRPr lang="en-US" sz="1400" dirty="0"/>
          </a:p>
        </p:txBody>
      </p:sp>
      <p:sp>
        <p:nvSpPr>
          <p:cNvPr id="6" name="Text 4"/>
          <p:cNvSpPr/>
          <p:nvPr/>
        </p:nvSpPr>
        <p:spPr>
          <a:xfrm>
            <a:off x="3474720" y="150876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an awaiter object</a:t>
            </a:r>
            <a:endParaRPr lang="en-US" sz="1300" dirty="0"/>
          </a:p>
        </p:txBody>
      </p:sp>
      <p:sp>
        <p:nvSpPr>
          <p:cNvPr id="7" name="Shape 5"/>
          <p:cNvSpPr/>
          <p:nvPr/>
        </p:nvSpPr>
        <p:spPr>
          <a:xfrm>
            <a:off x="457200" y="2148840"/>
            <a:ext cx="8229600" cy="502920"/>
          </a:xfrm>
          <a:prstGeom prst="rect">
            <a:avLst/>
          </a:prstGeom>
          <a:solidFill>
            <a:srgbClr val="1E293B"/>
          </a:solidFill>
          <a:ln/>
        </p:spPr>
        <p:txBody>
          <a:bodyPr/>
          <a:lstStyle/>
          <a:p>
            <a:endParaRPr lang="en-US"/>
          </a:p>
        </p:txBody>
      </p:sp>
      <p:sp>
        <p:nvSpPr>
          <p:cNvPr id="8" name="Text 6"/>
          <p:cNvSpPr/>
          <p:nvPr/>
        </p:nvSpPr>
        <p:spPr>
          <a:xfrm>
            <a:off x="640080" y="2148840"/>
            <a:ext cx="2743200" cy="502920"/>
          </a:xfrm>
          <a:prstGeom prst="rect">
            <a:avLst/>
          </a:prstGeom>
          <a:noFill/>
          <a:ln/>
        </p:spPr>
        <p:txBody>
          <a:bodyPr wrap="square" lIns="0" tIns="0" rIns="0" bIns="0" rtlCol="0" anchor="ctr"/>
          <a:lstStyle/>
          <a:p>
            <a:pPr marL="0" indent="0">
              <a:buNone/>
            </a:pPr>
            <a:r>
              <a:rPr lang="en-US" sz="1400" dirty="0">
                <a:solidFill>
                  <a:srgbClr val="4ADE80"/>
                </a:solidFill>
                <a:latin typeface="Consolas" pitchFamily="34" charset="0"/>
                <a:ea typeface="Consolas" pitchFamily="34" charset="-122"/>
                <a:cs typeface="Consolas" pitchFamily="34" charset="-120"/>
              </a:rPr>
              <a:t>IsCompleted</a:t>
            </a:r>
            <a:endParaRPr lang="en-US" sz="1400" dirty="0"/>
          </a:p>
        </p:txBody>
      </p:sp>
      <p:sp>
        <p:nvSpPr>
          <p:cNvPr id="9" name="Text 7"/>
          <p:cNvSpPr/>
          <p:nvPr/>
        </p:nvSpPr>
        <p:spPr>
          <a:xfrm>
            <a:off x="3474720" y="214884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Bool - has it already finished? (fast path)</a:t>
            </a:r>
            <a:endParaRPr lang="en-US" sz="1300" dirty="0"/>
          </a:p>
        </p:txBody>
      </p:sp>
      <p:sp>
        <p:nvSpPr>
          <p:cNvPr id="10" name="Shape 8"/>
          <p:cNvSpPr/>
          <p:nvPr/>
        </p:nvSpPr>
        <p:spPr>
          <a:xfrm>
            <a:off x="457200" y="2788920"/>
            <a:ext cx="8229600" cy="502920"/>
          </a:xfrm>
          <a:prstGeom prst="rect">
            <a:avLst/>
          </a:prstGeom>
          <a:solidFill>
            <a:srgbClr val="1E293B"/>
          </a:solidFill>
          <a:ln/>
        </p:spPr>
        <p:txBody>
          <a:bodyPr/>
          <a:lstStyle/>
          <a:p>
            <a:endParaRPr lang="en-US"/>
          </a:p>
        </p:txBody>
      </p:sp>
      <p:sp>
        <p:nvSpPr>
          <p:cNvPr id="11" name="Text 9"/>
          <p:cNvSpPr/>
          <p:nvPr/>
        </p:nvSpPr>
        <p:spPr>
          <a:xfrm>
            <a:off x="640080" y="2788920"/>
            <a:ext cx="2743200" cy="502920"/>
          </a:xfrm>
          <a:prstGeom prst="rect">
            <a:avLst/>
          </a:prstGeom>
          <a:noFill/>
          <a:ln/>
        </p:spPr>
        <p:txBody>
          <a:bodyPr wrap="square" lIns="0" tIns="0" rIns="0" bIns="0" rtlCol="0" anchor="ctr"/>
          <a:lstStyle/>
          <a:p>
            <a:pPr marL="0" indent="0">
              <a:buNone/>
            </a:pPr>
            <a:r>
              <a:rPr lang="en-US" sz="1400" dirty="0">
                <a:solidFill>
                  <a:srgbClr val="FBBF24"/>
                </a:solidFill>
                <a:latin typeface="Consolas" pitchFamily="34" charset="0"/>
                <a:ea typeface="Consolas" pitchFamily="34" charset="-122"/>
                <a:cs typeface="Consolas" pitchFamily="34" charset="-120"/>
              </a:rPr>
              <a:t>OnCompleted(Action)</a:t>
            </a:r>
            <a:endParaRPr lang="en-US" sz="1400" dirty="0"/>
          </a:p>
        </p:txBody>
      </p:sp>
      <p:sp>
        <p:nvSpPr>
          <p:cNvPr id="12" name="Text 10"/>
          <p:cNvSpPr/>
          <p:nvPr/>
        </p:nvSpPr>
        <p:spPr>
          <a:xfrm>
            <a:off x="3474720" y="278892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Register the callback for when it’s done</a:t>
            </a:r>
            <a:endParaRPr lang="en-US" sz="1300" dirty="0"/>
          </a:p>
        </p:txBody>
      </p:sp>
      <p:sp>
        <p:nvSpPr>
          <p:cNvPr id="13" name="Shape 11"/>
          <p:cNvSpPr/>
          <p:nvPr/>
        </p:nvSpPr>
        <p:spPr>
          <a:xfrm>
            <a:off x="457200" y="3429000"/>
            <a:ext cx="8229600" cy="502920"/>
          </a:xfrm>
          <a:prstGeom prst="rect">
            <a:avLst/>
          </a:prstGeom>
          <a:solidFill>
            <a:srgbClr val="1E293B"/>
          </a:solidFill>
          <a:ln/>
        </p:spPr>
        <p:txBody>
          <a:bodyPr/>
          <a:lstStyle/>
          <a:p>
            <a:endParaRPr lang="en-US"/>
          </a:p>
        </p:txBody>
      </p:sp>
      <p:sp>
        <p:nvSpPr>
          <p:cNvPr id="14" name="Text 12"/>
          <p:cNvSpPr/>
          <p:nvPr/>
        </p:nvSpPr>
        <p:spPr>
          <a:xfrm>
            <a:off x="640080" y="3429000"/>
            <a:ext cx="2743200" cy="502920"/>
          </a:xfrm>
          <a:prstGeom prst="rect">
            <a:avLst/>
          </a:prstGeom>
          <a:noFill/>
          <a:ln/>
        </p:spPr>
        <p:txBody>
          <a:bodyPr wrap="square" lIns="0" tIns="0" rIns="0" bIns="0" rtlCol="0" anchor="ctr"/>
          <a:lstStyle/>
          <a:p>
            <a:pPr marL="0" indent="0">
              <a:buNone/>
            </a:pPr>
            <a:r>
              <a:rPr lang="en-US" sz="1400" dirty="0">
                <a:solidFill>
                  <a:srgbClr val="A78BFA"/>
                </a:solidFill>
                <a:latin typeface="Consolas" pitchFamily="34" charset="0"/>
                <a:ea typeface="Consolas" pitchFamily="34" charset="-122"/>
                <a:cs typeface="Consolas" pitchFamily="34" charset="-120"/>
              </a:rPr>
              <a:t>GetResult()</a:t>
            </a:r>
            <a:endParaRPr lang="en-US" sz="1400" dirty="0"/>
          </a:p>
        </p:txBody>
      </p:sp>
      <p:sp>
        <p:nvSpPr>
          <p:cNvPr id="15" name="Text 13"/>
          <p:cNvSpPr/>
          <p:nvPr/>
        </p:nvSpPr>
        <p:spPr>
          <a:xfrm>
            <a:off x="3474720" y="3429000"/>
            <a:ext cx="502920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Return result or rethrow exception</a:t>
            </a:r>
            <a:endParaRPr lang="en-US" sz="1300" dirty="0"/>
          </a:p>
        </p:txBody>
      </p:sp>
      <p:sp>
        <p:nvSpPr>
          <p:cNvPr id="16" name="Shape 14"/>
          <p:cNvSpPr/>
          <p:nvPr/>
        </p:nvSpPr>
        <p:spPr>
          <a:xfrm>
            <a:off x="457200" y="4206240"/>
            <a:ext cx="8229600" cy="640080"/>
          </a:xfrm>
          <a:prstGeom prst="rect">
            <a:avLst/>
          </a:prstGeom>
          <a:solidFill>
            <a:srgbClr val="1E293B"/>
          </a:solidFill>
          <a:ln/>
        </p:spPr>
        <p:txBody>
          <a:bodyPr/>
          <a:lstStyle/>
          <a:p>
            <a:endParaRPr lang="en-US"/>
          </a:p>
        </p:txBody>
      </p:sp>
      <p:sp>
        <p:nvSpPr>
          <p:cNvPr id="17" name="Shape 15"/>
          <p:cNvSpPr/>
          <p:nvPr/>
        </p:nvSpPr>
        <p:spPr>
          <a:xfrm>
            <a:off x="457200" y="4206240"/>
            <a:ext cx="73152" cy="640080"/>
          </a:xfrm>
          <a:prstGeom prst="rect">
            <a:avLst/>
          </a:prstGeom>
          <a:solidFill>
            <a:srgbClr val="38BDF8"/>
          </a:solidFill>
          <a:ln/>
        </p:spPr>
        <p:txBody>
          <a:bodyPr/>
          <a:lstStyle/>
          <a:p>
            <a:endParaRPr lang="en-US"/>
          </a:p>
        </p:txBody>
      </p:sp>
      <p:sp>
        <p:nvSpPr>
          <p:cNvPr id="18" name="Text 16"/>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You can await anything with a </a:t>
            </a:r>
            <a:r>
              <a:rPr lang="en-US" sz="1300" i="1" dirty="0" err="1">
                <a:solidFill>
                  <a:srgbClr val="F1F5F9"/>
                </a:solidFill>
                <a:latin typeface="Calibri" pitchFamily="34" charset="0"/>
                <a:ea typeface="Calibri" pitchFamily="34" charset="-122"/>
                <a:cs typeface="Calibri" pitchFamily="34" charset="-120"/>
              </a:rPr>
              <a:t>GetAwaiter</a:t>
            </a:r>
            <a:r>
              <a:rPr lang="en-US" sz="1300" i="1" dirty="0">
                <a:solidFill>
                  <a:srgbClr val="F1F5F9"/>
                </a:solidFill>
                <a:latin typeface="Calibri" pitchFamily="34" charset="0"/>
                <a:ea typeface="Calibri" pitchFamily="34" charset="-122"/>
                <a:cs typeface="Calibri" pitchFamily="34" charset="-120"/>
              </a:rPr>
              <a:t>() method - Task is just the most common one.</a:t>
            </a:r>
            <a:endParaRPr lang="en-US" sz="1300" dirty="0"/>
          </a:p>
        </p:txBody>
      </p:sp>
      <p:sp>
        <p:nvSpPr>
          <p:cNvPr id="19" name="Text 1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Custom Awaitable Example</a:t>
            </a:r>
            <a:endParaRPr lang="en-US" sz="2800" dirty="0"/>
          </a:p>
        </p:txBody>
      </p:sp>
      <p:sp>
        <p:nvSpPr>
          <p:cNvPr id="3" name="Shape 1"/>
          <p:cNvSpPr/>
          <p:nvPr/>
        </p:nvSpPr>
        <p:spPr>
          <a:xfrm>
            <a:off x="457200" y="1005839"/>
            <a:ext cx="6858000" cy="3097717"/>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6583680" cy="2743200"/>
          </a:xfrm>
          <a:prstGeom prst="rect">
            <a:avLst/>
          </a:prstGeom>
          <a:noFill/>
          <a:ln/>
        </p:spPr>
        <p:txBody>
          <a:bodyPr wrap="square" lIns="0" tIns="0" rIns="0" bIns="0" rtlCol="0" anchor="t"/>
          <a:lstStyle/>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struct MyDelayAwaitable</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private readonly int _ms;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MyDelayAwaitable(int ms) =&gt; _ms = 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MyDelayAwaiter GetAwaiter() =&gt; new MyDelayAwaiter(_ms);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struct MyDelayAwaiter : INotifyCompletion</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private readonly Task _task;</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MyDelayAwaiter(int ms) =&gt; _task = Task.Delay(ms);</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bool IsCompleted =&gt; _task.IsCompleted;</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void OnCompleted(Action c) =&gt; _task.GetAwaiter().OnCompleted(c);</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    public void GetResult() =&gt; _task.GetAwaiter().GetResult();</a:t>
            </a:r>
            <a:endParaRPr lang="en-US" sz="1150" dirty="0"/>
          </a:p>
          <a:p>
            <a:pPr marL="0" indent="0">
              <a:spcAft>
                <a:spcPts val="200"/>
              </a:spcAft>
              <a:buNone/>
            </a:pPr>
            <a:r>
              <a:rPr lang="en-US" sz="1150" dirty="0">
                <a:solidFill>
                  <a:srgbClr val="E2E8F0"/>
                </a:solidFill>
                <a:latin typeface="Consolas" pitchFamily="34" charset="0"/>
                <a:ea typeface="Consolas" pitchFamily="34" charset="-122"/>
                <a:cs typeface="Consolas" pitchFamily="34" charset="-120"/>
              </a:rPr>
              <a:t>}</a:t>
            </a:r>
            <a:endParaRPr lang="en-US" sz="1150" dirty="0"/>
          </a:p>
        </p:txBody>
      </p:sp>
      <p:sp>
        <p:nvSpPr>
          <p:cNvPr id="5" name="Shape 3"/>
          <p:cNvSpPr/>
          <p:nvPr/>
        </p:nvSpPr>
        <p:spPr>
          <a:xfrm>
            <a:off x="457200" y="4159021"/>
            <a:ext cx="5029200" cy="50292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4250461"/>
            <a:ext cx="4754880" cy="32004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await new MyDelayAwaitable(1000);  // This works!</a:t>
            </a:r>
            <a:endParaRPr lang="en-US" sz="12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09</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The State Machine</a:t>
            </a:r>
            <a:endParaRPr lang="en-US" sz="3600" dirty="0"/>
          </a:p>
          <a:p>
            <a:pPr marL="0" indent="0">
              <a:buNone/>
            </a:pPr>
            <a:r>
              <a:rPr lang="en-US" sz="3600" b="1" dirty="0">
                <a:solidFill>
                  <a:srgbClr val="F1F5F9"/>
                </a:solidFill>
                <a:latin typeface="Trebuchet MS" pitchFamily="34" charset="0"/>
                <a:ea typeface="Trebuchet MS" pitchFamily="34" charset="-122"/>
                <a:cs typeface="Trebuchet MS" pitchFamily="34" charset="-120"/>
              </a:rPr>
              <a:t>Deep Dive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What the compiler really does with your async method</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Our Example Method</a:t>
            </a:r>
            <a:endParaRPr lang="en-US" sz="2800" dirty="0"/>
          </a:p>
        </p:txBody>
      </p:sp>
      <p:sp>
        <p:nvSpPr>
          <p:cNvPr id="3" name="Shape 1"/>
          <p:cNvSpPr/>
          <p:nvPr/>
        </p:nvSpPr>
        <p:spPr>
          <a:xfrm>
            <a:off x="457200" y="1097280"/>
            <a:ext cx="5029200" cy="201168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188720"/>
            <a:ext cx="4754880" cy="1828800"/>
          </a:xfrm>
          <a:prstGeom prst="rect">
            <a:avLst/>
          </a:prstGeom>
          <a:noFill/>
          <a:ln/>
        </p:spPr>
        <p:txBody>
          <a:bodyPr wrap="square" lIns="0" tIns="0" rIns="0" bIns="0" rtlCol="0" anchor="t"/>
          <a:lstStyle/>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async Task ExampleAsync()</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1");</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Task.Delay(1000);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2");</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await Task.Delay(500);</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    Console.WriteLine("Step 3");</a:t>
            </a:r>
            <a:endParaRPr lang="en-US" sz="1400" dirty="0"/>
          </a:p>
          <a:p>
            <a:pPr marL="0" indent="0">
              <a:spcAft>
                <a:spcPts val="200"/>
              </a:spcAft>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5" name="Text 3"/>
          <p:cNvSpPr/>
          <p:nvPr/>
        </p:nvSpPr>
        <p:spPr>
          <a:xfrm>
            <a:off x="457200" y="329184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The compiler splits this into 3 segments at the 2 await points:</a:t>
            </a:r>
            <a:endParaRPr lang="en-US" sz="1400" dirty="0"/>
          </a:p>
        </p:txBody>
      </p:sp>
      <p:sp>
        <p:nvSpPr>
          <p:cNvPr id="6" name="Shape 4"/>
          <p:cNvSpPr/>
          <p:nvPr/>
        </p:nvSpPr>
        <p:spPr>
          <a:xfrm>
            <a:off x="457200" y="3749040"/>
            <a:ext cx="2560320" cy="457200"/>
          </a:xfrm>
          <a:prstGeom prst="rect">
            <a:avLst/>
          </a:prstGeom>
          <a:solidFill>
            <a:srgbClr val="1E293B"/>
          </a:solidFill>
          <a:ln/>
        </p:spPr>
        <p:txBody>
          <a:bodyPr/>
          <a:lstStyle/>
          <a:p>
            <a:endParaRPr lang="en-US"/>
          </a:p>
        </p:txBody>
      </p:sp>
      <p:sp>
        <p:nvSpPr>
          <p:cNvPr id="7" name="Shape 5"/>
          <p:cNvSpPr/>
          <p:nvPr/>
        </p:nvSpPr>
        <p:spPr>
          <a:xfrm>
            <a:off x="457200" y="3749040"/>
            <a:ext cx="64008" cy="457200"/>
          </a:xfrm>
          <a:prstGeom prst="rect">
            <a:avLst/>
          </a:prstGeom>
          <a:solidFill>
            <a:srgbClr val="38BDF8"/>
          </a:solidFill>
          <a:ln/>
        </p:spPr>
        <p:txBody>
          <a:bodyPr/>
          <a:lstStyle/>
          <a:p>
            <a:endParaRPr lang="en-US"/>
          </a:p>
        </p:txBody>
      </p:sp>
      <p:sp>
        <p:nvSpPr>
          <p:cNvPr id="8" name="Text 6"/>
          <p:cNvSpPr/>
          <p:nvPr/>
        </p:nvSpPr>
        <p:spPr>
          <a:xfrm>
            <a:off x="64008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A:  Step 1 + start delay</a:t>
            </a:r>
            <a:endParaRPr lang="en-US" sz="1200" dirty="0"/>
          </a:p>
        </p:txBody>
      </p:sp>
      <p:sp>
        <p:nvSpPr>
          <p:cNvPr id="9" name="Shape 7"/>
          <p:cNvSpPr/>
          <p:nvPr/>
        </p:nvSpPr>
        <p:spPr>
          <a:xfrm>
            <a:off x="3291840" y="3749040"/>
            <a:ext cx="2560320" cy="457200"/>
          </a:xfrm>
          <a:prstGeom prst="rect">
            <a:avLst/>
          </a:prstGeom>
          <a:solidFill>
            <a:srgbClr val="1E293B"/>
          </a:solidFill>
          <a:ln/>
        </p:spPr>
        <p:txBody>
          <a:bodyPr/>
          <a:lstStyle/>
          <a:p>
            <a:endParaRPr lang="en-US"/>
          </a:p>
        </p:txBody>
      </p:sp>
      <p:sp>
        <p:nvSpPr>
          <p:cNvPr id="10" name="Shape 8"/>
          <p:cNvSpPr/>
          <p:nvPr/>
        </p:nvSpPr>
        <p:spPr>
          <a:xfrm>
            <a:off x="3291840" y="3749040"/>
            <a:ext cx="64008" cy="457200"/>
          </a:xfrm>
          <a:prstGeom prst="rect">
            <a:avLst/>
          </a:prstGeom>
          <a:solidFill>
            <a:srgbClr val="A78BFA"/>
          </a:solidFill>
          <a:ln/>
        </p:spPr>
        <p:txBody>
          <a:bodyPr/>
          <a:lstStyle/>
          <a:p>
            <a:endParaRPr lang="en-US"/>
          </a:p>
        </p:txBody>
      </p:sp>
      <p:sp>
        <p:nvSpPr>
          <p:cNvPr id="11" name="Text 9"/>
          <p:cNvSpPr/>
          <p:nvPr/>
        </p:nvSpPr>
        <p:spPr>
          <a:xfrm>
            <a:off x="347472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B:  Step 2 + start delay</a:t>
            </a:r>
            <a:endParaRPr lang="en-US" sz="1200" dirty="0"/>
          </a:p>
        </p:txBody>
      </p:sp>
      <p:sp>
        <p:nvSpPr>
          <p:cNvPr id="12" name="Shape 10"/>
          <p:cNvSpPr/>
          <p:nvPr/>
        </p:nvSpPr>
        <p:spPr>
          <a:xfrm>
            <a:off x="6126480" y="3749040"/>
            <a:ext cx="2560320" cy="457200"/>
          </a:xfrm>
          <a:prstGeom prst="rect">
            <a:avLst/>
          </a:prstGeom>
          <a:solidFill>
            <a:srgbClr val="1E293B"/>
          </a:solidFill>
          <a:ln/>
        </p:spPr>
        <p:txBody>
          <a:bodyPr/>
          <a:lstStyle/>
          <a:p>
            <a:endParaRPr lang="en-US"/>
          </a:p>
        </p:txBody>
      </p:sp>
      <p:sp>
        <p:nvSpPr>
          <p:cNvPr id="13" name="Shape 11"/>
          <p:cNvSpPr/>
          <p:nvPr/>
        </p:nvSpPr>
        <p:spPr>
          <a:xfrm>
            <a:off x="6126480" y="3749040"/>
            <a:ext cx="64008" cy="457200"/>
          </a:xfrm>
          <a:prstGeom prst="rect">
            <a:avLst/>
          </a:prstGeom>
          <a:solidFill>
            <a:srgbClr val="4ADE80"/>
          </a:solidFill>
          <a:ln/>
        </p:spPr>
        <p:txBody>
          <a:bodyPr/>
          <a:lstStyle/>
          <a:p>
            <a:endParaRPr lang="en-US"/>
          </a:p>
        </p:txBody>
      </p:sp>
      <p:sp>
        <p:nvSpPr>
          <p:cNvPr id="14" name="Text 12"/>
          <p:cNvSpPr/>
          <p:nvPr/>
        </p:nvSpPr>
        <p:spPr>
          <a:xfrm>
            <a:off x="6309360" y="3749040"/>
            <a:ext cx="2286000" cy="45720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Segment C:  Step 3 + finish</a:t>
            </a:r>
            <a:endParaRPr lang="en-US" sz="1200" dirty="0"/>
          </a:p>
        </p:txBody>
      </p:sp>
      <p:sp>
        <p:nvSpPr>
          <p:cNvPr id="15" name="Text 1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the Compiler Generates</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method becomes a struct with a MoveNext() method and a state field:</a:t>
            </a:r>
            <a:endParaRPr lang="en-US" sz="1400" dirty="0"/>
          </a:p>
        </p:txBody>
      </p:sp>
      <p:sp>
        <p:nvSpPr>
          <p:cNvPr id="4" name="Shape 2"/>
          <p:cNvSpPr/>
          <p:nvPr/>
        </p:nvSpPr>
        <p:spPr>
          <a:xfrm>
            <a:off x="457200" y="1463040"/>
            <a:ext cx="8229600" cy="502920"/>
          </a:xfrm>
          <a:prstGeom prst="rect">
            <a:avLst/>
          </a:prstGeom>
          <a:solidFill>
            <a:srgbClr val="1E293B"/>
          </a:solidFill>
          <a:ln/>
        </p:spPr>
        <p:txBody>
          <a:bodyPr/>
          <a:lstStyle/>
          <a:p>
            <a:endParaRPr lang="en-US"/>
          </a:p>
        </p:txBody>
      </p:sp>
      <p:sp>
        <p:nvSpPr>
          <p:cNvPr id="5" name="Text 3"/>
          <p:cNvSpPr/>
          <p:nvPr/>
        </p:nvSpPr>
        <p:spPr>
          <a:xfrm>
            <a:off x="640080" y="146304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IAsyncStateMachine struct</a:t>
            </a:r>
            <a:endParaRPr lang="en-US" sz="1300" dirty="0"/>
          </a:p>
        </p:txBody>
      </p:sp>
      <p:sp>
        <p:nvSpPr>
          <p:cNvPr id="6" name="Text 4"/>
          <p:cNvSpPr/>
          <p:nvPr/>
        </p:nvSpPr>
        <p:spPr>
          <a:xfrm>
            <a:off x="3749040" y="146304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Holds your local variables as fields</a:t>
            </a:r>
            <a:endParaRPr lang="en-US" sz="1300" dirty="0"/>
          </a:p>
        </p:txBody>
      </p:sp>
      <p:sp>
        <p:nvSpPr>
          <p:cNvPr id="7" name="Shape 5"/>
          <p:cNvSpPr/>
          <p:nvPr/>
        </p:nvSpPr>
        <p:spPr>
          <a:xfrm>
            <a:off x="457200" y="2103120"/>
            <a:ext cx="8229600" cy="502920"/>
          </a:xfrm>
          <a:prstGeom prst="rect">
            <a:avLst/>
          </a:prstGeom>
          <a:solidFill>
            <a:srgbClr val="1E293B"/>
          </a:solidFill>
          <a:ln/>
        </p:spPr>
        <p:txBody>
          <a:bodyPr/>
          <a:lstStyle/>
          <a:p>
            <a:endParaRPr lang="en-US"/>
          </a:p>
        </p:txBody>
      </p:sp>
      <p:sp>
        <p:nvSpPr>
          <p:cNvPr id="8" name="Text 6"/>
          <p:cNvSpPr/>
          <p:nvPr/>
        </p:nvSpPr>
        <p:spPr>
          <a:xfrm>
            <a:off x="640080" y="210312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&lt;&gt;1__state field</a:t>
            </a:r>
            <a:endParaRPr lang="en-US" sz="1300" dirty="0"/>
          </a:p>
        </p:txBody>
      </p:sp>
      <p:sp>
        <p:nvSpPr>
          <p:cNvPr id="9" name="Text 7"/>
          <p:cNvSpPr/>
          <p:nvPr/>
        </p:nvSpPr>
        <p:spPr>
          <a:xfrm>
            <a:off x="3749040" y="210312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-1=running, 0/1=suspended, -2=done</a:t>
            </a:r>
            <a:endParaRPr lang="en-US" sz="1300" dirty="0"/>
          </a:p>
        </p:txBody>
      </p:sp>
      <p:sp>
        <p:nvSpPr>
          <p:cNvPr id="10" name="Shape 8"/>
          <p:cNvSpPr/>
          <p:nvPr/>
        </p:nvSpPr>
        <p:spPr>
          <a:xfrm>
            <a:off x="457200" y="2743200"/>
            <a:ext cx="8229600" cy="502920"/>
          </a:xfrm>
          <a:prstGeom prst="rect">
            <a:avLst/>
          </a:prstGeom>
          <a:solidFill>
            <a:srgbClr val="1E293B"/>
          </a:solidFill>
          <a:ln/>
        </p:spPr>
        <p:txBody>
          <a:bodyPr/>
          <a:lstStyle/>
          <a:p>
            <a:endParaRPr lang="en-US"/>
          </a:p>
        </p:txBody>
      </p:sp>
      <p:sp>
        <p:nvSpPr>
          <p:cNvPr id="11" name="Text 9"/>
          <p:cNvSpPr/>
          <p:nvPr/>
        </p:nvSpPr>
        <p:spPr>
          <a:xfrm>
            <a:off x="640080" y="274320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AsyncTaskMethodBuilder</a:t>
            </a:r>
            <a:endParaRPr lang="en-US" sz="1300" dirty="0"/>
          </a:p>
        </p:txBody>
      </p:sp>
      <p:sp>
        <p:nvSpPr>
          <p:cNvPr id="12" name="Text 10"/>
          <p:cNvSpPr/>
          <p:nvPr/>
        </p:nvSpPr>
        <p:spPr>
          <a:xfrm>
            <a:off x="3749040" y="274320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Creates the outer Task, captures context</a:t>
            </a:r>
            <a:endParaRPr lang="en-US" sz="1300" dirty="0"/>
          </a:p>
        </p:txBody>
      </p:sp>
      <p:sp>
        <p:nvSpPr>
          <p:cNvPr id="13" name="Shape 11"/>
          <p:cNvSpPr/>
          <p:nvPr/>
        </p:nvSpPr>
        <p:spPr>
          <a:xfrm>
            <a:off x="457200" y="3383280"/>
            <a:ext cx="8229600" cy="502920"/>
          </a:xfrm>
          <a:prstGeom prst="rect">
            <a:avLst/>
          </a:prstGeom>
          <a:solidFill>
            <a:srgbClr val="1E293B"/>
          </a:solidFill>
          <a:ln/>
        </p:spPr>
        <p:txBody>
          <a:bodyPr/>
          <a:lstStyle/>
          <a:p>
            <a:endParaRPr lang="en-US"/>
          </a:p>
        </p:txBody>
      </p:sp>
      <p:sp>
        <p:nvSpPr>
          <p:cNvPr id="14" name="Text 12"/>
          <p:cNvSpPr/>
          <p:nvPr/>
        </p:nvSpPr>
        <p:spPr>
          <a:xfrm>
            <a:off x="640080" y="338328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Awaiter fields</a:t>
            </a:r>
            <a:endParaRPr lang="en-US" sz="1300" dirty="0"/>
          </a:p>
        </p:txBody>
      </p:sp>
      <p:sp>
        <p:nvSpPr>
          <p:cNvPr id="15" name="Text 13"/>
          <p:cNvSpPr/>
          <p:nvPr/>
        </p:nvSpPr>
        <p:spPr>
          <a:xfrm>
            <a:off x="3749040" y="338328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One per await, stores awaiter while paused</a:t>
            </a:r>
            <a:endParaRPr lang="en-US" sz="1300" dirty="0"/>
          </a:p>
        </p:txBody>
      </p:sp>
      <p:sp>
        <p:nvSpPr>
          <p:cNvPr id="16" name="Shape 14"/>
          <p:cNvSpPr/>
          <p:nvPr/>
        </p:nvSpPr>
        <p:spPr>
          <a:xfrm>
            <a:off x="457200" y="4023360"/>
            <a:ext cx="8229600" cy="502920"/>
          </a:xfrm>
          <a:prstGeom prst="rect">
            <a:avLst/>
          </a:prstGeom>
          <a:solidFill>
            <a:srgbClr val="1E293B"/>
          </a:solidFill>
          <a:ln/>
        </p:spPr>
        <p:txBody>
          <a:bodyPr/>
          <a:lstStyle/>
          <a:p>
            <a:endParaRPr lang="en-US"/>
          </a:p>
        </p:txBody>
      </p:sp>
      <p:sp>
        <p:nvSpPr>
          <p:cNvPr id="17" name="Text 15"/>
          <p:cNvSpPr/>
          <p:nvPr/>
        </p:nvSpPr>
        <p:spPr>
          <a:xfrm>
            <a:off x="640080" y="4023360"/>
            <a:ext cx="3017520" cy="502920"/>
          </a:xfrm>
          <a:prstGeom prst="rect">
            <a:avLst/>
          </a:prstGeom>
          <a:noFill/>
          <a:ln/>
        </p:spPr>
        <p:txBody>
          <a:bodyPr wrap="square" lIns="0" tIns="0" rIns="0" bIns="0" rtlCol="0" anchor="ctr"/>
          <a:lstStyle/>
          <a:p>
            <a:pPr marL="0" indent="0">
              <a:buNone/>
            </a:pPr>
            <a:r>
              <a:rPr lang="en-US" sz="1300" dirty="0">
                <a:solidFill>
                  <a:srgbClr val="38BDF8"/>
                </a:solidFill>
                <a:latin typeface="Consolas" pitchFamily="34" charset="0"/>
                <a:ea typeface="Consolas" pitchFamily="34" charset="-122"/>
                <a:cs typeface="Consolas" pitchFamily="34" charset="-120"/>
              </a:rPr>
              <a:t>MoveNext()</a:t>
            </a:r>
            <a:endParaRPr lang="en-US" sz="1300" dirty="0"/>
          </a:p>
        </p:txBody>
      </p:sp>
      <p:sp>
        <p:nvSpPr>
          <p:cNvPr id="18" name="Text 16"/>
          <p:cNvSpPr/>
          <p:nvPr/>
        </p:nvSpPr>
        <p:spPr>
          <a:xfrm>
            <a:off x="3749040" y="4023360"/>
            <a:ext cx="4754880" cy="50292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Switch on state → runs the right segment</a:t>
            </a:r>
            <a:endParaRPr lang="en-US" sz="1300" dirty="0"/>
          </a:p>
        </p:txBody>
      </p:sp>
      <p:sp>
        <p:nvSpPr>
          <p:cNvPr id="19" name="Shape 17"/>
          <p:cNvSpPr/>
          <p:nvPr/>
        </p:nvSpPr>
        <p:spPr>
          <a:xfrm>
            <a:off x="457200" y="4206240"/>
            <a:ext cx="8229600" cy="640080"/>
          </a:xfrm>
          <a:prstGeom prst="rect">
            <a:avLst/>
          </a:prstGeom>
          <a:solidFill>
            <a:srgbClr val="1E293B"/>
          </a:solidFill>
          <a:ln/>
        </p:spPr>
        <p:txBody>
          <a:bodyPr/>
          <a:lstStyle/>
          <a:p>
            <a:endParaRPr lang="en-US"/>
          </a:p>
        </p:txBody>
      </p:sp>
      <p:sp>
        <p:nvSpPr>
          <p:cNvPr id="20" name="Shape 18"/>
          <p:cNvSpPr/>
          <p:nvPr/>
        </p:nvSpPr>
        <p:spPr>
          <a:xfrm>
            <a:off x="457200" y="4206240"/>
            <a:ext cx="73152" cy="640080"/>
          </a:xfrm>
          <a:prstGeom prst="rect">
            <a:avLst/>
          </a:prstGeom>
          <a:solidFill>
            <a:srgbClr val="38BDF8"/>
          </a:solidFill>
          <a:ln/>
        </p:spPr>
        <p:txBody>
          <a:bodyPr/>
          <a:lstStyle/>
          <a:p>
            <a:endParaRPr lang="en-US"/>
          </a:p>
        </p:txBody>
      </p:sp>
      <p:sp>
        <p:nvSpPr>
          <p:cNvPr id="21" name="Text 19"/>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The compiler rewrites your method into a state machine struct with MoveNext().</a:t>
            </a:r>
            <a:endParaRPr lang="en-US" sz="1300" dirty="0"/>
          </a:p>
        </p:txBody>
      </p:sp>
      <p:sp>
        <p:nvSpPr>
          <p:cNvPr id="22" name="Text 20"/>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Stub Method</a:t>
            </a:r>
            <a:endParaRPr lang="en-US" sz="28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Your original method becomes this thin wrapper:</a:t>
            </a:r>
            <a:endParaRPr lang="en-US" sz="1400" dirty="0"/>
          </a:p>
        </p:txBody>
      </p:sp>
      <p:sp>
        <p:nvSpPr>
          <p:cNvPr id="4" name="Shape 2"/>
          <p:cNvSpPr/>
          <p:nvPr/>
        </p:nvSpPr>
        <p:spPr>
          <a:xfrm>
            <a:off x="457200" y="1463040"/>
            <a:ext cx="7315200" cy="18288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5" name="Text 3"/>
          <p:cNvSpPr/>
          <p:nvPr/>
        </p:nvSpPr>
        <p:spPr>
          <a:xfrm>
            <a:off x="594360" y="1554480"/>
            <a:ext cx="7040880" cy="164592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Task ExampleAsync()</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var sm = new ExampleAsyncStateMachine();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sm.&lt;&gt;1__state = -1;                       // Initial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 = AsyncTaskMethodBuilder.Create();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sm.&lt;&gt;t__builder.Start(ref sm);            // Calls MoveNext()</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 sm.&lt;&gt;t__builder.Task;              // Returns the promise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347472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Start() calls MoveNext() synchronously on the calling thread</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The first segment runs immediately - async methods start synchronously</a:t>
            </a:r>
            <a:endParaRPr lang="en-US" sz="1300" dirty="0"/>
          </a:p>
          <a:p>
            <a:pPr marL="342900" indent="-342900">
              <a:spcAft>
                <a:spcPts val="600"/>
              </a:spcAft>
              <a:buSzPct val="100000"/>
              <a:buChar char="•"/>
            </a:pPr>
            <a:r>
              <a:rPr lang="en-US" sz="1300" dirty="0">
                <a:solidFill>
                  <a:srgbClr val="38BDF8"/>
                </a:solidFill>
                <a:latin typeface="Calibri" pitchFamily="34" charset="0"/>
                <a:ea typeface="Calibri" pitchFamily="34" charset="-122"/>
                <a:cs typeface="Calibri" pitchFamily="34" charset="-120"/>
              </a:rPr>
              <a:t>Returns the builder’s Task to the caller (may be incomplete)</a:t>
            </a:r>
            <a:endParaRPr lang="en-US" sz="1300" dirty="0"/>
          </a:p>
        </p:txBody>
      </p:sp>
      <p:sp>
        <p:nvSpPr>
          <p:cNvPr id="7" name="Text 5"/>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First Await</a:t>
            </a:r>
            <a:endParaRPr lang="en-US" sz="2800" dirty="0"/>
          </a:p>
        </p:txBody>
      </p:sp>
      <p:sp>
        <p:nvSpPr>
          <p:cNvPr id="3" name="Shape 1"/>
          <p:cNvSpPr/>
          <p:nvPr/>
        </p:nvSpPr>
        <p:spPr>
          <a:xfrm>
            <a:off x="457200" y="914400"/>
            <a:ext cx="8229600" cy="3291840"/>
          </a:xfrm>
          <a:prstGeom prst="rect">
            <a:avLst/>
          </a:prstGeom>
          <a:solidFill>
            <a:srgbClr val="1E293B"/>
          </a:solidFill>
          <a:ln/>
          <a:effectLst>
            <a:outerShdw blurRad="101600" dist="38100" dir="8100000" algn="bl" rotWithShape="0">
              <a:srgbClr val="000000">
                <a:alpha val="30000"/>
              </a:srgbClr>
            </a:outerShdw>
          </a:effectLst>
        </p:spPr>
        <p:txBody>
          <a:bodyPr/>
          <a:lstStyle/>
          <a:p>
            <a:r>
              <a:rPr lang="en-GB" dirty="0"/>
              <a:t>/// show actual state machine</a:t>
            </a:r>
            <a:endParaRPr lang="en-US" dirty="0"/>
          </a:p>
        </p:txBody>
      </p:sp>
      <p:sp>
        <p:nvSpPr>
          <p:cNvPr id="4" name="Text 2"/>
          <p:cNvSpPr/>
          <p:nvPr/>
        </p:nvSpPr>
        <p:spPr>
          <a:xfrm>
            <a:off x="594360" y="1005840"/>
            <a:ext cx="7955280" cy="3108960"/>
          </a:xfrm>
          <a:prstGeom prst="rect">
            <a:avLst/>
          </a:prstGeom>
          <a:noFill/>
          <a:ln/>
        </p:spPr>
        <p:txBody>
          <a:bodyPr wrap="square" lIns="0" tIns="0" rIns="0" bIns="0" rtlCol="0" anchor="t"/>
          <a:lstStyle/>
          <a:p>
            <a:pPr marL="0" indent="0">
              <a:spcAft>
                <a:spcPts val="200"/>
              </a:spcAft>
              <a:buNone/>
            </a:pPr>
            <a:endParaRPr lang="en-US" sz="800" dirty="0"/>
          </a:p>
        </p:txBody>
      </p:sp>
      <p:sp>
        <p:nvSpPr>
          <p:cNvPr id="5" name="Shape 3"/>
          <p:cNvSpPr/>
          <p:nvPr/>
        </p:nvSpPr>
        <p:spPr>
          <a:xfrm>
            <a:off x="457200" y="4206240"/>
            <a:ext cx="8229600" cy="640080"/>
          </a:xfrm>
          <a:prstGeom prst="rect">
            <a:avLst/>
          </a:prstGeom>
          <a:solidFill>
            <a:srgbClr val="1E293B"/>
          </a:solidFill>
          <a:ln/>
        </p:spPr>
        <p:txBody>
          <a:bodyPr/>
          <a:lstStyle/>
          <a:p>
            <a:endParaRPr lang="en-US"/>
          </a:p>
        </p:txBody>
      </p:sp>
      <p:sp>
        <p:nvSpPr>
          <p:cNvPr id="6" name="Shape 4"/>
          <p:cNvSpPr/>
          <p:nvPr/>
        </p:nvSpPr>
        <p:spPr>
          <a:xfrm>
            <a:off x="457200" y="4206240"/>
            <a:ext cx="73152" cy="640080"/>
          </a:xfrm>
          <a:prstGeom prst="rect">
            <a:avLst/>
          </a:prstGeom>
          <a:solidFill>
            <a:srgbClr val="38BDF8"/>
          </a:solidFill>
          <a:ln/>
        </p:spPr>
        <p:txBody>
          <a:bodyPr/>
          <a:lstStyle/>
          <a:p>
            <a:endParaRPr lang="en-US"/>
          </a:p>
        </p:txBody>
      </p:sp>
      <p:sp>
        <p:nvSpPr>
          <p:cNvPr id="7" name="Text 5"/>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If IsCompleted is false: save state, register MoveNext as callback, return. Thread is free.</a:t>
            </a:r>
            <a:endParaRPr lang="en-US" sz="1300" dirty="0"/>
          </a:p>
        </p:txBody>
      </p:sp>
      <p:sp>
        <p:nvSpPr>
          <p:cNvPr id="8" name="Text 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Inside MoveNext() : Resuming &amp; Second Await</a:t>
            </a:r>
            <a:endParaRPr lang="en-US" sz="2800" dirty="0"/>
          </a:p>
        </p:txBody>
      </p:sp>
      <p:sp>
        <p:nvSpPr>
          <p:cNvPr id="3" name="Shape 1"/>
          <p:cNvSpPr/>
          <p:nvPr/>
        </p:nvSpPr>
        <p:spPr>
          <a:xfrm>
            <a:off x="457200" y="914400"/>
            <a:ext cx="8229600" cy="3474720"/>
          </a:xfrm>
          <a:prstGeom prst="rect">
            <a:avLst/>
          </a:prstGeom>
          <a:solidFill>
            <a:srgbClr val="1E293B"/>
          </a:solidFill>
          <a:ln/>
          <a:effectLst>
            <a:outerShdw blurRad="101600" dist="38100" dir="8100000" algn="bl" rotWithShape="0">
              <a:srgbClr val="000000">
                <a:alpha val="30000"/>
              </a:srgbClr>
            </a:outerShdw>
          </a:effectLst>
        </p:spPr>
        <p:txBody>
          <a:bodyPr/>
          <a:lstStyle/>
          <a:p>
            <a:pPr>
              <a:spcAft>
                <a:spcPts val="200"/>
              </a:spcAft>
            </a:pPr>
            <a:r>
              <a:rPr lang="en-GB" sz="600" dirty="0"/>
              <a:t>///show actual state machine</a:t>
            </a:r>
            <a:endParaRPr lang="en-US" sz="600" dirty="0"/>
          </a:p>
        </p:txBody>
      </p:sp>
      <p:sp>
        <p:nvSpPr>
          <p:cNvPr id="4" name="Text 2"/>
          <p:cNvSpPr/>
          <p:nvPr/>
        </p:nvSpPr>
        <p:spPr>
          <a:xfrm>
            <a:off x="4402318" y="1005840"/>
            <a:ext cx="4147322" cy="3291840"/>
          </a:xfrm>
          <a:prstGeom prst="rect">
            <a:avLst/>
          </a:prstGeom>
          <a:noFill/>
          <a:ln/>
        </p:spPr>
        <p:txBody>
          <a:bodyPr wrap="square" lIns="0" tIns="0" rIns="0" bIns="0" rtlCol="0" anchor="t"/>
          <a:lstStyle/>
          <a:p>
            <a:pPr marL="0" indent="0">
              <a:spcAft>
                <a:spcPts val="200"/>
              </a:spcAft>
              <a:buNone/>
            </a:pPr>
            <a:endParaRPr lang="en-US" sz="600" dirty="0"/>
          </a:p>
        </p:txBody>
      </p:sp>
      <p:sp>
        <p:nvSpPr>
          <p:cNvPr id="5" name="Text 3"/>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Completion &amp; Error Handling</a:t>
            </a:r>
            <a:endParaRPr lang="en-US" sz="2800" dirty="0"/>
          </a:p>
        </p:txBody>
      </p:sp>
      <p:sp>
        <p:nvSpPr>
          <p:cNvPr id="3" name="Shape 1"/>
          <p:cNvSpPr/>
          <p:nvPr/>
        </p:nvSpPr>
        <p:spPr>
          <a:xfrm>
            <a:off x="457200" y="1005840"/>
            <a:ext cx="6400800" cy="237744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4" name="Text 2"/>
          <p:cNvSpPr/>
          <p:nvPr/>
        </p:nvSpPr>
        <p:spPr>
          <a:xfrm>
            <a:off x="594360" y="1097280"/>
            <a:ext cx="6126480" cy="2194560"/>
          </a:xfrm>
          <a:prstGeom prst="rect">
            <a:avLst/>
          </a:prstGeom>
          <a:noFill/>
          <a:ln/>
        </p:spPr>
        <p:txBody>
          <a:bodyPr wrap="square" lIns="0" tIns="0" rIns="0" bIns="0" rtlCol="0" anchor="t"/>
          <a:lstStyle/>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 // end try</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catch (Exception ex)</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&lt;&gt;1__state = -2;               // Terminal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&lt;&gt;t__builder.SetException(ex); // Faults the outer Task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return;</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&lt;&gt;1__state = -2;                   // Terminal state</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    &lt;&gt;t__builder.SetResult();          // Completes the outer Task</a:t>
            </a:r>
            <a:endParaRPr lang="en-US" sz="1200" dirty="0"/>
          </a:p>
          <a:p>
            <a:pPr marL="0" indent="0">
              <a:spcAft>
                <a:spcPts val="200"/>
              </a:spcAft>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5" name="Text 3"/>
          <p:cNvSpPr/>
          <p:nvPr/>
        </p:nvSpPr>
        <p:spPr>
          <a:xfrm>
            <a:off x="457200" y="3520440"/>
            <a:ext cx="8229600" cy="914400"/>
          </a:xfrm>
          <a:prstGeom prst="rect">
            <a:avLst/>
          </a:prstGeom>
          <a:noFill/>
          <a:ln/>
        </p:spPr>
        <p:txBody>
          <a:bodyPr wrap="square" rtlCol="0" anchor="ctr"/>
          <a:lstStyle/>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Any exception in your code or GetResult() is caught and set on the outer Task</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On success, SetResult() completes the promise the caller is awaiting</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State -2 means the machine is finished - MoveNext won’t be called again</a:t>
            </a:r>
            <a:endParaRPr lang="en-US" sz="13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Step-by-Step Execution</a:t>
            </a:r>
            <a:endParaRPr lang="en-US" sz="2800" dirty="0"/>
          </a:p>
        </p:txBody>
      </p:sp>
      <p:sp>
        <p:nvSpPr>
          <p:cNvPr id="3" name="Shape 1"/>
          <p:cNvSpPr/>
          <p:nvPr/>
        </p:nvSpPr>
        <p:spPr>
          <a:xfrm>
            <a:off x="457200" y="1051560"/>
            <a:ext cx="8229600" cy="530352"/>
          </a:xfrm>
          <a:prstGeom prst="rect">
            <a:avLst/>
          </a:prstGeom>
          <a:solidFill>
            <a:srgbClr val="1E293B"/>
          </a:solidFill>
          <a:ln/>
        </p:spPr>
        <p:txBody>
          <a:bodyPr/>
          <a:lstStyle/>
          <a:p>
            <a:endParaRPr lang="en-US"/>
          </a:p>
        </p:txBody>
      </p:sp>
      <p:sp>
        <p:nvSpPr>
          <p:cNvPr id="4" name="Shape 2"/>
          <p:cNvSpPr/>
          <p:nvPr/>
        </p:nvSpPr>
        <p:spPr>
          <a:xfrm>
            <a:off x="457200" y="1051560"/>
            <a:ext cx="64008" cy="530352"/>
          </a:xfrm>
          <a:prstGeom prst="rect">
            <a:avLst/>
          </a:prstGeom>
          <a:solidFill>
            <a:srgbClr val="38BDF8"/>
          </a:solidFill>
          <a:ln/>
        </p:spPr>
        <p:txBody>
          <a:bodyPr/>
          <a:lstStyle/>
          <a:p>
            <a:endParaRPr lang="en-US"/>
          </a:p>
        </p:txBody>
      </p:sp>
      <p:sp>
        <p:nvSpPr>
          <p:cNvPr id="5" name="Text 3"/>
          <p:cNvSpPr/>
          <p:nvPr/>
        </p:nvSpPr>
        <p:spPr>
          <a:xfrm>
            <a:off x="685800" y="1051560"/>
            <a:ext cx="1097280" cy="530352"/>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Call 1</a:t>
            </a:r>
            <a:endParaRPr lang="en-US" sz="1200" dirty="0"/>
          </a:p>
        </p:txBody>
      </p:sp>
      <p:sp>
        <p:nvSpPr>
          <p:cNvPr id="6" name="Text 4"/>
          <p:cNvSpPr/>
          <p:nvPr/>
        </p:nvSpPr>
        <p:spPr>
          <a:xfrm>
            <a:off x="1828800" y="1051560"/>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prints "Step 1" → gets awaiter → not completed → suspends → returns incomplete Task</a:t>
            </a:r>
            <a:endParaRPr lang="en-US" sz="1150" dirty="0"/>
          </a:p>
        </p:txBody>
      </p:sp>
      <p:sp>
        <p:nvSpPr>
          <p:cNvPr id="7" name="Shape 5"/>
          <p:cNvSpPr/>
          <p:nvPr/>
        </p:nvSpPr>
        <p:spPr>
          <a:xfrm>
            <a:off x="457200" y="1709928"/>
            <a:ext cx="8229600" cy="530352"/>
          </a:xfrm>
          <a:prstGeom prst="rect">
            <a:avLst/>
          </a:prstGeom>
          <a:solidFill>
            <a:srgbClr val="1E293B"/>
          </a:solidFill>
          <a:ln/>
        </p:spPr>
        <p:txBody>
          <a:bodyPr/>
          <a:lstStyle/>
          <a:p>
            <a:endParaRPr lang="en-US"/>
          </a:p>
        </p:txBody>
      </p:sp>
      <p:sp>
        <p:nvSpPr>
          <p:cNvPr id="8" name="Shape 6"/>
          <p:cNvSpPr/>
          <p:nvPr/>
        </p:nvSpPr>
        <p:spPr>
          <a:xfrm>
            <a:off x="457200" y="1709928"/>
            <a:ext cx="64008" cy="530352"/>
          </a:xfrm>
          <a:prstGeom prst="rect">
            <a:avLst/>
          </a:prstGeom>
          <a:solidFill>
            <a:srgbClr val="94A3B8"/>
          </a:solidFill>
          <a:ln/>
        </p:spPr>
        <p:txBody>
          <a:bodyPr/>
          <a:lstStyle/>
          <a:p>
            <a:endParaRPr lang="en-US"/>
          </a:p>
        </p:txBody>
      </p:sp>
      <p:sp>
        <p:nvSpPr>
          <p:cNvPr id="9" name="Text 7"/>
          <p:cNvSpPr/>
          <p:nvPr/>
        </p:nvSpPr>
        <p:spPr>
          <a:xfrm>
            <a:off x="685800" y="1709928"/>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0" name="Text 8"/>
          <p:cNvSpPr/>
          <p:nvPr/>
        </p:nvSpPr>
        <p:spPr>
          <a:xfrm>
            <a:off x="1828800" y="1709928"/>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No thread blocked. System timer ticking for 1000ms.</a:t>
            </a:r>
            <a:endParaRPr lang="en-US" sz="1150" dirty="0"/>
          </a:p>
        </p:txBody>
      </p:sp>
      <p:sp>
        <p:nvSpPr>
          <p:cNvPr id="11" name="Shape 9"/>
          <p:cNvSpPr/>
          <p:nvPr/>
        </p:nvSpPr>
        <p:spPr>
          <a:xfrm>
            <a:off x="457200" y="2368296"/>
            <a:ext cx="8229600" cy="530352"/>
          </a:xfrm>
          <a:prstGeom prst="rect">
            <a:avLst/>
          </a:prstGeom>
          <a:solidFill>
            <a:srgbClr val="1E293B"/>
          </a:solidFill>
          <a:ln/>
        </p:spPr>
        <p:txBody>
          <a:bodyPr/>
          <a:lstStyle/>
          <a:p>
            <a:endParaRPr lang="en-US"/>
          </a:p>
        </p:txBody>
      </p:sp>
      <p:sp>
        <p:nvSpPr>
          <p:cNvPr id="12" name="Shape 10"/>
          <p:cNvSpPr/>
          <p:nvPr/>
        </p:nvSpPr>
        <p:spPr>
          <a:xfrm>
            <a:off x="457200" y="2368296"/>
            <a:ext cx="64008" cy="530352"/>
          </a:xfrm>
          <a:prstGeom prst="rect">
            <a:avLst/>
          </a:prstGeom>
          <a:solidFill>
            <a:srgbClr val="A78BFA"/>
          </a:solidFill>
          <a:ln/>
        </p:spPr>
        <p:txBody>
          <a:bodyPr/>
          <a:lstStyle/>
          <a:p>
            <a:endParaRPr lang="en-US"/>
          </a:p>
        </p:txBody>
      </p:sp>
      <p:sp>
        <p:nvSpPr>
          <p:cNvPr id="13" name="Text 11"/>
          <p:cNvSpPr/>
          <p:nvPr/>
        </p:nvSpPr>
        <p:spPr>
          <a:xfrm>
            <a:off x="685800" y="2368296"/>
            <a:ext cx="1097280" cy="530352"/>
          </a:xfrm>
          <a:prstGeom prst="rect">
            <a:avLst/>
          </a:prstGeom>
          <a:noFill/>
          <a:ln/>
        </p:spPr>
        <p:txBody>
          <a:bodyPr wrap="square" lIns="0" tIns="0" rIns="0" bIns="0" rtlCol="0" anchor="ctr"/>
          <a:lstStyle/>
          <a:p>
            <a:pPr marL="0" indent="0">
              <a:buNone/>
            </a:pPr>
            <a:r>
              <a:rPr lang="en-US" sz="1200" b="1" dirty="0">
                <a:solidFill>
                  <a:srgbClr val="A78BFA"/>
                </a:solidFill>
                <a:latin typeface="Calibri" pitchFamily="34" charset="0"/>
                <a:ea typeface="Calibri" pitchFamily="34" charset="-122"/>
                <a:cs typeface="Calibri" pitchFamily="34" charset="-120"/>
              </a:rPr>
              <a:t>Call 2</a:t>
            </a:r>
            <a:endParaRPr lang="en-US" sz="1200" dirty="0"/>
          </a:p>
        </p:txBody>
      </p:sp>
      <p:sp>
        <p:nvSpPr>
          <p:cNvPr id="14" name="Text 12"/>
          <p:cNvSpPr/>
          <p:nvPr/>
        </p:nvSpPr>
        <p:spPr>
          <a:xfrm>
            <a:off x="1828800" y="2368296"/>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state=0 → resumes → GetResult() → prints "Step 2" → next awaiter → suspends again</a:t>
            </a:r>
            <a:endParaRPr lang="en-US" sz="1150" dirty="0"/>
          </a:p>
        </p:txBody>
      </p:sp>
      <p:sp>
        <p:nvSpPr>
          <p:cNvPr id="15" name="Shape 13"/>
          <p:cNvSpPr/>
          <p:nvPr/>
        </p:nvSpPr>
        <p:spPr>
          <a:xfrm>
            <a:off x="457200" y="3026664"/>
            <a:ext cx="8229600" cy="530352"/>
          </a:xfrm>
          <a:prstGeom prst="rect">
            <a:avLst/>
          </a:prstGeom>
          <a:solidFill>
            <a:srgbClr val="1E293B"/>
          </a:solidFill>
          <a:ln/>
        </p:spPr>
        <p:txBody>
          <a:bodyPr/>
          <a:lstStyle/>
          <a:p>
            <a:endParaRPr lang="en-US"/>
          </a:p>
        </p:txBody>
      </p:sp>
      <p:sp>
        <p:nvSpPr>
          <p:cNvPr id="16" name="Shape 14"/>
          <p:cNvSpPr/>
          <p:nvPr/>
        </p:nvSpPr>
        <p:spPr>
          <a:xfrm>
            <a:off x="457200" y="3026664"/>
            <a:ext cx="64008" cy="530352"/>
          </a:xfrm>
          <a:prstGeom prst="rect">
            <a:avLst/>
          </a:prstGeom>
          <a:solidFill>
            <a:srgbClr val="94A3B8"/>
          </a:solidFill>
          <a:ln/>
        </p:spPr>
        <p:txBody>
          <a:bodyPr/>
          <a:lstStyle/>
          <a:p>
            <a:endParaRPr lang="en-US"/>
          </a:p>
        </p:txBody>
      </p:sp>
      <p:sp>
        <p:nvSpPr>
          <p:cNvPr id="17" name="Text 15"/>
          <p:cNvSpPr/>
          <p:nvPr/>
        </p:nvSpPr>
        <p:spPr>
          <a:xfrm>
            <a:off x="685800" y="3026664"/>
            <a:ext cx="1097280" cy="530352"/>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 Timer</a:t>
            </a:r>
            <a:endParaRPr lang="en-US" sz="1200" dirty="0"/>
          </a:p>
        </p:txBody>
      </p:sp>
      <p:sp>
        <p:nvSpPr>
          <p:cNvPr id="18" name="Text 16"/>
          <p:cNvSpPr/>
          <p:nvPr/>
        </p:nvSpPr>
        <p:spPr>
          <a:xfrm>
            <a:off x="1828800" y="3026664"/>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System timer for 500ms.</a:t>
            </a:r>
            <a:endParaRPr lang="en-US" sz="1150" dirty="0"/>
          </a:p>
        </p:txBody>
      </p:sp>
      <p:sp>
        <p:nvSpPr>
          <p:cNvPr id="19" name="Shape 17"/>
          <p:cNvSpPr/>
          <p:nvPr/>
        </p:nvSpPr>
        <p:spPr>
          <a:xfrm>
            <a:off x="457200" y="3685032"/>
            <a:ext cx="8229600" cy="530352"/>
          </a:xfrm>
          <a:prstGeom prst="rect">
            <a:avLst/>
          </a:prstGeom>
          <a:solidFill>
            <a:srgbClr val="1E293B"/>
          </a:solidFill>
          <a:ln/>
        </p:spPr>
        <p:txBody>
          <a:bodyPr/>
          <a:lstStyle/>
          <a:p>
            <a:endParaRPr lang="en-US"/>
          </a:p>
        </p:txBody>
      </p:sp>
      <p:sp>
        <p:nvSpPr>
          <p:cNvPr id="20" name="Shape 18"/>
          <p:cNvSpPr/>
          <p:nvPr/>
        </p:nvSpPr>
        <p:spPr>
          <a:xfrm>
            <a:off x="457200" y="3685032"/>
            <a:ext cx="64008" cy="530352"/>
          </a:xfrm>
          <a:prstGeom prst="rect">
            <a:avLst/>
          </a:prstGeom>
          <a:solidFill>
            <a:srgbClr val="4ADE80"/>
          </a:solidFill>
          <a:ln/>
        </p:spPr>
        <p:txBody>
          <a:bodyPr/>
          <a:lstStyle/>
          <a:p>
            <a:endParaRPr lang="en-US"/>
          </a:p>
        </p:txBody>
      </p:sp>
      <p:sp>
        <p:nvSpPr>
          <p:cNvPr id="21" name="Text 19"/>
          <p:cNvSpPr/>
          <p:nvPr/>
        </p:nvSpPr>
        <p:spPr>
          <a:xfrm>
            <a:off x="685800" y="3685032"/>
            <a:ext cx="1097280" cy="530352"/>
          </a:xfrm>
          <a:prstGeom prst="rect">
            <a:avLst/>
          </a:prstGeom>
          <a:noFill/>
          <a:ln/>
        </p:spPr>
        <p:txBody>
          <a:bodyPr wrap="square" lIns="0" tIns="0" rIns="0" bIns="0"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Call 3</a:t>
            </a:r>
            <a:endParaRPr lang="en-US" sz="1200" dirty="0"/>
          </a:p>
        </p:txBody>
      </p:sp>
      <p:sp>
        <p:nvSpPr>
          <p:cNvPr id="22" name="Text 20"/>
          <p:cNvSpPr/>
          <p:nvPr/>
        </p:nvSpPr>
        <p:spPr>
          <a:xfrm>
            <a:off x="1828800" y="3685032"/>
            <a:ext cx="6675120" cy="530352"/>
          </a:xfrm>
          <a:prstGeom prst="rect">
            <a:avLst/>
          </a:prstGeom>
          <a:noFill/>
          <a:ln/>
        </p:spPr>
        <p:txBody>
          <a:bodyPr wrap="square" lIns="0" tIns="0" rIns="0" bIns="0" rtlCol="0" anchor="ctr"/>
          <a:lstStyle/>
          <a:p>
            <a:pPr marL="0" indent="0">
              <a:buNone/>
            </a:pPr>
            <a:r>
              <a:rPr lang="en-US" sz="1150" dirty="0">
                <a:solidFill>
                  <a:srgbClr val="F1F5F9"/>
                </a:solidFill>
                <a:latin typeface="Calibri" pitchFamily="34" charset="0"/>
                <a:ea typeface="Calibri" pitchFamily="34" charset="-122"/>
                <a:cs typeface="Calibri" pitchFamily="34" charset="-120"/>
              </a:rPr>
              <a:t>state=1 → resumes → GetResult() → prints "Step 3" → SetResult() → Task complete</a:t>
            </a:r>
            <a:endParaRPr lang="en-US" sz="1150" dirty="0"/>
          </a:p>
        </p:txBody>
      </p:sp>
      <p:sp>
        <p:nvSpPr>
          <p:cNvPr id="23" name="Shape 21"/>
          <p:cNvSpPr/>
          <p:nvPr/>
        </p:nvSpPr>
        <p:spPr>
          <a:xfrm>
            <a:off x="457200" y="4206240"/>
            <a:ext cx="8229600" cy="640080"/>
          </a:xfrm>
          <a:prstGeom prst="rect">
            <a:avLst/>
          </a:prstGeom>
          <a:solidFill>
            <a:srgbClr val="1E293B"/>
          </a:solidFill>
          <a:ln/>
        </p:spPr>
        <p:txBody>
          <a:bodyPr/>
          <a:lstStyle/>
          <a:p>
            <a:endParaRPr lang="en-US"/>
          </a:p>
        </p:txBody>
      </p:sp>
      <p:sp>
        <p:nvSpPr>
          <p:cNvPr id="24" name="Shape 22"/>
          <p:cNvSpPr/>
          <p:nvPr/>
        </p:nvSpPr>
        <p:spPr>
          <a:xfrm>
            <a:off x="457200" y="4206240"/>
            <a:ext cx="73152" cy="640080"/>
          </a:xfrm>
          <a:prstGeom prst="rect">
            <a:avLst/>
          </a:prstGeom>
          <a:solidFill>
            <a:srgbClr val="38BDF8"/>
          </a:solidFill>
          <a:ln/>
        </p:spPr>
        <p:txBody>
          <a:bodyPr/>
          <a:lstStyle/>
          <a:p>
            <a:endParaRPr lang="en-US"/>
          </a:p>
        </p:txBody>
      </p:sp>
      <p:sp>
        <p:nvSpPr>
          <p:cNvPr id="25" name="Text 23"/>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3 calls to MoveNext(). 3 segments. 2 suspension points. 0 threads blocked during waits.</a:t>
            </a:r>
            <a:endParaRPr lang="en-US" sz="1300" dirty="0"/>
          </a:p>
        </p:txBody>
      </p:sp>
      <p:sp>
        <p:nvSpPr>
          <p:cNvPr id="26" name="Text 2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Fast Path &amp; Allocation Story</a:t>
            </a:r>
            <a:endParaRPr lang="en-US" sz="2800" dirty="0"/>
          </a:p>
        </p:txBody>
      </p:sp>
      <p:sp>
        <p:nvSpPr>
          <p:cNvPr id="3" name="Text 1"/>
          <p:cNvSpPr/>
          <p:nvPr/>
        </p:nvSpPr>
        <p:spPr>
          <a:xfrm>
            <a:off x="457200" y="1005840"/>
            <a:ext cx="8229600" cy="365760"/>
          </a:xfrm>
          <a:prstGeom prst="rect">
            <a:avLst/>
          </a:prstGeom>
          <a:noFill/>
          <a:ln/>
        </p:spPr>
        <p:txBody>
          <a:bodyPr wrap="square" lIns="0" tIns="0" rIns="0" bIns="0" rtlCol="0" anchor="ctr"/>
          <a:lstStyle/>
          <a:p>
            <a:pPr marL="0" indent="0">
              <a:buNone/>
            </a:pPr>
            <a:r>
              <a:rPr lang="en-US" sz="1600" b="1" dirty="0">
                <a:solidFill>
                  <a:srgbClr val="4ADE80"/>
                </a:solidFill>
                <a:latin typeface="Calibri" pitchFamily="34" charset="0"/>
                <a:ea typeface="Calibri" pitchFamily="34" charset="-122"/>
                <a:cs typeface="Calibri" pitchFamily="34" charset="-120"/>
              </a:rPr>
              <a:t>The Fast Path:  IsCompleted</a:t>
            </a:r>
            <a:endParaRPr lang="en-US" sz="1600" dirty="0"/>
          </a:p>
        </p:txBody>
      </p:sp>
      <p:sp>
        <p:nvSpPr>
          <p:cNvPr id="4" name="Text 2"/>
          <p:cNvSpPr/>
          <p:nvPr/>
        </p:nvSpPr>
        <p:spPr>
          <a:xfrm>
            <a:off x="457200" y="1417320"/>
            <a:ext cx="8229600" cy="594360"/>
          </a:xfrm>
          <a:prstGeom prst="rect">
            <a:avLst/>
          </a:prstGeom>
          <a:noFill/>
          <a:ln/>
        </p:spPr>
        <p:txBody>
          <a:bodyPr wrap="square" lIns="0" tIns="0" rIns="0" bIns="0" rtlCol="0" anchor="ctr"/>
          <a:lstStyle/>
          <a:p>
            <a:pPr marL="0" indent="0">
              <a:buNone/>
            </a:pPr>
            <a:r>
              <a:rPr lang="en-US" sz="1300" dirty="0">
                <a:solidFill>
                  <a:srgbClr val="F1F5F9"/>
                </a:solidFill>
                <a:latin typeface="Calibri" pitchFamily="34" charset="0"/>
                <a:ea typeface="Calibri" pitchFamily="34" charset="-122"/>
                <a:cs typeface="Calibri" pitchFamily="34" charset="-120"/>
              </a:rPr>
              <a:t>If the awaited Task is already done, the state machine skips suspension entirely.</a:t>
            </a:r>
            <a:endParaRPr lang="en-US" sz="1300" dirty="0"/>
          </a:p>
          <a:p>
            <a:pPr marL="0" indent="0">
              <a:buNone/>
            </a:pPr>
            <a:r>
              <a:rPr lang="en-US" sz="1300" dirty="0">
                <a:solidFill>
                  <a:srgbClr val="F1F5F9"/>
                </a:solidFill>
                <a:latin typeface="Calibri" pitchFamily="34" charset="0"/>
                <a:ea typeface="Calibri" pitchFamily="34" charset="-122"/>
                <a:cs typeface="Calibri" pitchFamily="34" charset="-120"/>
              </a:rPr>
              <a:t>No context capture, no callback registration, no thread hop. Falls straight through.</a:t>
            </a:r>
            <a:endParaRPr lang="en-US" sz="1300" dirty="0"/>
          </a:p>
        </p:txBody>
      </p:sp>
      <p:sp>
        <p:nvSpPr>
          <p:cNvPr id="5" name="Text 3"/>
          <p:cNvSpPr/>
          <p:nvPr/>
        </p:nvSpPr>
        <p:spPr>
          <a:xfrm>
            <a:off x="457200" y="2286000"/>
            <a:ext cx="822960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The Struct-to-Heap Boxing Story</a:t>
            </a:r>
            <a:endParaRPr lang="en-US" sz="1600" dirty="0"/>
          </a:p>
        </p:txBody>
      </p:sp>
      <p:sp>
        <p:nvSpPr>
          <p:cNvPr id="6" name="Shape 4"/>
          <p:cNvSpPr/>
          <p:nvPr/>
        </p:nvSpPr>
        <p:spPr>
          <a:xfrm>
            <a:off x="457200" y="2834640"/>
            <a:ext cx="8229600" cy="411480"/>
          </a:xfrm>
          <a:prstGeom prst="rect">
            <a:avLst/>
          </a:prstGeom>
          <a:solidFill>
            <a:srgbClr val="1E293B"/>
          </a:solidFill>
          <a:ln/>
        </p:spPr>
        <p:txBody>
          <a:bodyPr/>
          <a:lstStyle/>
          <a:p>
            <a:endParaRPr lang="en-US"/>
          </a:p>
        </p:txBody>
      </p:sp>
      <p:sp>
        <p:nvSpPr>
          <p:cNvPr id="7" name="Text 5"/>
          <p:cNvSpPr/>
          <p:nvPr/>
        </p:nvSpPr>
        <p:spPr>
          <a:xfrm>
            <a:off x="640080" y="283464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All awaits complete synchronously</a:t>
            </a:r>
            <a:endParaRPr lang="en-US" sz="1200" dirty="0"/>
          </a:p>
        </p:txBody>
      </p:sp>
      <p:sp>
        <p:nvSpPr>
          <p:cNvPr id="8" name="Text 6"/>
          <p:cNvSpPr/>
          <p:nvPr/>
        </p:nvSpPr>
        <p:spPr>
          <a:xfrm>
            <a:off x="4389120" y="2834640"/>
            <a:ext cx="4114800" cy="411480"/>
          </a:xfrm>
          <a:prstGeom prst="rect">
            <a:avLst/>
          </a:prstGeom>
          <a:noFill/>
          <a:ln/>
        </p:spPr>
        <p:txBody>
          <a:bodyPr wrap="square" lIns="0" tIns="0" rIns="0" bIns="0" rtlCol="0" anchor="ctr"/>
          <a:lstStyle/>
          <a:p>
            <a:pPr marL="0" indent="0">
              <a:buNone/>
            </a:pPr>
            <a:r>
              <a:rPr lang="en-US" sz="1200" dirty="0">
                <a:solidFill>
                  <a:srgbClr val="4ADE80"/>
                </a:solidFill>
                <a:latin typeface="Calibri" pitchFamily="34" charset="0"/>
                <a:ea typeface="Calibri" pitchFamily="34" charset="-122"/>
                <a:cs typeface="Calibri" pitchFamily="34" charset="-120"/>
              </a:rPr>
              <a:t>Zero allocations: struct lives on the stack</a:t>
            </a:r>
            <a:endParaRPr lang="en-US" sz="1200" dirty="0"/>
          </a:p>
        </p:txBody>
      </p:sp>
      <p:sp>
        <p:nvSpPr>
          <p:cNvPr id="9" name="Shape 7"/>
          <p:cNvSpPr/>
          <p:nvPr/>
        </p:nvSpPr>
        <p:spPr>
          <a:xfrm>
            <a:off x="457200" y="3337560"/>
            <a:ext cx="8229600" cy="411480"/>
          </a:xfrm>
          <a:prstGeom prst="rect">
            <a:avLst/>
          </a:prstGeom>
          <a:solidFill>
            <a:srgbClr val="1E293B"/>
          </a:solidFill>
          <a:ln/>
        </p:spPr>
        <p:txBody>
          <a:bodyPr/>
          <a:lstStyle/>
          <a:p>
            <a:endParaRPr lang="en-US"/>
          </a:p>
        </p:txBody>
      </p:sp>
      <p:sp>
        <p:nvSpPr>
          <p:cNvPr id="10" name="Text 8"/>
          <p:cNvSpPr/>
          <p:nvPr/>
        </p:nvSpPr>
        <p:spPr>
          <a:xfrm>
            <a:off x="640080" y="333756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At least one true suspension</a:t>
            </a:r>
            <a:endParaRPr lang="en-US" sz="1200" dirty="0"/>
          </a:p>
        </p:txBody>
      </p:sp>
      <p:sp>
        <p:nvSpPr>
          <p:cNvPr id="11" name="Text 9"/>
          <p:cNvSpPr/>
          <p:nvPr/>
        </p:nvSpPr>
        <p:spPr>
          <a:xfrm>
            <a:off x="4389120" y="3337560"/>
            <a:ext cx="4114800" cy="411480"/>
          </a:xfrm>
          <a:prstGeom prst="rect">
            <a:avLst/>
          </a:prstGeom>
          <a:noFill/>
          <a:ln/>
        </p:spPr>
        <p:txBody>
          <a:bodyPr wrap="square" lIns="0" tIns="0" rIns="0" bIns="0" rtlCol="0" anchor="ctr"/>
          <a:lstStyle/>
          <a:p>
            <a:pPr marL="0" indent="0">
              <a:buNone/>
            </a:pPr>
            <a:r>
              <a:rPr lang="en-US" sz="1200" dirty="0">
                <a:solidFill>
                  <a:srgbClr val="FBBF24"/>
                </a:solidFill>
                <a:latin typeface="Calibri" pitchFamily="34" charset="0"/>
                <a:ea typeface="Calibri" pitchFamily="34" charset="-122"/>
                <a:cs typeface="Calibri" pitchFamily="34" charset="-120"/>
              </a:rPr>
              <a:t>One allocation: struct is boxed onto the heap</a:t>
            </a:r>
            <a:endParaRPr lang="en-US" sz="1200" dirty="0"/>
          </a:p>
        </p:txBody>
      </p:sp>
      <p:sp>
        <p:nvSpPr>
          <p:cNvPr id="12" name="Shape 10"/>
          <p:cNvSpPr/>
          <p:nvPr/>
        </p:nvSpPr>
        <p:spPr>
          <a:xfrm>
            <a:off x="457200" y="3840480"/>
            <a:ext cx="8229600" cy="411480"/>
          </a:xfrm>
          <a:prstGeom prst="rect">
            <a:avLst/>
          </a:prstGeom>
          <a:solidFill>
            <a:srgbClr val="1E293B"/>
          </a:solidFill>
          <a:ln/>
        </p:spPr>
        <p:txBody>
          <a:bodyPr/>
          <a:lstStyle/>
          <a:p>
            <a:endParaRPr lang="en-US"/>
          </a:p>
        </p:txBody>
      </p:sp>
      <p:sp>
        <p:nvSpPr>
          <p:cNvPr id="13" name="Text 11"/>
          <p:cNvSpPr/>
          <p:nvPr/>
        </p:nvSpPr>
        <p:spPr>
          <a:xfrm>
            <a:off x="640080" y="3840480"/>
            <a:ext cx="3657600" cy="411480"/>
          </a:xfrm>
          <a:prstGeom prst="rect">
            <a:avLst/>
          </a:prstGeom>
          <a:noFill/>
          <a:ln/>
        </p:spPr>
        <p:txBody>
          <a:bodyPr wrap="square" lIns="0" tIns="0" rIns="0" bIns="0" rtlCol="0" anchor="ctr"/>
          <a:lstStyle/>
          <a:p>
            <a:pPr marL="0" indent="0">
              <a:buNone/>
            </a:pPr>
            <a:r>
              <a:rPr lang="en-US" sz="1200" dirty="0">
                <a:solidFill>
                  <a:srgbClr val="F1F5F9"/>
                </a:solidFill>
                <a:latin typeface="Calibri" pitchFamily="34" charset="0"/>
                <a:ea typeface="Calibri" pitchFamily="34" charset="-122"/>
                <a:cs typeface="Calibri" pitchFamily="34" charset="-120"/>
              </a:rPr>
              <a:t>Compare: ContinueWith approach</a:t>
            </a:r>
            <a:endParaRPr lang="en-US" sz="1200" dirty="0"/>
          </a:p>
        </p:txBody>
      </p:sp>
      <p:sp>
        <p:nvSpPr>
          <p:cNvPr id="14" name="Text 12"/>
          <p:cNvSpPr/>
          <p:nvPr/>
        </p:nvSpPr>
        <p:spPr>
          <a:xfrm>
            <a:off x="4389120" y="3840480"/>
            <a:ext cx="4114800" cy="411480"/>
          </a:xfrm>
          <a:prstGeom prst="rect">
            <a:avLst/>
          </a:prstGeom>
          <a:noFill/>
          <a:ln/>
        </p:spPr>
        <p:txBody>
          <a:bodyPr wrap="square" lIns="0" tIns="0" rIns="0" bIns="0" rtlCol="0" anchor="ctr"/>
          <a:lstStyle/>
          <a:p>
            <a:pPr marL="0" indent="0">
              <a:buNone/>
            </a:pPr>
            <a:r>
              <a:rPr lang="en-US" sz="1200" dirty="0">
                <a:solidFill>
                  <a:srgbClr val="F87171"/>
                </a:solidFill>
                <a:latin typeface="Calibri" pitchFamily="34" charset="0"/>
                <a:ea typeface="Calibri" pitchFamily="34" charset="-122"/>
                <a:cs typeface="Calibri" pitchFamily="34" charset="-120"/>
              </a:rPr>
              <a:t>Multiple allocations per step (closures + delegates + Tasks)</a:t>
            </a:r>
            <a:endParaRPr lang="en-US" sz="1200" dirty="0"/>
          </a:p>
        </p:txBody>
      </p:sp>
      <p:sp>
        <p:nvSpPr>
          <p:cNvPr id="15" name="Shape 13"/>
          <p:cNvSpPr/>
          <p:nvPr/>
        </p:nvSpPr>
        <p:spPr>
          <a:xfrm>
            <a:off x="457200" y="4206240"/>
            <a:ext cx="8229600" cy="640080"/>
          </a:xfrm>
          <a:prstGeom prst="rect">
            <a:avLst/>
          </a:prstGeom>
          <a:solidFill>
            <a:srgbClr val="1E293B"/>
          </a:solidFill>
          <a:ln/>
        </p:spPr>
        <p:txBody>
          <a:bodyPr/>
          <a:lstStyle/>
          <a:p>
            <a:endParaRPr lang="en-US"/>
          </a:p>
        </p:txBody>
      </p:sp>
      <p:sp>
        <p:nvSpPr>
          <p:cNvPr id="16" name="Shape 14"/>
          <p:cNvSpPr/>
          <p:nvPr/>
        </p:nvSpPr>
        <p:spPr>
          <a:xfrm>
            <a:off x="457200" y="4206240"/>
            <a:ext cx="73152" cy="640080"/>
          </a:xfrm>
          <a:prstGeom prst="rect">
            <a:avLst/>
          </a:prstGeom>
          <a:solidFill>
            <a:srgbClr val="38BDF8"/>
          </a:solidFill>
          <a:ln/>
        </p:spPr>
        <p:txBody>
          <a:bodyPr/>
          <a:lstStyle/>
          <a:p>
            <a:endParaRPr lang="en-US"/>
          </a:p>
        </p:txBody>
      </p:sp>
      <p:sp>
        <p:nvSpPr>
          <p:cNvPr id="17" name="Text 15"/>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async/await: a struct, a switch, some callbacks. No magic - just a very clever compiler rewrite.</a:t>
            </a:r>
            <a:endParaRPr lang="en-US" sz="1300" dirty="0"/>
          </a:p>
        </p:txBody>
      </p:sp>
      <p:sp>
        <p:nvSpPr>
          <p:cNvPr id="18" name="Text 16"/>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10</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ConfigureAwait(false)</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When, why, and how it prevents deadlocks</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What ConfigureAwait(false) Does</a:t>
            </a:r>
            <a:endParaRPr lang="en-US" sz="2800" dirty="0"/>
          </a:p>
        </p:txBody>
      </p:sp>
      <p:sp>
        <p:nvSpPr>
          <p:cNvPr id="3" name="Text 1"/>
          <p:cNvSpPr/>
          <p:nvPr/>
        </p:nvSpPr>
        <p:spPr>
          <a:xfrm>
            <a:off x="457200" y="914400"/>
            <a:ext cx="8229600" cy="59436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Tells the infrastructure: skip SynchronizationContext capture.</a:t>
            </a:r>
            <a:endParaRPr lang="en-US" sz="1400" dirty="0"/>
          </a:p>
          <a:p>
            <a:pPr marL="0" indent="0">
              <a:buNone/>
            </a:pPr>
            <a:r>
              <a:rPr lang="en-US" sz="1400" dirty="0">
                <a:solidFill>
                  <a:srgbClr val="F1F5F9"/>
                </a:solidFill>
                <a:latin typeface="Calibri" pitchFamily="34" charset="0"/>
                <a:ea typeface="Calibri" pitchFamily="34" charset="-122"/>
                <a:cs typeface="Calibri" pitchFamily="34" charset="-120"/>
              </a:rPr>
              <a:t>Run my continuation on the ThreadPool, regardless of the original context.</a:t>
            </a:r>
            <a:endParaRPr lang="en-US" sz="1400" dirty="0"/>
          </a:p>
        </p:txBody>
      </p:sp>
      <p:sp>
        <p:nvSpPr>
          <p:cNvPr id="4" name="Text 2"/>
          <p:cNvSpPr/>
          <p:nvPr/>
        </p:nvSpPr>
        <p:spPr>
          <a:xfrm>
            <a:off x="457200" y="1691640"/>
            <a:ext cx="3931920" cy="320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Default (captures context)</a:t>
            </a:r>
            <a:endParaRPr lang="en-US" sz="1300" dirty="0"/>
          </a:p>
        </p:txBody>
      </p:sp>
      <p:sp>
        <p:nvSpPr>
          <p:cNvPr id="5" name="Shape 3"/>
          <p:cNvSpPr/>
          <p:nvPr/>
        </p:nvSpPr>
        <p:spPr>
          <a:xfrm>
            <a:off x="45720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6" name="Text 4"/>
          <p:cNvSpPr/>
          <p:nvPr/>
        </p:nvSpPr>
        <p:spPr>
          <a:xfrm>
            <a:off x="59436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UI app: runs on UI thread</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Console:  runs on ThreadPool</a:t>
            </a:r>
            <a:endParaRPr lang="en-US" sz="1100" dirty="0"/>
          </a:p>
        </p:txBody>
      </p:sp>
      <p:sp>
        <p:nvSpPr>
          <p:cNvPr id="7" name="Text 5"/>
          <p:cNvSpPr/>
          <p:nvPr/>
        </p:nvSpPr>
        <p:spPr>
          <a:xfrm>
            <a:off x="4754880" y="1691640"/>
            <a:ext cx="3931920" cy="32004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ConfigureAwait(false)</a:t>
            </a:r>
            <a:endParaRPr lang="en-US" sz="1300" dirty="0"/>
          </a:p>
        </p:txBody>
      </p:sp>
      <p:sp>
        <p:nvSpPr>
          <p:cNvPr id="8" name="Shape 6"/>
          <p:cNvSpPr/>
          <p:nvPr/>
        </p:nvSpPr>
        <p:spPr>
          <a:xfrm>
            <a:off x="4754880" y="2057400"/>
            <a:ext cx="3931920" cy="914400"/>
          </a:xfrm>
          <a:prstGeom prst="rect">
            <a:avLst/>
          </a:prstGeom>
          <a:solidFill>
            <a:srgbClr val="1E293B"/>
          </a:solidFill>
          <a:ln/>
          <a:effectLst>
            <a:outerShdw blurRad="101600" dist="38100" dir="8100000" algn="bl" rotWithShape="0">
              <a:srgbClr val="000000">
                <a:alpha val="30000"/>
              </a:srgbClr>
            </a:outerShdw>
          </a:effectLst>
        </p:spPr>
        <p:txBody>
          <a:bodyPr/>
          <a:lstStyle/>
          <a:p>
            <a:endParaRPr lang="en-US"/>
          </a:p>
        </p:txBody>
      </p:sp>
      <p:sp>
        <p:nvSpPr>
          <p:cNvPr id="9" name="Text 7"/>
          <p:cNvSpPr/>
          <p:nvPr/>
        </p:nvSpPr>
        <p:spPr>
          <a:xfrm>
            <a:off x="4892040" y="2148840"/>
            <a:ext cx="3657600" cy="731520"/>
          </a:xfrm>
          <a:prstGeom prst="rect">
            <a:avLst/>
          </a:prstGeom>
          <a:noFill/>
          <a:ln/>
        </p:spPr>
        <p:txBody>
          <a:bodyPr wrap="square" lIns="0" tIns="0" rIns="0" bIns="0" rtlCol="0" anchor="t"/>
          <a:lstStyle/>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await Task.Delay(1000)</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.ConfigureAwait(false);</a:t>
            </a:r>
            <a:endParaRPr lang="en-US" sz="1100" dirty="0"/>
          </a:p>
          <a:p>
            <a:pPr marL="0" indent="0">
              <a:spcAft>
                <a:spcPts val="200"/>
              </a:spcAft>
              <a:buNone/>
            </a:pPr>
            <a:r>
              <a:rPr lang="en-US" sz="1100" dirty="0">
                <a:solidFill>
                  <a:srgbClr val="E2E8F0"/>
                </a:solidFill>
                <a:latin typeface="Consolas" pitchFamily="34" charset="0"/>
                <a:ea typeface="Consolas" pitchFamily="34" charset="-122"/>
                <a:cs typeface="Consolas" pitchFamily="34" charset="-120"/>
              </a:rPr>
              <a:t>// ALWAYS runs on ThreadPool</a:t>
            </a:r>
            <a:endParaRPr lang="en-US" sz="1100" dirty="0"/>
          </a:p>
        </p:txBody>
      </p:sp>
      <p:sp>
        <p:nvSpPr>
          <p:cNvPr id="10" name="Text 8"/>
          <p:cNvSpPr/>
          <p:nvPr/>
        </p:nvSpPr>
        <p:spPr>
          <a:xfrm>
            <a:off x="457200" y="3200400"/>
            <a:ext cx="8229600" cy="5486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Mechanically: returns a ConfiguredTaskAwaitable whose awaiter skips</a:t>
            </a:r>
            <a:endParaRPr lang="en-US" sz="1300" dirty="0"/>
          </a:p>
          <a:p>
            <a:pPr marL="0" indent="0">
              <a:buNone/>
            </a:pPr>
            <a:r>
              <a:rPr lang="en-US" sz="1300" dirty="0">
                <a:solidFill>
                  <a:srgbClr val="94A3B8"/>
                </a:solidFill>
                <a:latin typeface="Calibri" pitchFamily="34" charset="0"/>
                <a:ea typeface="Calibri" pitchFamily="34" charset="-122"/>
                <a:cs typeface="Calibri" pitchFamily="34" charset="-120"/>
              </a:rPr>
              <a:t>the SynchronizationContext in </a:t>
            </a:r>
            <a:r>
              <a:rPr lang="en-US" sz="1300" dirty="0" err="1">
                <a:solidFill>
                  <a:srgbClr val="94A3B8"/>
                </a:solidFill>
                <a:latin typeface="Calibri" pitchFamily="34" charset="0"/>
                <a:ea typeface="Calibri" pitchFamily="34" charset="-122"/>
                <a:cs typeface="Calibri" pitchFamily="34" charset="-120"/>
              </a:rPr>
              <a:t>OnCompleted</a:t>
            </a:r>
            <a:endParaRPr lang="en-US" sz="1300" dirty="0"/>
          </a:p>
        </p:txBody>
      </p:sp>
      <p:sp>
        <p:nvSpPr>
          <p:cNvPr id="11" name="Shape 9"/>
          <p:cNvSpPr/>
          <p:nvPr/>
        </p:nvSpPr>
        <p:spPr>
          <a:xfrm>
            <a:off x="457200" y="4206240"/>
            <a:ext cx="8229600" cy="640080"/>
          </a:xfrm>
          <a:prstGeom prst="rect">
            <a:avLst/>
          </a:prstGeom>
          <a:solidFill>
            <a:srgbClr val="1E293B"/>
          </a:solidFill>
          <a:ln/>
        </p:spPr>
        <p:txBody>
          <a:bodyPr/>
          <a:lstStyle/>
          <a:p>
            <a:endParaRPr lang="en-US"/>
          </a:p>
        </p:txBody>
      </p:sp>
      <p:sp>
        <p:nvSpPr>
          <p:cNvPr id="12" name="Shape 10"/>
          <p:cNvSpPr/>
          <p:nvPr/>
        </p:nvSpPr>
        <p:spPr>
          <a:xfrm>
            <a:off x="457200" y="4206240"/>
            <a:ext cx="73152" cy="640080"/>
          </a:xfrm>
          <a:prstGeom prst="rect">
            <a:avLst/>
          </a:prstGeom>
          <a:solidFill>
            <a:srgbClr val="38BDF8"/>
          </a:solidFill>
          <a:ln/>
        </p:spPr>
        <p:txBody>
          <a:bodyPr/>
          <a:lstStyle/>
          <a:p>
            <a:endParaRPr lang="en-US"/>
          </a:p>
        </p:txBody>
      </p:sp>
      <p:sp>
        <p:nvSpPr>
          <p:cNvPr id="13" name="Text 11"/>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opts out of context capture; continuations go straight to the ThreadPool.</a:t>
            </a:r>
            <a:endParaRPr lang="en-US" sz="1300" dirty="0"/>
          </a:p>
        </p:txBody>
      </p:sp>
      <p:sp>
        <p:nvSpPr>
          <p:cNvPr id="14" name="Text 12"/>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When to Use ConfigureAwait(false)</a:t>
            </a:r>
            <a:endParaRPr lang="en-US" sz="2800" dirty="0"/>
          </a:p>
        </p:txBody>
      </p:sp>
      <p:sp>
        <p:nvSpPr>
          <p:cNvPr id="3" name="Shape 1"/>
          <p:cNvSpPr/>
          <p:nvPr/>
        </p:nvSpPr>
        <p:spPr>
          <a:xfrm>
            <a:off x="457200" y="1188720"/>
            <a:ext cx="8229600" cy="777240"/>
          </a:xfrm>
          <a:prstGeom prst="rect">
            <a:avLst/>
          </a:prstGeom>
          <a:solidFill>
            <a:srgbClr val="1E293B"/>
          </a:solidFill>
          <a:ln/>
        </p:spPr>
        <p:txBody>
          <a:bodyPr/>
          <a:lstStyle/>
          <a:p>
            <a:endParaRPr lang="en-US"/>
          </a:p>
        </p:txBody>
      </p:sp>
      <p:sp>
        <p:nvSpPr>
          <p:cNvPr id="4" name="Shape 2"/>
          <p:cNvSpPr/>
          <p:nvPr/>
        </p:nvSpPr>
        <p:spPr>
          <a:xfrm>
            <a:off x="457200" y="1188720"/>
            <a:ext cx="73152" cy="777240"/>
          </a:xfrm>
          <a:prstGeom prst="rect">
            <a:avLst/>
          </a:prstGeom>
          <a:solidFill>
            <a:srgbClr val="4ADE80"/>
          </a:solidFill>
          <a:ln/>
        </p:spPr>
        <p:txBody>
          <a:bodyPr/>
          <a:lstStyle/>
          <a:p>
            <a:endParaRPr lang="en-US"/>
          </a:p>
        </p:txBody>
      </p:sp>
      <p:sp>
        <p:nvSpPr>
          <p:cNvPr id="5" name="Text 3"/>
          <p:cNvSpPr/>
          <p:nvPr/>
        </p:nvSpPr>
        <p:spPr>
          <a:xfrm>
            <a:off x="731520" y="1188720"/>
            <a:ext cx="2011680" cy="365760"/>
          </a:xfrm>
          <a:prstGeom prst="rect">
            <a:avLst/>
          </a:prstGeom>
          <a:noFill/>
          <a:ln/>
        </p:spPr>
        <p:txBody>
          <a:bodyPr wrap="square" lIns="0" tIns="0" rIns="0" bIns="0"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Library code</a:t>
            </a:r>
            <a:endParaRPr lang="en-US" sz="1400" dirty="0"/>
          </a:p>
        </p:txBody>
      </p:sp>
      <p:sp>
        <p:nvSpPr>
          <p:cNvPr id="6" name="Text 4"/>
          <p:cNvSpPr/>
          <p:nvPr/>
        </p:nvSpPr>
        <p:spPr>
          <a:xfrm>
            <a:off x="731520" y="153619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USE IT on every await</a:t>
            </a:r>
            <a:endParaRPr lang="en-US" sz="1200" dirty="0"/>
          </a:p>
        </p:txBody>
      </p:sp>
      <p:sp>
        <p:nvSpPr>
          <p:cNvPr id="7" name="Text 5"/>
          <p:cNvSpPr/>
          <p:nvPr/>
        </p:nvSpPr>
        <p:spPr>
          <a:xfrm>
            <a:off x="2926080" y="118872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Prevents deadlocks, avoids unnecessary marshalling</a:t>
            </a:r>
            <a:endParaRPr lang="en-US" sz="1300" dirty="0"/>
          </a:p>
        </p:txBody>
      </p:sp>
      <p:sp>
        <p:nvSpPr>
          <p:cNvPr id="8" name="Shape 6"/>
          <p:cNvSpPr/>
          <p:nvPr/>
        </p:nvSpPr>
        <p:spPr>
          <a:xfrm>
            <a:off x="457200" y="2148840"/>
            <a:ext cx="8229600" cy="777240"/>
          </a:xfrm>
          <a:prstGeom prst="rect">
            <a:avLst/>
          </a:prstGeom>
          <a:solidFill>
            <a:srgbClr val="1E293B"/>
          </a:solidFill>
          <a:ln/>
        </p:spPr>
        <p:txBody>
          <a:bodyPr/>
          <a:lstStyle/>
          <a:p>
            <a:endParaRPr lang="en-US"/>
          </a:p>
        </p:txBody>
      </p:sp>
      <p:sp>
        <p:nvSpPr>
          <p:cNvPr id="9" name="Shape 7"/>
          <p:cNvSpPr/>
          <p:nvPr/>
        </p:nvSpPr>
        <p:spPr>
          <a:xfrm>
            <a:off x="457200" y="2148840"/>
            <a:ext cx="73152" cy="777240"/>
          </a:xfrm>
          <a:prstGeom prst="rect">
            <a:avLst/>
          </a:prstGeom>
          <a:solidFill>
            <a:srgbClr val="F87171"/>
          </a:solidFill>
          <a:ln/>
        </p:spPr>
        <p:txBody>
          <a:bodyPr/>
          <a:lstStyle/>
          <a:p>
            <a:endParaRPr lang="en-US"/>
          </a:p>
        </p:txBody>
      </p:sp>
      <p:sp>
        <p:nvSpPr>
          <p:cNvPr id="10" name="Text 8"/>
          <p:cNvSpPr/>
          <p:nvPr/>
        </p:nvSpPr>
        <p:spPr>
          <a:xfrm>
            <a:off x="731520" y="2148840"/>
            <a:ext cx="2011680" cy="365760"/>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UI application code</a:t>
            </a:r>
            <a:endParaRPr lang="en-US" sz="1400" dirty="0"/>
          </a:p>
        </p:txBody>
      </p:sp>
      <p:sp>
        <p:nvSpPr>
          <p:cNvPr id="11" name="Text 9"/>
          <p:cNvSpPr/>
          <p:nvPr/>
        </p:nvSpPr>
        <p:spPr>
          <a:xfrm>
            <a:off x="731520" y="249631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DON’T use it</a:t>
            </a:r>
            <a:endParaRPr lang="en-US" sz="1200" dirty="0"/>
          </a:p>
        </p:txBody>
      </p:sp>
      <p:sp>
        <p:nvSpPr>
          <p:cNvPr id="12" name="Text 10"/>
          <p:cNvSpPr/>
          <p:nvPr/>
        </p:nvSpPr>
        <p:spPr>
          <a:xfrm>
            <a:off x="2926080" y="214884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You need to stay on the UI thread to update controls</a:t>
            </a:r>
            <a:endParaRPr lang="en-US" sz="1300" dirty="0"/>
          </a:p>
        </p:txBody>
      </p:sp>
      <p:sp>
        <p:nvSpPr>
          <p:cNvPr id="13" name="Shape 11"/>
          <p:cNvSpPr/>
          <p:nvPr/>
        </p:nvSpPr>
        <p:spPr>
          <a:xfrm>
            <a:off x="457200" y="3108960"/>
            <a:ext cx="8229600" cy="777240"/>
          </a:xfrm>
          <a:prstGeom prst="rect">
            <a:avLst/>
          </a:prstGeom>
          <a:solidFill>
            <a:srgbClr val="1E293B"/>
          </a:solidFill>
          <a:ln/>
        </p:spPr>
        <p:txBody>
          <a:bodyPr/>
          <a:lstStyle/>
          <a:p>
            <a:endParaRPr lang="en-US"/>
          </a:p>
        </p:txBody>
      </p:sp>
      <p:sp>
        <p:nvSpPr>
          <p:cNvPr id="14" name="Shape 12"/>
          <p:cNvSpPr/>
          <p:nvPr/>
        </p:nvSpPr>
        <p:spPr>
          <a:xfrm>
            <a:off x="457200" y="3108960"/>
            <a:ext cx="73152" cy="777240"/>
          </a:xfrm>
          <a:prstGeom prst="rect">
            <a:avLst/>
          </a:prstGeom>
          <a:solidFill>
            <a:srgbClr val="FBBF24"/>
          </a:solidFill>
          <a:ln/>
        </p:spPr>
        <p:txBody>
          <a:bodyPr/>
          <a:lstStyle/>
          <a:p>
            <a:endParaRPr lang="en-US"/>
          </a:p>
        </p:txBody>
      </p:sp>
      <p:sp>
        <p:nvSpPr>
          <p:cNvPr id="15" name="Text 13"/>
          <p:cNvSpPr/>
          <p:nvPr/>
        </p:nvSpPr>
        <p:spPr>
          <a:xfrm>
            <a:off x="731520" y="3108960"/>
            <a:ext cx="2011680" cy="365760"/>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ASP.NET Core</a:t>
            </a:r>
            <a:endParaRPr lang="en-US" sz="1400" dirty="0"/>
          </a:p>
        </p:txBody>
      </p:sp>
      <p:sp>
        <p:nvSpPr>
          <p:cNvPr id="16" name="Text 14"/>
          <p:cNvSpPr/>
          <p:nvPr/>
        </p:nvSpPr>
        <p:spPr>
          <a:xfrm>
            <a:off x="731520" y="3456432"/>
            <a:ext cx="2011680" cy="365760"/>
          </a:xfrm>
          <a:prstGeom prst="rect">
            <a:avLst/>
          </a:prstGeom>
          <a:noFill/>
          <a:ln/>
        </p:spPr>
        <p:txBody>
          <a:bodyPr wrap="square" lIns="0" tIns="0" rIns="0" bIns="0" rtlCol="0" anchor="t"/>
          <a:lstStyle/>
          <a:p>
            <a:pPr marL="0" indent="0">
              <a:buNone/>
            </a:pPr>
            <a:r>
              <a:rPr lang="en-US" sz="1200" dirty="0">
                <a:solidFill>
                  <a:srgbClr val="F1F5F9"/>
                </a:solidFill>
                <a:latin typeface="Calibri" pitchFamily="34" charset="0"/>
                <a:ea typeface="Calibri" pitchFamily="34" charset="-122"/>
                <a:cs typeface="Calibri" pitchFamily="34" charset="-120"/>
              </a:rPr>
              <a:t>Largely a no-op</a:t>
            </a:r>
            <a:endParaRPr lang="en-US" sz="1200" dirty="0"/>
          </a:p>
        </p:txBody>
      </p:sp>
      <p:sp>
        <p:nvSpPr>
          <p:cNvPr id="17" name="Text 15"/>
          <p:cNvSpPr/>
          <p:nvPr/>
        </p:nvSpPr>
        <p:spPr>
          <a:xfrm>
            <a:off x="2926080" y="3108960"/>
            <a:ext cx="5577840" cy="7772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No SynchronizationContext exists, but good habit in libraries</a:t>
            </a:r>
            <a:endParaRPr lang="en-US" sz="1300" dirty="0"/>
          </a:p>
        </p:txBody>
      </p:sp>
      <p:sp>
        <p:nvSpPr>
          <p:cNvPr id="18" name="Shape 16"/>
          <p:cNvSpPr/>
          <p:nvPr/>
        </p:nvSpPr>
        <p:spPr>
          <a:xfrm>
            <a:off x="457200" y="4206240"/>
            <a:ext cx="8229600" cy="640080"/>
          </a:xfrm>
          <a:prstGeom prst="rect">
            <a:avLst/>
          </a:prstGeom>
          <a:solidFill>
            <a:srgbClr val="1E293B"/>
          </a:solidFill>
          <a:ln/>
        </p:spPr>
        <p:txBody>
          <a:bodyPr/>
          <a:lstStyle/>
          <a:p>
            <a:endParaRPr lang="en-US" dirty="0"/>
          </a:p>
        </p:txBody>
      </p:sp>
      <p:sp>
        <p:nvSpPr>
          <p:cNvPr id="19" name="Shape 17"/>
          <p:cNvSpPr/>
          <p:nvPr/>
        </p:nvSpPr>
        <p:spPr>
          <a:xfrm>
            <a:off x="457200" y="4206240"/>
            <a:ext cx="73152" cy="640080"/>
          </a:xfrm>
          <a:prstGeom prst="rect">
            <a:avLst/>
          </a:prstGeom>
          <a:solidFill>
            <a:srgbClr val="38BDF8"/>
          </a:solidFill>
          <a:ln/>
        </p:spPr>
        <p:txBody>
          <a:bodyPr/>
          <a:lstStyle/>
          <a:p>
            <a:endParaRPr lang="en-US"/>
          </a:p>
        </p:txBody>
      </p:sp>
      <p:sp>
        <p:nvSpPr>
          <p:cNvPr id="20" name="Text 18"/>
          <p:cNvSpPr/>
          <p:nvPr/>
        </p:nvSpPr>
        <p:spPr>
          <a:xfrm>
            <a:off x="777240" y="4206240"/>
            <a:ext cx="7772400" cy="640080"/>
          </a:xfrm>
          <a:prstGeom prst="rect">
            <a:avLst/>
          </a:prstGeom>
          <a:noFill/>
          <a:ln/>
        </p:spPr>
        <p:txBody>
          <a:bodyPr wrap="square" lIns="0" tIns="0" rIns="0" bIns="0" rtlCol="0" anchor="ctr"/>
          <a:lstStyle/>
          <a:p>
            <a:pPr marL="0" indent="0">
              <a:buNone/>
            </a:pPr>
            <a:r>
              <a:rPr lang="en-US" sz="1300" i="1" dirty="0">
                <a:solidFill>
                  <a:srgbClr val="F1F5F9"/>
                </a:solidFill>
                <a:latin typeface="Calibri" pitchFamily="34" charset="0"/>
                <a:ea typeface="Calibri" pitchFamily="34" charset="-122"/>
                <a:cs typeface="Calibri" pitchFamily="34" charset="-120"/>
              </a:rPr>
              <a:t>ConfigureAwait(false) is a correctness and performance tool for library authors, but it comes with maintainability tradeoffs</a:t>
            </a:r>
            <a:endParaRPr lang="en-US" sz="1300" dirty="0"/>
          </a:p>
        </p:txBody>
      </p:sp>
      <p:sp>
        <p:nvSpPr>
          <p:cNvPr id="21" name="Text 19"/>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p:spPr>
        <p:txBody>
          <a:bodyPr/>
          <a:lstStyle/>
          <a:p>
            <a:endParaRPr lang="en-US"/>
          </a:p>
        </p:txBody>
      </p:sp>
      <p:sp>
        <p:nvSpPr>
          <p:cNvPr id="3" name="Text 1"/>
          <p:cNvSpPr/>
          <p:nvPr/>
        </p:nvSpPr>
        <p:spPr>
          <a:xfrm>
            <a:off x="548640" y="914400"/>
            <a:ext cx="1828800" cy="1097280"/>
          </a:xfrm>
          <a:prstGeom prst="rect">
            <a:avLst/>
          </a:prstGeom>
          <a:noFill/>
          <a:ln/>
        </p:spPr>
        <p:txBody>
          <a:bodyPr wrap="square" lIns="0" tIns="0" rIns="0" bIns="0" rtlCol="0" anchor="ctr"/>
          <a:lstStyle/>
          <a:p>
            <a:pPr marL="0" indent="0">
              <a:buNone/>
            </a:pPr>
            <a:r>
              <a:rPr lang="en-US" sz="6000" b="1" dirty="0">
                <a:solidFill>
                  <a:srgbClr val="38BDF8"/>
                </a:solidFill>
                <a:latin typeface="Trebuchet MS" pitchFamily="34" charset="0"/>
                <a:ea typeface="Trebuchet MS" pitchFamily="34" charset="-122"/>
                <a:cs typeface="Trebuchet MS" pitchFamily="34" charset="-120"/>
              </a:rPr>
              <a:t>11</a:t>
            </a:r>
            <a:endParaRPr lang="en-US" sz="6000" dirty="0"/>
          </a:p>
        </p:txBody>
      </p:sp>
      <p:sp>
        <p:nvSpPr>
          <p:cNvPr id="4" name="Text 2"/>
          <p:cNvSpPr/>
          <p:nvPr/>
        </p:nvSpPr>
        <p:spPr>
          <a:xfrm>
            <a:off x="548640" y="1920240"/>
            <a:ext cx="7772400" cy="1097280"/>
          </a:xfrm>
          <a:prstGeom prst="rect">
            <a:avLst/>
          </a:prstGeom>
          <a:noFill/>
          <a:ln/>
        </p:spPr>
        <p:txBody>
          <a:bodyPr wrap="square" lIns="0" tIns="0" rIns="0" bIns="0" rtlCol="0" anchor="ctr"/>
          <a:lstStyle/>
          <a:p>
            <a:pPr marL="0" indent="0">
              <a:buNone/>
            </a:pPr>
            <a:r>
              <a:rPr lang="en-US" sz="3600" b="1" dirty="0">
                <a:solidFill>
                  <a:srgbClr val="F1F5F9"/>
                </a:solidFill>
                <a:latin typeface="Trebuchet MS" pitchFamily="34" charset="0"/>
                <a:ea typeface="Trebuchet MS" pitchFamily="34" charset="-122"/>
                <a:cs typeface="Trebuchet MS" pitchFamily="34" charset="-120"/>
              </a:rPr>
              <a:t>Putting It All Together</a:t>
            </a:r>
            <a:endParaRPr lang="en-US" sz="3600" dirty="0"/>
          </a:p>
        </p:txBody>
      </p:sp>
      <p:sp>
        <p:nvSpPr>
          <p:cNvPr id="5" name="Text 3"/>
          <p:cNvSpPr/>
          <p:nvPr/>
        </p:nvSpPr>
        <p:spPr>
          <a:xfrm>
            <a:off x="548640" y="2926080"/>
            <a:ext cx="7315200" cy="73152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The complete mental model</a:t>
            </a:r>
            <a:endParaRPr lang="en-US" sz="1600" dirty="0"/>
          </a:p>
        </p:txBody>
      </p:sp>
      <p:sp>
        <p:nvSpPr>
          <p:cNvPr id="6" name="Text 4"/>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1F5F9"/>
                </a:solidFill>
                <a:latin typeface="Trebuchet MS" pitchFamily="34" charset="0"/>
                <a:ea typeface="Trebuchet MS" pitchFamily="34" charset="-122"/>
                <a:cs typeface="Trebuchet MS" pitchFamily="34" charset="-120"/>
              </a:rPr>
              <a:t>The Complete Picture</a:t>
            </a:r>
            <a:endParaRPr lang="en-US" sz="2800" dirty="0"/>
          </a:p>
        </p:txBody>
      </p:sp>
      <p:sp>
        <p:nvSpPr>
          <p:cNvPr id="3" name="Shape 1"/>
          <p:cNvSpPr/>
          <p:nvPr/>
        </p:nvSpPr>
        <p:spPr>
          <a:xfrm>
            <a:off x="457200" y="1005840"/>
            <a:ext cx="64008" cy="347472"/>
          </a:xfrm>
          <a:prstGeom prst="rect">
            <a:avLst/>
          </a:prstGeom>
          <a:solidFill>
            <a:srgbClr val="38BDF8"/>
          </a:solidFill>
          <a:ln/>
        </p:spPr>
        <p:txBody>
          <a:bodyPr/>
          <a:lstStyle/>
          <a:p>
            <a:endParaRPr lang="en-US"/>
          </a:p>
        </p:txBody>
      </p:sp>
      <p:sp>
        <p:nvSpPr>
          <p:cNvPr id="4" name="Text 2"/>
          <p:cNvSpPr/>
          <p:nvPr/>
        </p:nvSpPr>
        <p:spPr>
          <a:xfrm>
            <a:off x="640080" y="10058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02</a:t>
            </a:r>
            <a:endParaRPr lang="en-US" sz="1000" dirty="0"/>
          </a:p>
        </p:txBody>
      </p:sp>
      <p:sp>
        <p:nvSpPr>
          <p:cNvPr id="5" name="Text 3"/>
          <p:cNvSpPr/>
          <p:nvPr/>
        </p:nvSpPr>
        <p:spPr>
          <a:xfrm>
            <a:off x="1051560" y="10058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Why async exists</a:t>
            </a:r>
            <a:endParaRPr lang="en-US" sz="1200" dirty="0"/>
          </a:p>
        </p:txBody>
      </p:sp>
      <p:sp>
        <p:nvSpPr>
          <p:cNvPr id="6" name="Text 4"/>
          <p:cNvSpPr/>
          <p:nvPr/>
        </p:nvSpPr>
        <p:spPr>
          <a:xfrm>
            <a:off x="3474720" y="10058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Free threads during waits, not parallelism</a:t>
            </a:r>
            <a:endParaRPr lang="en-US" sz="1200" dirty="0"/>
          </a:p>
        </p:txBody>
      </p:sp>
      <p:sp>
        <p:nvSpPr>
          <p:cNvPr id="7" name="Shape 5"/>
          <p:cNvSpPr/>
          <p:nvPr/>
        </p:nvSpPr>
        <p:spPr>
          <a:xfrm>
            <a:off x="457200" y="1417320"/>
            <a:ext cx="64008" cy="347472"/>
          </a:xfrm>
          <a:prstGeom prst="rect">
            <a:avLst/>
          </a:prstGeom>
          <a:solidFill>
            <a:srgbClr val="38BDF8"/>
          </a:solidFill>
          <a:ln/>
        </p:spPr>
        <p:txBody>
          <a:bodyPr/>
          <a:lstStyle/>
          <a:p>
            <a:endParaRPr lang="en-US"/>
          </a:p>
        </p:txBody>
      </p:sp>
      <p:sp>
        <p:nvSpPr>
          <p:cNvPr id="8" name="Text 6"/>
          <p:cNvSpPr/>
          <p:nvPr/>
        </p:nvSpPr>
        <p:spPr>
          <a:xfrm>
            <a:off x="640080" y="141732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03</a:t>
            </a:r>
            <a:endParaRPr lang="en-US" sz="1000" dirty="0"/>
          </a:p>
        </p:txBody>
      </p:sp>
      <p:sp>
        <p:nvSpPr>
          <p:cNvPr id="9" name="Text 7"/>
          <p:cNvSpPr/>
          <p:nvPr/>
        </p:nvSpPr>
        <p:spPr>
          <a:xfrm>
            <a:off x="1051560" y="14173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Before await</a:t>
            </a:r>
            <a:endParaRPr lang="en-US" sz="1200" dirty="0"/>
          </a:p>
        </p:txBody>
      </p:sp>
      <p:sp>
        <p:nvSpPr>
          <p:cNvPr id="10" name="Text 8"/>
          <p:cNvSpPr/>
          <p:nvPr/>
        </p:nvSpPr>
        <p:spPr>
          <a:xfrm>
            <a:off x="3474720" y="14173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Callback hell with ContinueWith</a:t>
            </a:r>
            <a:endParaRPr lang="en-US" sz="1200" dirty="0"/>
          </a:p>
        </p:txBody>
      </p:sp>
      <p:sp>
        <p:nvSpPr>
          <p:cNvPr id="11" name="Shape 9"/>
          <p:cNvSpPr/>
          <p:nvPr/>
        </p:nvSpPr>
        <p:spPr>
          <a:xfrm>
            <a:off x="457200" y="1828800"/>
            <a:ext cx="64008" cy="347472"/>
          </a:xfrm>
          <a:prstGeom prst="rect">
            <a:avLst/>
          </a:prstGeom>
          <a:solidFill>
            <a:srgbClr val="A78BFA"/>
          </a:solidFill>
          <a:ln/>
        </p:spPr>
        <p:txBody>
          <a:bodyPr/>
          <a:lstStyle/>
          <a:p>
            <a:endParaRPr lang="en-US"/>
          </a:p>
        </p:txBody>
      </p:sp>
      <p:sp>
        <p:nvSpPr>
          <p:cNvPr id="12" name="Text 10"/>
          <p:cNvSpPr/>
          <p:nvPr/>
        </p:nvSpPr>
        <p:spPr>
          <a:xfrm>
            <a:off x="640080" y="18288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04</a:t>
            </a:r>
            <a:endParaRPr lang="en-US" sz="1000" dirty="0"/>
          </a:p>
        </p:txBody>
      </p:sp>
      <p:sp>
        <p:nvSpPr>
          <p:cNvPr id="13" name="Text 11"/>
          <p:cNvSpPr/>
          <p:nvPr/>
        </p:nvSpPr>
        <p:spPr>
          <a:xfrm>
            <a:off x="1051560" y="18288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Task</a:t>
            </a:r>
            <a:endParaRPr lang="en-US" sz="1200" dirty="0"/>
          </a:p>
        </p:txBody>
      </p:sp>
      <p:sp>
        <p:nvSpPr>
          <p:cNvPr id="14" name="Text 12"/>
          <p:cNvSpPr/>
          <p:nvPr/>
        </p:nvSpPr>
        <p:spPr>
          <a:xfrm>
            <a:off x="3474720" y="18288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 promise (data structure), not a thread</a:t>
            </a:r>
            <a:endParaRPr lang="en-US" sz="1200" dirty="0"/>
          </a:p>
        </p:txBody>
      </p:sp>
      <p:sp>
        <p:nvSpPr>
          <p:cNvPr id="15" name="Shape 13"/>
          <p:cNvSpPr/>
          <p:nvPr/>
        </p:nvSpPr>
        <p:spPr>
          <a:xfrm>
            <a:off x="457200" y="2240280"/>
            <a:ext cx="64008" cy="347472"/>
          </a:xfrm>
          <a:prstGeom prst="rect">
            <a:avLst/>
          </a:prstGeom>
          <a:solidFill>
            <a:srgbClr val="A78BFA"/>
          </a:solidFill>
          <a:ln/>
        </p:spPr>
        <p:txBody>
          <a:bodyPr/>
          <a:lstStyle/>
          <a:p>
            <a:endParaRPr lang="en-US"/>
          </a:p>
        </p:txBody>
      </p:sp>
      <p:sp>
        <p:nvSpPr>
          <p:cNvPr id="16" name="Text 14"/>
          <p:cNvSpPr/>
          <p:nvPr/>
        </p:nvSpPr>
        <p:spPr>
          <a:xfrm>
            <a:off x="640080" y="224028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05</a:t>
            </a:r>
            <a:endParaRPr lang="en-US" sz="1000" dirty="0"/>
          </a:p>
        </p:txBody>
      </p:sp>
      <p:sp>
        <p:nvSpPr>
          <p:cNvPr id="17" name="Text 15"/>
          <p:cNvSpPr/>
          <p:nvPr/>
        </p:nvSpPr>
        <p:spPr>
          <a:xfrm>
            <a:off x="1051560" y="224028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ThreadPool</a:t>
            </a:r>
            <a:endParaRPr lang="en-US" sz="1200" dirty="0"/>
          </a:p>
        </p:txBody>
      </p:sp>
      <p:sp>
        <p:nvSpPr>
          <p:cNvPr id="18" name="Text 16"/>
          <p:cNvSpPr/>
          <p:nvPr/>
        </p:nvSpPr>
        <p:spPr>
          <a:xfrm>
            <a:off x="3474720" y="224028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Default engine for work items and continuations</a:t>
            </a:r>
            <a:endParaRPr lang="en-US" sz="1200" dirty="0"/>
          </a:p>
        </p:txBody>
      </p:sp>
      <p:sp>
        <p:nvSpPr>
          <p:cNvPr id="19" name="Shape 17"/>
          <p:cNvSpPr/>
          <p:nvPr/>
        </p:nvSpPr>
        <p:spPr>
          <a:xfrm>
            <a:off x="457200" y="2651760"/>
            <a:ext cx="64008" cy="347472"/>
          </a:xfrm>
          <a:prstGeom prst="rect">
            <a:avLst/>
          </a:prstGeom>
          <a:solidFill>
            <a:srgbClr val="4ADE80"/>
          </a:solidFill>
          <a:ln/>
        </p:spPr>
        <p:txBody>
          <a:bodyPr/>
          <a:lstStyle/>
          <a:p>
            <a:endParaRPr lang="en-US"/>
          </a:p>
        </p:txBody>
      </p:sp>
      <p:sp>
        <p:nvSpPr>
          <p:cNvPr id="20" name="Text 18"/>
          <p:cNvSpPr/>
          <p:nvPr/>
        </p:nvSpPr>
        <p:spPr>
          <a:xfrm>
            <a:off x="640080" y="265176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06</a:t>
            </a:r>
            <a:endParaRPr lang="en-US" sz="1000" dirty="0"/>
          </a:p>
        </p:txBody>
      </p:sp>
      <p:sp>
        <p:nvSpPr>
          <p:cNvPr id="21" name="Text 19"/>
          <p:cNvSpPr/>
          <p:nvPr/>
        </p:nvSpPr>
        <p:spPr>
          <a:xfrm>
            <a:off x="1051560" y="265176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SynchronizationContext</a:t>
            </a:r>
            <a:endParaRPr lang="en-US" sz="1200" dirty="0"/>
          </a:p>
        </p:txBody>
      </p:sp>
      <p:sp>
        <p:nvSpPr>
          <p:cNvPr id="22" name="Text 20"/>
          <p:cNvSpPr/>
          <p:nvPr/>
        </p:nvSpPr>
        <p:spPr>
          <a:xfrm>
            <a:off x="3474720" y="265176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Decides where continuations run</a:t>
            </a:r>
            <a:endParaRPr lang="en-US" sz="1200" dirty="0"/>
          </a:p>
        </p:txBody>
      </p:sp>
      <p:sp>
        <p:nvSpPr>
          <p:cNvPr id="23" name="Shape 21"/>
          <p:cNvSpPr/>
          <p:nvPr/>
        </p:nvSpPr>
        <p:spPr>
          <a:xfrm>
            <a:off x="457200" y="3063240"/>
            <a:ext cx="64008" cy="347472"/>
          </a:xfrm>
          <a:prstGeom prst="rect">
            <a:avLst/>
          </a:prstGeom>
          <a:solidFill>
            <a:srgbClr val="4ADE80"/>
          </a:solidFill>
          <a:ln/>
        </p:spPr>
        <p:txBody>
          <a:bodyPr/>
          <a:lstStyle/>
          <a:p>
            <a:endParaRPr lang="en-US"/>
          </a:p>
        </p:txBody>
      </p:sp>
      <p:sp>
        <p:nvSpPr>
          <p:cNvPr id="24" name="Text 22"/>
          <p:cNvSpPr/>
          <p:nvPr/>
        </p:nvSpPr>
        <p:spPr>
          <a:xfrm>
            <a:off x="640080" y="306324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07</a:t>
            </a:r>
            <a:endParaRPr lang="en-US" sz="1000" dirty="0"/>
          </a:p>
        </p:txBody>
      </p:sp>
      <p:sp>
        <p:nvSpPr>
          <p:cNvPr id="25" name="Text 23"/>
          <p:cNvSpPr/>
          <p:nvPr/>
        </p:nvSpPr>
        <p:spPr>
          <a:xfrm>
            <a:off x="1051560" y="306324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ExecutionContext</a:t>
            </a:r>
            <a:endParaRPr lang="en-US" sz="1200" dirty="0"/>
          </a:p>
        </p:txBody>
      </p:sp>
      <p:sp>
        <p:nvSpPr>
          <p:cNvPr id="26" name="Text 24"/>
          <p:cNvSpPr/>
          <p:nvPr/>
        </p:nvSpPr>
        <p:spPr>
          <a:xfrm>
            <a:off x="3474720" y="306324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Ambient state flows across thread hops</a:t>
            </a:r>
            <a:endParaRPr lang="en-US" sz="1200" dirty="0"/>
          </a:p>
        </p:txBody>
      </p:sp>
      <p:sp>
        <p:nvSpPr>
          <p:cNvPr id="27" name="Shape 25"/>
          <p:cNvSpPr/>
          <p:nvPr/>
        </p:nvSpPr>
        <p:spPr>
          <a:xfrm>
            <a:off x="457200" y="3474720"/>
            <a:ext cx="64008" cy="347472"/>
          </a:xfrm>
          <a:prstGeom prst="rect">
            <a:avLst/>
          </a:prstGeom>
          <a:solidFill>
            <a:srgbClr val="FBBF24"/>
          </a:solidFill>
          <a:ln/>
        </p:spPr>
        <p:txBody>
          <a:bodyPr/>
          <a:lstStyle/>
          <a:p>
            <a:endParaRPr lang="en-US"/>
          </a:p>
        </p:txBody>
      </p:sp>
      <p:sp>
        <p:nvSpPr>
          <p:cNvPr id="28" name="Text 26"/>
          <p:cNvSpPr/>
          <p:nvPr/>
        </p:nvSpPr>
        <p:spPr>
          <a:xfrm>
            <a:off x="640080" y="347472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08</a:t>
            </a:r>
            <a:endParaRPr lang="en-US" sz="1000" dirty="0"/>
          </a:p>
        </p:txBody>
      </p:sp>
      <p:sp>
        <p:nvSpPr>
          <p:cNvPr id="29" name="Text 27"/>
          <p:cNvSpPr/>
          <p:nvPr/>
        </p:nvSpPr>
        <p:spPr>
          <a:xfrm>
            <a:off x="1051560" y="347472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Awaitable pattern</a:t>
            </a:r>
            <a:endParaRPr lang="en-US" sz="1200" dirty="0"/>
          </a:p>
        </p:txBody>
      </p:sp>
      <p:sp>
        <p:nvSpPr>
          <p:cNvPr id="30" name="Text 28"/>
          <p:cNvSpPr/>
          <p:nvPr/>
        </p:nvSpPr>
        <p:spPr>
          <a:xfrm>
            <a:off x="3474720" y="347472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GetAwaiter() - pattern-based, not type-based</a:t>
            </a:r>
            <a:endParaRPr lang="en-US" sz="1200" dirty="0"/>
          </a:p>
        </p:txBody>
      </p:sp>
      <p:sp>
        <p:nvSpPr>
          <p:cNvPr id="31" name="Shape 29"/>
          <p:cNvSpPr/>
          <p:nvPr/>
        </p:nvSpPr>
        <p:spPr>
          <a:xfrm>
            <a:off x="457200" y="3886200"/>
            <a:ext cx="64008" cy="347472"/>
          </a:xfrm>
          <a:prstGeom prst="rect">
            <a:avLst/>
          </a:prstGeom>
          <a:solidFill>
            <a:srgbClr val="FBBF24"/>
          </a:solidFill>
          <a:ln/>
        </p:spPr>
        <p:txBody>
          <a:bodyPr/>
          <a:lstStyle/>
          <a:p>
            <a:endParaRPr lang="en-US"/>
          </a:p>
        </p:txBody>
      </p:sp>
      <p:sp>
        <p:nvSpPr>
          <p:cNvPr id="32" name="Text 30"/>
          <p:cNvSpPr/>
          <p:nvPr/>
        </p:nvSpPr>
        <p:spPr>
          <a:xfrm>
            <a:off x="640080" y="388620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09</a:t>
            </a:r>
            <a:endParaRPr lang="en-US" sz="1000" dirty="0"/>
          </a:p>
        </p:txBody>
      </p:sp>
      <p:sp>
        <p:nvSpPr>
          <p:cNvPr id="33" name="Text 31"/>
          <p:cNvSpPr/>
          <p:nvPr/>
        </p:nvSpPr>
        <p:spPr>
          <a:xfrm>
            <a:off x="1051560" y="388620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State machine</a:t>
            </a:r>
            <a:endParaRPr lang="en-US" sz="1200" dirty="0"/>
          </a:p>
        </p:txBody>
      </p:sp>
      <p:sp>
        <p:nvSpPr>
          <p:cNvPr id="34" name="Text 32"/>
          <p:cNvSpPr/>
          <p:nvPr/>
        </p:nvSpPr>
        <p:spPr>
          <a:xfrm>
            <a:off x="3474720" y="388620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Compiler rewrites to struct + MoveNext() + switch</a:t>
            </a:r>
            <a:endParaRPr lang="en-US" sz="1200" dirty="0"/>
          </a:p>
        </p:txBody>
      </p:sp>
      <p:sp>
        <p:nvSpPr>
          <p:cNvPr id="35" name="Shape 33"/>
          <p:cNvSpPr/>
          <p:nvPr/>
        </p:nvSpPr>
        <p:spPr>
          <a:xfrm>
            <a:off x="457200" y="4297680"/>
            <a:ext cx="64008" cy="347472"/>
          </a:xfrm>
          <a:prstGeom prst="rect">
            <a:avLst/>
          </a:prstGeom>
          <a:solidFill>
            <a:srgbClr val="FB923C"/>
          </a:solidFill>
          <a:ln/>
        </p:spPr>
        <p:txBody>
          <a:bodyPr/>
          <a:lstStyle/>
          <a:p>
            <a:endParaRPr lang="en-US"/>
          </a:p>
        </p:txBody>
      </p:sp>
      <p:sp>
        <p:nvSpPr>
          <p:cNvPr id="36" name="Text 34"/>
          <p:cNvSpPr/>
          <p:nvPr/>
        </p:nvSpPr>
        <p:spPr>
          <a:xfrm>
            <a:off x="640080" y="4297680"/>
            <a:ext cx="411480" cy="347472"/>
          </a:xfrm>
          <a:prstGeom prst="rect">
            <a:avLst/>
          </a:prstGeom>
          <a:noFill/>
          <a:ln/>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10</a:t>
            </a:r>
            <a:endParaRPr lang="en-US" sz="1000" dirty="0"/>
          </a:p>
        </p:txBody>
      </p:sp>
      <p:sp>
        <p:nvSpPr>
          <p:cNvPr id="37" name="Text 35"/>
          <p:cNvSpPr/>
          <p:nvPr/>
        </p:nvSpPr>
        <p:spPr>
          <a:xfrm>
            <a:off x="1051560" y="4297680"/>
            <a:ext cx="2377440" cy="347472"/>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ConfigureAwait(false)</a:t>
            </a:r>
            <a:endParaRPr lang="en-US" sz="1200" dirty="0"/>
          </a:p>
        </p:txBody>
      </p:sp>
      <p:sp>
        <p:nvSpPr>
          <p:cNvPr id="38" name="Text 36"/>
          <p:cNvSpPr/>
          <p:nvPr/>
        </p:nvSpPr>
        <p:spPr>
          <a:xfrm>
            <a:off x="3474720" y="4297680"/>
            <a:ext cx="5212080" cy="34747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Skip context capture - use in libraries</a:t>
            </a:r>
            <a:endParaRPr lang="en-US" sz="1200" dirty="0"/>
          </a:p>
        </p:txBody>
      </p:sp>
      <p:sp>
        <p:nvSpPr>
          <p:cNvPr id="39" name="Text 37"/>
          <p:cNvSpPr/>
          <p:nvPr/>
        </p:nvSpPr>
        <p:spPr>
          <a:xfrm>
            <a:off x="8412480" y="4709160"/>
            <a:ext cx="457200" cy="32004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600000">
            <a:off x="5943600" y="3657600"/>
            <a:ext cx="4572000" cy="2743200"/>
          </a:xfrm>
          <a:prstGeom prst="rect">
            <a:avLst/>
          </a:prstGeom>
          <a:solidFill>
            <a:srgbClr val="38BDF8"/>
          </a:solidFill>
          <a:ln/>
        </p:spPr>
        <p:txBody>
          <a:bodyPr/>
          <a:lstStyle/>
          <a:p>
            <a:endParaRPr lang="en-US"/>
          </a:p>
        </p:txBody>
      </p:sp>
      <p:sp>
        <p:nvSpPr>
          <p:cNvPr id="3" name="Shape 1"/>
          <p:cNvSpPr/>
          <p:nvPr/>
        </p:nvSpPr>
        <p:spPr>
          <a:xfrm rot="600000">
            <a:off x="6400800" y="3200400"/>
            <a:ext cx="4572000" cy="2743200"/>
          </a:xfrm>
          <a:prstGeom prst="rect">
            <a:avLst/>
          </a:prstGeom>
          <a:solidFill>
            <a:srgbClr val="A78BFA"/>
          </a:solidFill>
          <a:ln/>
        </p:spPr>
        <p:txBody>
          <a:bodyPr/>
          <a:lstStyle/>
          <a:p>
            <a:endParaRPr lang="en-US"/>
          </a:p>
        </p:txBody>
      </p:sp>
      <p:sp>
        <p:nvSpPr>
          <p:cNvPr id="4" name="Text 2"/>
          <p:cNvSpPr/>
          <p:nvPr/>
        </p:nvSpPr>
        <p:spPr>
          <a:xfrm>
            <a:off x="914400" y="2280819"/>
            <a:ext cx="7315200" cy="548640"/>
          </a:xfrm>
          <a:prstGeom prst="rect">
            <a:avLst/>
          </a:prstGeom>
          <a:noFill/>
          <a:ln/>
        </p:spPr>
        <p:txBody>
          <a:bodyPr wrap="square" lIns="0" tIns="0" rIns="0" bIns="0" rtlCol="0" anchor="ctr"/>
          <a:lstStyle/>
          <a:p>
            <a:pPr marL="0" indent="0">
              <a:buNone/>
            </a:pPr>
            <a:r>
              <a:rPr lang="en-US" sz="2800" dirty="0">
                <a:solidFill>
                  <a:srgbClr val="94A3B8"/>
                </a:solidFill>
                <a:latin typeface="Trebuchet MS" pitchFamily="34" charset="0"/>
                <a:ea typeface="Trebuchet MS" pitchFamily="34" charset="-122"/>
                <a:cs typeface="Trebuchet MS" pitchFamily="34" charset="-120"/>
              </a:rPr>
              <a:t>Thank you</a:t>
            </a:r>
            <a:endParaRPr lang="en-US" sz="2800" dirty="0"/>
          </a:p>
        </p:txBody>
      </p:sp>
      <p:sp>
        <p:nvSpPr>
          <p:cNvPr id="5" name="Text 3"/>
          <p:cNvSpPr/>
          <p:nvPr/>
        </p:nvSpPr>
        <p:spPr>
          <a:xfrm>
            <a:off x="640080" y="1783080"/>
            <a:ext cx="7315200" cy="548640"/>
          </a:xfrm>
          <a:prstGeom prst="rect">
            <a:avLst/>
          </a:prstGeom>
          <a:noFill/>
          <a:ln/>
        </p:spPr>
        <p:txBody>
          <a:bodyPr wrap="square" lIns="0" tIns="0" rIns="0" bIns="0" rtlCol="0" anchor="ctr"/>
          <a:lstStyle/>
          <a:p>
            <a:pPr marL="0" indent="0">
              <a:buNone/>
            </a:pPr>
            <a:endParaRPr lang="en-US" sz="2800" dirty="0"/>
          </a:p>
        </p:txBody>
      </p:sp>
      <p:sp>
        <p:nvSpPr>
          <p:cNvPr id="6" name="Text 4"/>
          <p:cNvSpPr/>
          <p:nvPr/>
        </p:nvSpPr>
        <p:spPr>
          <a:xfrm>
            <a:off x="640080" y="2286000"/>
            <a:ext cx="7315200" cy="548640"/>
          </a:xfrm>
          <a:prstGeom prst="rect">
            <a:avLst/>
          </a:prstGeom>
          <a:noFill/>
          <a:ln/>
        </p:spPr>
        <p:txBody>
          <a:bodyPr wrap="square" lIns="0" tIns="0" rIns="0" bIns="0" rtlCol="0" anchor="ctr"/>
          <a:lstStyle/>
          <a:p>
            <a:pPr marL="0" indent="0">
              <a:buNone/>
            </a:pP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7004</Words>
  <Application>Microsoft Office PowerPoint</Application>
  <PresentationFormat>Expunere pe ecran (16:9)</PresentationFormat>
  <Paragraphs>562</Paragraphs>
  <Slides>37</Slides>
  <Notes>37</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37</vt:i4>
      </vt:variant>
    </vt:vector>
  </HeadingPairs>
  <TitlesOfParts>
    <vt:vector size="42" baseType="lpstr">
      <vt:lpstr>Arial</vt:lpstr>
      <vt:lpstr>Calibri</vt:lpstr>
      <vt:lpstr>Consolas</vt:lpstr>
      <vt:lpstr>Trebuchet MS</vt: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Basics of async/await</dc:title>
  <cp:lastModifiedBy>Rares Negrut</cp:lastModifiedBy>
  <dcterms:created xsi:type="dcterms:W3CDTF">2026-02-15T21:56:44Z</dcterms:created>
  <dcterms:modified xsi:type="dcterms:W3CDTF">2026-02-16T23:11:36Z</dcterms:modified>
</cp:coreProperties>
</file>