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302" r:id="rId3"/>
    <p:sldId id="257" r:id="rId4"/>
    <p:sldId id="293" r:id="rId5"/>
    <p:sldId id="294" r:id="rId6"/>
    <p:sldId id="295" r:id="rId7"/>
    <p:sldId id="296" r:id="rId8"/>
    <p:sldId id="297" r:id="rId9"/>
    <p:sldId id="298" r:id="rId10"/>
    <p:sldId id="273" r:id="rId11"/>
    <p:sldId id="274" r:id="rId12"/>
    <p:sldId id="275" r:id="rId13"/>
    <p:sldId id="276" r:id="rId14"/>
    <p:sldId id="277" r:id="rId15"/>
    <p:sldId id="278" r:id="rId16"/>
    <p:sldId id="279" r:id="rId17"/>
    <p:sldId id="301" r:id="rId18"/>
    <p:sldId id="280" r:id="rId19"/>
    <p:sldId id="281" r:id="rId20"/>
    <p:sldId id="282" r:id="rId21"/>
    <p:sldId id="283" r:id="rId22"/>
    <p:sldId id="284" r:id="rId23"/>
    <p:sldId id="285" r:id="rId24"/>
    <p:sldId id="286" r:id="rId25"/>
    <p:sldId id="287" r:id="rId26"/>
    <p:sldId id="288" r:id="rId27"/>
    <p:sldId id="289" r:id="rId28"/>
    <p:sldId id="290" r:id="rId29"/>
    <p:sldId id="291" r:id="rId30"/>
    <p:sldId id="299" r:id="rId31"/>
    <p:sldId id="300" r:id="rId32"/>
    <p:sldId id="292" r:id="rId3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EFF4"/>
    <a:srgbClr val="F3F7F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69640" autoAdjust="0"/>
  </p:normalViewPr>
  <p:slideViewPr>
    <p:cSldViewPr snapToGrid="0" snapToObjects="1">
      <p:cViewPr varScale="1">
        <p:scale>
          <a:sx n="138" d="100"/>
          <a:sy n="138" d="100"/>
        </p:scale>
        <p:origin x="2460" y="3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585445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Beyond the Basics of async/await. You've written 'async Task DoSomethingAsync()' hundreds of times. You know the rule: if it's async, you await it.</a:t>
            </a:r>
          </a:p>
          <a:p>
            <a:r>
              <a:rPr lang="en-US" dirty="0"/>
              <a:t>Your IDE screams at you if you forget. Your code reviews demand it. And so you do </a:t>
            </a:r>
            <a:r>
              <a:rPr lang="en-US"/>
              <a:t>it - </a:t>
            </a:r>
            <a:r>
              <a:rPr lang="en-US" dirty="0"/>
              <a:t>almost mechanically.</a:t>
            </a:r>
          </a:p>
          <a:p>
            <a:r>
              <a:rPr lang="en-US" dirty="0"/>
              <a:t>But do you know what actually happens when you press F5? The rest of this talk answers the questions you've probably never asked.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BEBF9-65C4-A1A6-6BC3-C2F01A7533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856511-6D4E-2465-D143-D9AFB7E019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3E5FE7-6261-4D92-EA11-32C9D50D3AA8}"/>
              </a:ext>
            </a:extLst>
          </p:cNvPr>
          <p:cNvSpPr>
            <a:spLocks noGrp="1"/>
          </p:cNvSpPr>
          <p:nvPr>
            <p:ph type="body" idx="1"/>
          </p:nvPr>
        </p:nvSpPr>
        <p:spPr/>
        <p:txBody>
          <a:bodyPr/>
          <a:lstStyle/>
          <a:p>
            <a:r>
              <a:rPr lang="en-GB" dirty="0"/>
              <a:t>Walkthrough of topics</a:t>
            </a:r>
            <a:endParaRPr lang="en-US" dirty="0"/>
          </a:p>
        </p:txBody>
      </p:sp>
      <p:sp>
        <p:nvSpPr>
          <p:cNvPr id="4" name="Slide Number Placeholder 3">
            <a:extLst>
              <a:ext uri="{FF2B5EF4-FFF2-40B4-BE49-F238E27FC236}">
                <a16:creationId xmlns:a16="http://schemas.microsoft.com/office/drawing/2014/main" id="{277AABFC-5CF8-ED72-3090-4FA8F2FB5375}"/>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1298739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You've written this method a thousand times. Three lines. Simple.</a:t>
            </a:r>
          </a:p>
          <a:p>
            <a:r>
              <a:rPr lang="en-US" dirty="0"/>
              <a:t>But behind those three lines, the compiler is doing a lot. It's rewriting your method into something you wouldn't recognise. And the runtime is coordinating a whole cast of infrastructure you've never had to think </a:t>
            </a:r>
            <a:r>
              <a:rPr lang="en-US"/>
              <a:t>about - </a:t>
            </a:r>
            <a:r>
              <a:rPr lang="en-US" dirty="0"/>
              <a:t>until today.</a:t>
            </a:r>
          </a:p>
          <a:p>
            <a:r>
              <a:rPr lang="en-US" dirty="0"/>
              <a:t>We're going to answer: What is a Task, really? Who actually runs it? What does await compile to? Why does ConfigureAwait(false) exist, and should you care? Let's peel the layers back, one at a time.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Threads are expensive. Each thread in .NET costs roughly 1 MB of stack space, plus the OS overhead of creating, scheduling, and context-switching it. Now think about a server handling 10,000 concurrent requests. If each request occupies a thread for the duration of its work - including the time it spends waiting for a database query or an HTTP response - that's 10,000 threads. That's roughly 10 GB of stack space alone.</a:t>
            </a:r>
          </a:p>
          <a:p>
            <a:r>
              <a:rPr lang="en-US" dirty="0"/>
              <a:t>That's exactly what synchronous, blocking code does. Thread.Sleep is a crime scene: the thread is alive, consuming memory, registered with the OS scheduler, and it's accomplishing absolutely nothing. It's just waiting. But because it's blocked, nobody else can use it.</a:t>
            </a:r>
          </a:p>
          <a:p>
            <a:r>
              <a:rPr lang="en-US" dirty="0"/>
              <a:t>With async, we say: 'Hey runtime, I need to wait for 1000 milliseconds. I don't need this thread during that time. Take it back, give it to someone else, and come find me when the timer fires.' With Task.Delay, no thread is held. A timer is set at the OS level. The thread is released and can do other useful work.</a:t>
            </a:r>
          </a:p>
          <a:p>
            <a:r>
              <a:rPr lang="en-US" dirty="0"/>
              <a:t>That server handling 10,000 concurrent requests? With async I/O, it might only need 20-50 threads - the ones actually computing at any given instant. Async is not the same as parallelism. Parallelism means doing multiple things at the same time to go faster. Async means not holding resources hostage while doing nothing.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async/await came along in C# 5.0, the answer was the Task Parallel Library, specifically the ContinueWith method. The idea was: start an operation, and attach a callback that runs when it finishes. The thread that started the operation is free to leave; the callback will be invoked later.</a:t>
            </a:r>
          </a:p>
          <a:p>
            <a:r>
              <a:rPr lang="en-US" dirty="0"/>
              <a:t>But real code has sequential steps. Each step needs the result of the previous one. So you end up nesting. Two callbacks deep is the trivial case. Imagine ten sequential asynchronous operations - ten levels of nesting. This is exactly what JavaScript developers called 'callback hell.'</a:t>
            </a:r>
          </a:p>
          <a:p>
            <a:r>
              <a:rPr lang="en-US" dirty="0"/>
              <a:t>It gets worse with error handling. With ContinueWith, there's no try/catch. Exceptions are wrapped in AggregateException on the Task's .Exception property. You have to check IsFaulted manually in every callback. Miss a check, and the exception vanishes silently. And there's Unwrap() - because ContinueWith on a Task that returns another Task gives you a Task&lt;Task&gt;.</a:t>
            </a:r>
          </a:p>
          <a:p>
            <a:r>
              <a:rPr lang="en-US" dirty="0"/>
              <a:t>Now look at the same logic with async/await: flat, sequential, try/catch works normally. The compiler handles all the callback plumbing for you. Same underlying mechanism - continuations on Tasks - but the developer experience is night and day.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misconception to kill: a Task is not a thread. </a:t>
            </a:r>
          </a:p>
          <a:p>
            <a:r>
              <a:rPr lang="en-US" dirty="0"/>
              <a:t>A Task does not represent a thread. It does not inherently own a thread, use a thread, or require a thread. </a:t>
            </a:r>
          </a:p>
          <a:p>
            <a:r>
              <a:rPr lang="en-US" dirty="0"/>
              <a:t>A Task is a promise - a data structure that represents an operation that will complete at some point in the future.</a:t>
            </a:r>
          </a:p>
          <a:p>
            <a:r>
              <a:rPr lang="en-US" dirty="0"/>
              <a:t>For example, </a:t>
            </a:r>
            <a:r>
              <a:rPr lang="en-US" dirty="0" err="1"/>
              <a:t>Task.Delay</a:t>
            </a:r>
            <a:r>
              <a:rPr lang="en-US" dirty="0"/>
              <a:t> does NOT create a thread. It sets a system timer. (Promise-style task)</a:t>
            </a:r>
          </a:p>
          <a:p>
            <a:r>
              <a:rPr lang="en-US" dirty="0"/>
              <a:t>During the wait, zero threads are involved.</a:t>
            </a:r>
          </a:p>
          <a:p>
            <a:r>
              <a:rPr lang="en-US" dirty="0" err="1"/>
              <a:t>Task.Run</a:t>
            </a:r>
            <a:r>
              <a:rPr lang="en-US" dirty="0"/>
              <a:t> takes your delegate and queues it to be executed by a worker thread, but the Task is still just the promise object - the notification mechanism. (Delegate Task)</a:t>
            </a:r>
          </a:p>
          <a:p>
            <a:r>
              <a:rPr lang="en-US" dirty="0"/>
              <a:t>TaskCompletionSource is the key primitive that proves no thread ever needs to be involved. </a:t>
            </a:r>
          </a:p>
          <a:p>
            <a:r>
              <a:rPr lang="en-US" dirty="0"/>
              <a:t>It’s a source for creation and completion of a Task You create a Task and complete it manually. </a:t>
            </a:r>
          </a:p>
          <a:p>
            <a:r>
              <a:rPr lang="en-US" dirty="0"/>
              <a:t>This is how most truly asynchronous APIs work under the hood. </a:t>
            </a:r>
          </a:p>
          <a:p>
            <a:r>
              <a:rPr lang="en-US" dirty="0"/>
              <a:t>At the bottom of the stack, there's almost always a TaskCompletionSource being completed by an OS callback - network data arrived, a file read finished, a timer fired. No dedicated thread sat around waiting.</a:t>
            </a:r>
          </a:p>
          <a:p>
            <a:r>
              <a:rPr lang="en-US" dirty="0"/>
              <a:t>TaskCompletionSource has three completion methods: SetResult (success), SetException (fault), and SetCanceled (cancellation). Each transitions the Task to its final state. TrySet variants return false instead of throwing if the Task is already completed. This is the bridge between event-driven OS callbacks and the async/await world.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cancellation?</a:t>
            </a:r>
            <a:br>
              <a:rPr lang="en-US" dirty="0"/>
            </a:br>
            <a:r>
              <a:rPr lang="en-US" dirty="0"/>
              <a:t>Cancellation is the mechanism through which we request operations to stop.</a:t>
            </a:r>
          </a:p>
          <a:p>
            <a:endParaRPr lang="en-US" dirty="0"/>
          </a:p>
          <a:p>
            <a:r>
              <a:rPr lang="en-US" dirty="0"/>
              <a:t>How does cancellation work?</a:t>
            </a:r>
            <a:br>
              <a:rPr lang="en-US" dirty="0"/>
            </a:br>
            <a:r>
              <a:rPr lang="en-US" dirty="0"/>
              <a:t>Cancellation in .NET is cooperative, not preemptive. </a:t>
            </a:r>
          </a:p>
          <a:p>
            <a:r>
              <a:rPr lang="en-US" dirty="0"/>
              <a:t>You cannot forcibly abort an async operation from the outside. </a:t>
            </a:r>
          </a:p>
          <a:p>
            <a:r>
              <a:rPr lang="en-US" dirty="0"/>
              <a:t>Instead, you pass a CancellationToken into the method, and the method must actively check it and decide to stop.</a:t>
            </a:r>
          </a:p>
          <a:p>
            <a:r>
              <a:rPr lang="en-US" dirty="0"/>
              <a:t>CancellationTokenSource is the controller - it creates the token and has the Cancel() method. </a:t>
            </a:r>
          </a:p>
          <a:p>
            <a:r>
              <a:rPr lang="en-US" dirty="0" err="1"/>
              <a:t>CancellationToken</a:t>
            </a:r>
            <a:r>
              <a:rPr lang="en-US" dirty="0"/>
              <a:t> is the read-only handle you pass into async methods.</a:t>
            </a:r>
          </a:p>
          <a:p>
            <a:r>
              <a:rPr lang="en-US" dirty="0"/>
              <a:t>This separation of concerns means the code doing the work can observe cancellation but can't accidentally trigger it.</a:t>
            </a:r>
          </a:p>
          <a:p>
            <a:r>
              <a:rPr lang="en-US" dirty="0"/>
              <a:t>CancellationTokenSource also supports timed cancellation with CancelAfter(). You can link multiple sources together with CreateLinkedTokenSource, which cancels when ANY of the linked sources cancel - useful for combining a user-initiated cancel with a timeout.</a:t>
            </a:r>
          </a:p>
          <a:p>
            <a:r>
              <a:rPr lang="en-US" dirty="0"/>
              <a:t>Most BCL async methods accept a CancellationToken parameter: HttpClient.GetAsync, Stream.ReadAsync, Task.Delay, and many more. When cancelled, they throw OperationCanceledException (or its subclass TaskCanceledException). For CPU-bound loops, call ct.ThrowIfCancellationRequested() at regular intervals.</a:t>
            </a:r>
          </a:p>
          <a:p>
            <a:r>
              <a:rPr lang="en-US" dirty="0"/>
              <a:t>Always pass tokens downstream through your entire call chain. If you accept a CancellationToken but don't pass it to the async methods you call, cancellation won't propagate. This is one of the most common mistakes. Also remember to dispose CancellationTokenSource when you're done - it registers with the OS timer if you use CancelAfter.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.NET </a:t>
            </a:r>
            <a:r>
              <a:rPr lang="en-US" dirty="0" err="1"/>
              <a:t>ThreadPool</a:t>
            </a:r>
            <a:r>
              <a:rPr lang="en-US" dirty="0"/>
              <a:t> = pool of pre-created runtime managed worker threads </a:t>
            </a:r>
          </a:p>
          <a:p>
            <a:pPr marL="171450" indent="-171450">
              <a:buFontTx/>
              <a:buChar char="-"/>
            </a:pPr>
            <a:r>
              <a:rPr lang="en-US" dirty="0"/>
              <a:t>When you call Task.Run, the delegate is placed into a queue. </a:t>
            </a:r>
          </a:p>
          <a:p>
            <a:pPr marL="171450" indent="-171450">
              <a:buFont typeface="Arial" panose="020B0604020202020204" pitchFamily="34" charset="0"/>
              <a:buChar char="•"/>
            </a:pPr>
            <a:r>
              <a:rPr lang="en-US" dirty="0"/>
              <a:t>One of the ThreadPool's worker threads dequeues it and executes it.</a:t>
            </a:r>
          </a:p>
          <a:p>
            <a:pPr marL="171450" indent="-171450">
              <a:buFont typeface="Arial" panose="020B0604020202020204" pitchFamily="34" charset="0"/>
              <a:buChar char="•"/>
            </a:pPr>
            <a:r>
              <a:rPr lang="en-US" dirty="0"/>
              <a:t>The ThreadPool starts with a small number of threads, typically one per CPU core. If work items queue up faster than threads can process them, the pool slowly injects new threads.</a:t>
            </a:r>
          </a:p>
          <a:p>
            <a:pPr marL="171450" indent="-171450">
              <a:buFont typeface="Arial" panose="020B0604020202020204" pitchFamily="34" charset="0"/>
              <a:buChar char="•"/>
            </a:pPr>
            <a:r>
              <a:rPr lang="en-US" dirty="0"/>
              <a:t>You can starve the pool by calling async and await.</a:t>
            </a:r>
          </a:p>
          <a:p>
            <a:pPr marL="171450" indent="-171450">
              <a:buFont typeface="Arial" panose="020B0604020202020204" pitchFamily="34" charset="0"/>
              <a:buChar char="•"/>
            </a:pPr>
            <a:r>
              <a:rPr lang="en-US" dirty="0" err="1"/>
              <a:t>SynchronizationContext</a:t>
            </a:r>
            <a:r>
              <a:rPr lang="en-US" dirty="0"/>
              <a:t> is an abstraction that answers: where should a continuation run</a:t>
            </a:r>
            <a:r>
              <a:rPr lang="en-US" b="1" dirty="0"/>
              <a:t>(on which thread)?</a:t>
            </a:r>
          </a:p>
          <a:p>
            <a:pPr marL="628650" lvl="1" indent="-171450">
              <a:buFont typeface="Arial" panose="020B0604020202020204" pitchFamily="34" charset="0"/>
              <a:buChar char="•"/>
            </a:pPr>
            <a:r>
              <a:rPr lang="en-US" dirty="0"/>
              <a:t>In WinForms, it posts to the UI thread's Win32 message loop. </a:t>
            </a:r>
          </a:p>
          <a:p>
            <a:pPr marL="628650" lvl="1" indent="-171450">
              <a:buFont typeface="Arial" panose="020B0604020202020204" pitchFamily="34" charset="0"/>
              <a:buChar char="•"/>
            </a:pPr>
            <a:r>
              <a:rPr lang="en-US" dirty="0"/>
              <a:t>In WPF, it posts to the Dispatcher. </a:t>
            </a:r>
          </a:p>
          <a:p>
            <a:pPr marL="628650" lvl="1" indent="-171450">
              <a:buFont typeface="Arial" panose="020B0604020202020204" pitchFamily="34" charset="0"/>
              <a:buChar char="•"/>
            </a:pPr>
            <a:r>
              <a:rPr lang="en-US" dirty="0"/>
              <a:t>In ASP.NET Core and console apps, there is no SynchronizationContext - it's null.</a:t>
            </a:r>
          </a:p>
          <a:p>
            <a:pPr marL="0" lvl="0" indent="0">
              <a:buFont typeface="Arial" panose="020B0604020202020204" pitchFamily="34" charset="0"/>
              <a:buNone/>
            </a:pPr>
            <a:endParaRPr lang="en-US" dirty="0"/>
          </a:p>
          <a:p>
            <a:r>
              <a:rPr lang="en-US" dirty="0"/>
              <a:t>The classic deadlock: You're on the UI thread. You call SomeAsyncMethod().Result - blocking the UI thread. Inside SomeAsyncMethod, the code hits an await and captures the SynchronizationContext. The awaited operation completes and tries to post the continuation to the UI thread. But the UI thread is blocked waiting for the very Task that needs it. Deadlock. This does not happen in console apps or ASP.NET Core because there's no SynchronizationContext.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After an await, your code might resume on a completely different thread. </a:t>
            </a:r>
          </a:p>
          <a:p>
            <a:pPr marL="171450" indent="-171450">
              <a:buFont typeface="Arial" panose="020B0604020202020204" pitchFamily="34" charset="0"/>
              <a:buChar char="•"/>
            </a:pPr>
            <a:r>
              <a:rPr lang="en-US" dirty="0"/>
              <a:t>But ambient state - the current culture, security principal, per-request correlation IDs - needs to survive. </a:t>
            </a:r>
          </a:p>
          <a:p>
            <a:pPr marL="171450" indent="-171450">
              <a:buFont typeface="Arial" panose="020B0604020202020204" pitchFamily="34" charset="0"/>
              <a:buChar char="•"/>
            </a:pPr>
            <a:r>
              <a:rPr lang="en-US" dirty="0" err="1"/>
              <a:t>ExecutionContext</a:t>
            </a:r>
            <a:r>
              <a:rPr lang="en-US" dirty="0"/>
              <a:t> is an opaque container maintained by the runtime that holds all ambient data associated with the current flow of execution.</a:t>
            </a:r>
          </a:p>
          <a:p>
            <a:pPr marL="171450" indent="-171450">
              <a:buFont typeface="Arial" panose="020B0604020202020204" pitchFamily="34" charset="0"/>
              <a:buChar char="•"/>
            </a:pPr>
            <a:r>
              <a:rPr lang="en-US" dirty="0"/>
              <a:t>When the async infrastructure suspends your code at an await, it captures the current ExecutionContext. </a:t>
            </a:r>
          </a:p>
          <a:p>
            <a:pPr marL="171450" indent="-171450">
              <a:buFont typeface="Arial" panose="020B0604020202020204" pitchFamily="34" charset="0"/>
              <a:buChar char="•"/>
            </a:pPr>
            <a:r>
              <a:rPr lang="en-US" dirty="0"/>
              <a:t>When the continuation resumes on a different thread, the captured ExecutionContext is restored. You almost never interact with it directly - it's automatic.</a:t>
            </a:r>
          </a:p>
          <a:p>
            <a:pPr marL="171450" indent="-171450">
              <a:buFont typeface="Arial" panose="020B0604020202020204" pitchFamily="34" charset="0"/>
              <a:buChar char="•"/>
            </a:pPr>
            <a:r>
              <a:rPr lang="en-US" dirty="0" err="1"/>
              <a:t>AsyncLocal</a:t>
            </a:r>
            <a:r>
              <a:rPr lang="en-US" dirty="0"/>
              <a:t>&lt;T&gt; is the user-facing API built on top of ExecutionContext. Think of it as a 'logical thread-local' - a value associated with the current async flow, not any particular physical thread. </a:t>
            </a:r>
          </a:p>
          <a:p>
            <a:pPr marL="171450" indent="-171450">
              <a:buFont typeface="Arial" panose="020B0604020202020204" pitchFamily="34" charset="0"/>
              <a:buChar char="•"/>
            </a:pPr>
            <a:r>
              <a:rPr lang="en-US" dirty="0"/>
              <a:t>The value persists across await boundaries because ExecutionContext carries it.</a:t>
            </a:r>
          </a:p>
          <a:p>
            <a:endParaRPr lang="en-US" dirty="0"/>
          </a:p>
          <a:p>
            <a:pPr marL="171450" indent="-171450">
              <a:buFont typeface="Arial" panose="020B0604020202020204" pitchFamily="34" charset="0"/>
              <a:buChar char="•"/>
            </a:pPr>
            <a:r>
              <a:rPr lang="en-US" dirty="0"/>
              <a:t>Copy-on-write isolation: when you fork execution with Task.Run, the child flow gets a copy of the parent's ExecutionContext. </a:t>
            </a:r>
          </a:p>
          <a:p>
            <a:pPr marL="171450" indent="-171450">
              <a:buFont typeface="Arial" panose="020B0604020202020204" pitchFamily="34" charset="0"/>
              <a:buChar char="•"/>
            </a:pPr>
            <a:r>
              <a:rPr lang="en-US" dirty="0"/>
              <a:t>Modifications in the child don't affect the parent. </a:t>
            </a:r>
          </a:p>
          <a:p>
            <a:pPr marL="171450" indent="-171450">
              <a:buFont typeface="Arial" panose="020B0604020202020204" pitchFamily="34" charset="0"/>
              <a:buChar char="•"/>
            </a:pPr>
            <a:r>
              <a:rPr lang="en-US" dirty="0"/>
              <a:t>This is the right behaviour for per-request correlation IDs: every spawned task inherits the ID, but can't overwrite the parent's state.</a:t>
            </a:r>
          </a:p>
          <a:p>
            <a:pPr marL="171450" indent="-171450">
              <a:buFont typeface="Arial" panose="020B0604020202020204" pitchFamily="34" charset="0"/>
              <a:buChar char="•"/>
            </a:pPr>
            <a:r>
              <a:rPr lang="en-US" dirty="0"/>
              <a:t>Note:</a:t>
            </a:r>
          </a:p>
          <a:p>
            <a:pPr marL="628650" lvl="1" indent="-171450">
              <a:buFont typeface="Arial" panose="020B0604020202020204" pitchFamily="34" charset="0"/>
              <a:buChar char="•"/>
            </a:pPr>
            <a:r>
              <a:rPr lang="en-US" dirty="0"/>
              <a:t>Never use ThreadLocal&lt;T&gt; in async code. </a:t>
            </a:r>
          </a:p>
          <a:p>
            <a:pPr marL="628650" lvl="1" indent="-171450">
              <a:buFont typeface="Arial" panose="020B0604020202020204" pitchFamily="34" charset="0"/>
              <a:buChar char="•"/>
            </a:pPr>
            <a:r>
              <a:rPr lang="en-US" dirty="0" err="1"/>
              <a:t>ThreadLocal</a:t>
            </a:r>
            <a:r>
              <a:rPr lang="en-US" dirty="0"/>
              <a:t> is tied to the physical thread.</a:t>
            </a:r>
          </a:p>
          <a:p>
            <a:pPr marL="628650" lvl="1" indent="-171450">
              <a:buFont typeface="Arial" panose="020B0604020202020204" pitchFamily="34" charset="0"/>
              <a:buChar char="•"/>
            </a:pPr>
            <a:r>
              <a:rPr lang="en-US" dirty="0"/>
              <a:t>After an await, you might be on a different thread and your value will be gone - or worse, you'll see someone else's value left over from whatever that thread was doing before.</a:t>
            </a:r>
          </a:p>
          <a:p>
            <a:pPr marL="628650" lvl="1" indent="-171450">
              <a:buFont typeface="Arial" panose="020B0604020202020204" pitchFamily="34" charset="0"/>
              <a:buChar char="•"/>
            </a:pPr>
            <a:r>
              <a:rPr lang="en-US" dirty="0"/>
              <a:t> AsyncLocal&lt;T&gt; always works correctly across await boundaries.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ExecutionContext is an opaque container maintained by the runtime. It holds all the ambient data associated with the current flow of execution. When the async infrastructure suspends your code at an await, it captures the current ExecutionContext.</a:t>
            </a:r>
          </a:p>
          <a:p>
            <a:r>
              <a:rPr lang="en-US" dirty="0"/>
              <a:t>When the continuation resumes - possibly on a different thread - the captured ExecutionContext is restored before your code runs. You almost never interact with ExecutionContext directly. It's automatic.</a:t>
            </a:r>
          </a:p>
          <a:p>
            <a:r>
              <a:rPr lang="en-US" dirty="0"/>
              <a:t>What flows inside it? The security context, the call context, the current culture, and any AsyncLocal&lt;T&gt; values. AsyncLocal&lt;T&gt; is a 'logical thread-local' - a value associated with the current async flow, not any particular physical thread. The value persists across the await because ExecutionContext was captured (carrying the AsyncLocal data) and restored on the other side.</a:t>
            </a:r>
          </a:p>
          <a:p>
            <a:r>
              <a:rPr lang="en-US" dirty="0"/>
              <a:t>It doesn't matter that the thread changed - the logical context was preserved.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fork execution - say, by starting a </a:t>
            </a:r>
            <a:r>
              <a:rPr lang="en-US" dirty="0" err="1"/>
              <a:t>Task.Run</a:t>
            </a:r>
            <a:r>
              <a:rPr lang="en-US" dirty="0"/>
              <a:t> - the child flow gets a COPY of the parent's ExecutionContext. Modifications in the child don't affect the parent. This is copy-on-write semantics.</a:t>
            </a:r>
          </a:p>
          <a:p>
            <a:r>
              <a:rPr lang="en-US" dirty="0"/>
              <a:t>This is the right behaviour for things like per-request correlation IDs: you want every task spawned during a request to inherit the ID, but you don't want a child task accidentally overwriting the parent's state. Why not ThreadLocal&lt;T&gt;? Because ThreadLocal is tied to the physical thread, not the logical async flow. After an await, the continuation might run on a different thread - and your ThreadLocal value will be gone, or worse, you'll see someone else's value left over from whatever that thread was doing before.</a:t>
            </a:r>
          </a:p>
          <a:p>
            <a:r>
              <a:rPr lang="en-US" dirty="0"/>
              <a:t>AsyncLocal&lt;T&gt; always works correctly across await boundaries. ThreadLocal&lt;T&gt; is a trap in async code.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far, every time we've used await, we've awaited a Task. You might think await and Task are inseparable. They're not.</a:t>
            </a:r>
          </a:p>
          <a:p>
            <a:r>
              <a:rPr lang="en-US" dirty="0"/>
              <a:t>The await keyword doesn't know about Task. It doesn't require Task. Instead, await is pattern-based.</a:t>
            </a:r>
          </a:p>
          <a:p>
            <a:r>
              <a:rPr lang="en-US" dirty="0"/>
              <a:t>It relies on the awaitable pattern.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object is awaitable if it has a GetAwaiter() method - instance method or extension method, the compiler doesn't care. It just needs to return an awaiter. The awaiter provides three things: IsCompleted (a bool - has it already finished? enables the fast path), OnCompleted(Action) (registers a callback - 'when you're done, call this'), and GetResult() (returns the result or rethrows the exception).</a:t>
            </a:r>
          </a:p>
          <a:p>
            <a:r>
              <a:rPr lang="en-US" dirty="0"/>
              <a:t>That's it. Any type with GetAwaiter() returning something with these three members can be awaited. Task happens to implement this pattern, but it's not special.</a:t>
            </a:r>
          </a:p>
          <a:p>
            <a:r>
              <a:rPr lang="en-US" dirty="0"/>
              <a:t>This extensibility is how ValueTask works (a more allocation-efficient alternative), and how ConfigureAwait(false) works - by returning a different wrapper type whose awaiter skips SynchronizationContext capture.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prove it by building a custom awaitable. MyDelayAwaitable has GetAwaiter() that returns MyDelayAwaiter. MyDelayAwaiter implements INotifyCompletion and provides IsCompleted, OnCompleted, and GetResult.</a:t>
            </a:r>
          </a:p>
          <a:p>
            <a:r>
              <a:rPr lang="en-US" dirty="0"/>
              <a:t>The compiler sees 'await expr', looks for expr.GetAwaiter(), and generates code against the IsCompleted, OnCompleted, and GetResult members. It doesn't care that MyDelayAwaitable isn't Task. It just needs the pattern.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talk. Everything we've covered - Tasks, the ThreadPool, SynchronizationContext, ExecutionContext, </a:t>
            </a:r>
            <a:r>
              <a:rPr lang="en-US" dirty="0" err="1"/>
              <a:t>awaiters</a:t>
            </a:r>
            <a:r>
              <a:rPr lang="en-US" dirty="0"/>
              <a:t> - comes together in what the compiler does when it sees the async keyword. The compiler rewrites your entire method into a state machine.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Console.WriteLine calls. Two await points. This method has three segments of code - the parts between the suspension points.</a:t>
            </a:r>
          </a:p>
          <a:p>
            <a:r>
              <a:rPr lang="en-US" dirty="0"/>
              <a:t>Segment A: Step 1 and starting the first delay. Segment B: Step 2 and starting the second delay. Segment C: Step 3.</a:t>
            </a:r>
          </a:p>
          <a:p>
            <a:r>
              <a:rPr lang="en-US" dirty="0"/>
              <a:t>The state machine's job is to execute one segment at a time, suspend if the awaited operation isn't finished yet, and resume at the right segment when it is.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26FBE4-4097-156C-1A91-FA983EFF3B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9BADB6-8D4E-6F26-1607-58A774CB16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0E2313-E7B7-2F32-B197-5A44502BBD91}"/>
              </a:ext>
            </a:extLst>
          </p:cNvPr>
          <p:cNvSpPr>
            <a:spLocks noGrp="1"/>
          </p:cNvSpPr>
          <p:nvPr>
            <p:ph type="body" idx="1"/>
          </p:nvPr>
        </p:nvSpPr>
        <p:spPr/>
        <p:txBody>
          <a:bodyPr/>
          <a:lstStyle/>
          <a:p>
            <a:r>
              <a:rPr lang="en-US" dirty="0"/>
              <a:t>Three Console.WriteLine calls. Two await points. This method has three segments of code - the parts between the suspension points.</a:t>
            </a:r>
          </a:p>
          <a:p>
            <a:r>
              <a:rPr lang="en-US" dirty="0"/>
              <a:t>Segment A: Step 1 and starting the first delay. Segment B: Step 2 and starting the second delay. Segment C: Step 3.</a:t>
            </a:r>
          </a:p>
          <a:p>
            <a:r>
              <a:rPr lang="en-US" dirty="0"/>
              <a:t>The state machine's job is to execute one segment at a time, suspend if the awaited operation isn't finished yet, and resume at the right segment when it is.</a:t>
            </a:r>
          </a:p>
        </p:txBody>
      </p:sp>
      <p:sp>
        <p:nvSpPr>
          <p:cNvPr id="4" name="Slide Number Placeholder 3">
            <a:extLst>
              <a:ext uri="{FF2B5EF4-FFF2-40B4-BE49-F238E27FC236}">
                <a16:creationId xmlns:a16="http://schemas.microsoft.com/office/drawing/2014/main" id="{864F7B64-7BC9-674B-D7B3-E29BFB01C4C5}"/>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6592930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compiler: 1) Creates a struct implementing IAsyncStateMachine. 2) Moves all your method's local variables into fields on that struct - because they can't live on the stack, since the stack frame is gone when the method returns at a suspension point. 3) Adds a state field (&lt;&gt;1__state) that tracks which segment to execute next.</a:t>
            </a:r>
          </a:p>
          <a:p>
            <a:r>
              <a:rPr lang="en-US" dirty="0"/>
              <a:t>4) Adds an </a:t>
            </a:r>
            <a:r>
              <a:rPr lang="en-US" dirty="0" err="1"/>
              <a:t>AsyncTaskMethodBuilder</a:t>
            </a:r>
            <a:r>
              <a:rPr lang="en-US" dirty="0"/>
              <a:t> field: the infrastructure piece that creates the caller-visible Task, sets its result or exception, and coordinates with SynchronizationContext and ExecutionContext. 5) Adds awaiter fields (one per await expression) to hold the awaiter while suspended. 6) Puts all your code into a MoveNext() method, rewritten as a “switch” on the state field.</a:t>
            </a:r>
          </a:p>
          <a:p>
            <a:r>
              <a:rPr lang="en-US" dirty="0"/>
              <a:t>7) Replaces your original method with a thin stub that creates the state machine and starts it.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Start calls MoveNext() synchronously on the calling thread. The first segment of your code - up to the first await that isn't already complete - on the calling thread, not on a ThreadPool thread. This is an important detail: async methods begin executing synchronously.</a:t>
            </a:r>
          </a:p>
          <a:p>
            <a:r>
              <a:rPr lang="en-US" dirty="0"/>
              <a:t>The method only 'becomes asynchronous' at the point where it actually suspends.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Inside MoveNext(), state is -1 on the first entry, so we hit the default branch. We execute the first segment of your code (Step 1), then call Task.Delay(1000).GetAwaiter(). We check </a:t>
            </a:r>
            <a:r>
              <a:rPr lang="en-US" dirty="0" err="1"/>
              <a:t>IsCompleted</a:t>
            </a:r>
            <a:r>
              <a:rPr lang="en-US" dirty="0"/>
              <a:t> - false, because 1000ms hasn't elapsed.</a:t>
            </a:r>
          </a:p>
          <a:p>
            <a:r>
              <a:rPr lang="en-US" dirty="0"/>
              <a:t>So we: set state to 0, stash the awaiter, and call AwaitUnsafeOnCompleted on the builder. The builder captures SynchronizationContext.Current and ExecutionContext, wraps MoveNext in a callback, and passes it to the awaiter's UnsafeOnCompleted. Then we RETURN from </a:t>
            </a:r>
            <a:r>
              <a:rPr lang="en-US" dirty="0" err="1"/>
              <a:t>MoveNext</a:t>
            </a:r>
            <a:r>
              <a:rPr lang="en-US" dirty="0"/>
              <a:t> - the method is now 'paused.' The thread is released.</a:t>
            </a:r>
          </a:p>
          <a:p>
            <a:r>
              <a:rPr lang="en-US" dirty="0"/>
              <a:t>The caller gets back an incomplete Task. No thread is blocked. A system timer is ticking.</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the timer fires (~1000ms later), the continuation is dispatched. MoveNext() runs again with state=0. We retrieve the stashed awaiter, clear the field, reset state to -1 (running).</a:t>
            </a:r>
          </a:p>
          <a:p>
            <a:r>
              <a:rPr lang="en-US" dirty="0"/>
              <a:t>Jump to AfterFirstAwait. Call GetResult() - if the Task faulted, this throws and the catch block handles it. Otherwise, execute Step 2, get the next awaiter for Task.Delay(500), check IsCompleted (false again), set state=1, stash awaiter, register continuation, return.</a:t>
            </a:r>
          </a:p>
          <a:p>
            <a:r>
              <a:rPr lang="en-US" dirty="0"/>
              <a:t>Thread is free again.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 exception in your code or in GetResult() is caught by the try/catch and set on the outer Task via SetException(). This is what transitions the outer Task to faulted state. On success, SetResult() completes the promise the caller is awaiting.</a:t>
            </a:r>
          </a:p>
          <a:p>
            <a:r>
              <a:rPr lang="en-US" dirty="0"/>
              <a:t>State -2 is the terminal state - MoveNext won't be called again. The machine is finished.</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trace the full execution. Call 1: state=-1, prints Step 1, gets awaiter, not completed, suspends, returns incomplete Task. The calling thread is free.</a:t>
            </a:r>
          </a:p>
          <a:p>
            <a:r>
              <a:rPr lang="en-US" dirty="0"/>
              <a:t>Timer is ticking. ~1000ms pass. Timer fires.</a:t>
            </a:r>
          </a:p>
          <a:p>
            <a:r>
              <a:rPr lang="en-US" dirty="0"/>
              <a:t>Call 2: state=0, resumes, GetResult(), prints Step 2, next awaiter, suspends again. ~500ms pass. Timer fires.</a:t>
            </a:r>
          </a:p>
          <a:p>
            <a:r>
              <a:rPr lang="en-US" dirty="0"/>
              <a:t>Call 3: state=1, resumes, GetResult(), prints Step 3, SetResult(), Task complete. That's the entire lifecycle. Three calls to MoveNext().</a:t>
            </a:r>
          </a:p>
          <a:p>
            <a:r>
              <a:rPr lang="en-US" dirty="0"/>
              <a:t>Three segments of code. Two suspension points. Zero threads blocked during the waits.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Fast Path: Those IsCompleted checks are a critical performance optimisation. If the awaited Task has already completed (cached HTTP responses, buffered stream reads, Task.Delay(0)), the state machine doesn't bother suspending. It skips the state assignment, the awaiter stash, the context capture, the continuation registration; all of it.</a:t>
            </a:r>
          </a:p>
          <a:p>
            <a:r>
              <a:rPr lang="en-US" dirty="0"/>
              <a:t>Just falls through and continues synchronously. No thread switch, no callback overhead. </a:t>
            </a:r>
          </a:p>
          <a:p>
            <a:endParaRPr lang="en-US" dirty="0"/>
          </a:p>
          <a:p>
            <a:r>
              <a:rPr lang="en-US" dirty="0"/>
              <a:t>- The Struct-to-Heap Boxing Story: The state machine is declared as a struct, not a class.</a:t>
            </a:r>
          </a:p>
          <a:p>
            <a:pPr marL="171450" indent="-171450">
              <a:buFontTx/>
              <a:buChar char="-"/>
            </a:pPr>
            <a:r>
              <a:rPr lang="en-US" dirty="0"/>
              <a:t>Starts on the stack - no heap allocation. If the method runs to completion without ever suspending (all awaits hit the IsCompleted fast path), zero allocations. </a:t>
            </a:r>
          </a:p>
          <a:p>
            <a:pPr marL="171450" indent="-171450">
              <a:buFontTx/>
              <a:buChar char="-"/>
            </a:pPr>
            <a:r>
              <a:rPr lang="en-US" dirty="0"/>
              <a:t>But if it does need to suspend, the builder boxes the struct onto the heap so it can survive beyond the current stack frame.</a:t>
            </a:r>
          </a:p>
          <a:p>
            <a:pPr marL="171450" indent="-171450">
              <a:buFontTx/>
              <a:buChar char="-"/>
            </a:pPr>
            <a:r>
              <a:rPr lang="en-US" dirty="0"/>
              <a:t>Best case: zero allocations; typical case: one allocation (the boxed state machine). </a:t>
            </a:r>
          </a:p>
          <a:p>
            <a:r>
              <a:rPr lang="en-US" dirty="0"/>
              <a:t>- The compiler approach is far more efficient. async/await: a struct, a “switch”, some callbacks. </a:t>
            </a:r>
          </a:p>
          <a:p>
            <a:r>
              <a:rPr lang="en-US" dirty="0"/>
              <a:t>- Conclusion: Not magic - just a very clever compiler rewrite.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you understand the state machine, the awaitable pattern, and SynchronizationContext, we can finally explain the one piece of async advice everyone has heard but few can explain: ConfigureAwait(false).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Recall: when you await something, the AsyncTaskMethodBuilder captures SynchronizationContext.Current and uses it to schedule the continuation. In a UI app, that means the continuation runs on the UI thread. ConfigureAwait(false) tells the infrastructure: 'I don't need to come back to the original SynchronizationContext.</a:t>
            </a:r>
          </a:p>
          <a:p>
            <a:r>
              <a:rPr lang="en-US" dirty="0"/>
              <a:t>Run my continuation wherever is most convenient.' In practice, that means the ThreadPool. Mechanically: Task.ConfigureAwait(false) returns a </a:t>
            </a:r>
            <a:r>
              <a:rPr lang="en-US"/>
              <a:t>ConfiguredTaskAwaitable - </a:t>
            </a:r>
            <a:r>
              <a:rPr lang="en-US" dirty="0"/>
              <a:t>a different struct. This is the awaitable pattern from Section 8 in action.</a:t>
            </a:r>
          </a:p>
          <a:p>
            <a:r>
              <a:rPr lang="en-US" dirty="0"/>
              <a:t>Its awaiter's OnCompleted implementation deliberately ignores the current SynchronizationContext and schedules the continuation directly to the ThreadPool.</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ConfigureAwait(false) in library code. If you're writing a NuGet package, a shared utility, or any code that doesn't know whether it'll be called from a UI app - use it on every await. Why? </a:t>
            </a:r>
          </a:p>
          <a:p>
            <a:r>
              <a:rPr lang="en-US" dirty="0"/>
              <a:t>1) Deadlock prevention: a UI developer calls your library method with .Result, blocking the UI thread.</a:t>
            </a:r>
          </a:p>
          <a:p>
            <a:r>
              <a:rPr lang="en-US" dirty="0"/>
              <a:t>Your library's continuation tries to post back to the UI thread. Deadlock. With ConfigureAwait(false), your continuation runs on the ThreadPool, so there's no contention.</a:t>
            </a:r>
          </a:p>
          <a:p>
            <a:r>
              <a:rPr lang="en-US" dirty="0"/>
              <a:t>2) Performance: posting to a SynchronizationContext has overhead - queueing, waking the target thread, context switching.</a:t>
            </a:r>
          </a:p>
          <a:p>
            <a:r>
              <a:rPr lang="en-US" dirty="0"/>
              <a:t>If you don't need the original context, why pay for it? Don't use it in application-level UI code - if you're in a WPF button click handler and need to update a text box after an await, you need to be back on the UI thread.</a:t>
            </a:r>
          </a:p>
          <a:p>
            <a:r>
              <a:rPr lang="en-US" dirty="0"/>
              <a:t>In ASP.NET Core, there is no SynchronizationContext, so ConfigureAwait(false) is largely a no-op.</a:t>
            </a:r>
          </a:p>
          <a:p>
            <a:r>
              <a:rPr lang="en-US" dirty="0"/>
              <a:t>But it's still good practice in library code, because your library might be consumed in a WPF app someday. You need it on EVERY await in library code, not just the first one.</a:t>
            </a:r>
            <a:br>
              <a:rPr lang="en-US" dirty="0"/>
            </a:br>
            <a:br>
              <a:rPr lang="en-US" dirty="0"/>
            </a:br>
            <a:r>
              <a:rPr lang="en-US" dirty="0"/>
              <a:t>Pitfalls of </a:t>
            </a:r>
            <a:r>
              <a:rPr lang="en-US" dirty="0" err="1"/>
              <a:t>configureAwait</a:t>
            </a:r>
            <a:r>
              <a:rPr lang="en-US" dirty="0"/>
              <a:t> false:</a:t>
            </a:r>
            <a:br>
              <a:rPr lang="en-US" dirty="0"/>
            </a:br>
            <a:r>
              <a:rPr lang="en-US" dirty="0"/>
              <a:t>legacy asp net: continuation is queued to request context. Request context is responsible for value of </a:t>
            </a:r>
            <a:r>
              <a:rPr lang="en-US" dirty="0" err="1"/>
              <a:t>HttpContext.Current</a:t>
            </a:r>
            <a:r>
              <a:rPr lang="en-US" dirty="0"/>
              <a:t>. Using </a:t>
            </a:r>
            <a:r>
              <a:rPr lang="en-US" dirty="0" err="1"/>
              <a:t>configureAwait</a:t>
            </a:r>
            <a:r>
              <a:rPr lang="en-US" dirty="0"/>
              <a:t>(false) avoids the capture of context -&gt; Any code dependent on </a:t>
            </a:r>
            <a:r>
              <a:rPr lang="en-US" dirty="0" err="1"/>
              <a:t>HttpContext.Current</a:t>
            </a:r>
            <a:r>
              <a:rPr lang="en-US" dirty="0"/>
              <a:t> will now get null as its value.</a:t>
            </a:r>
            <a:br>
              <a:rPr lang="en-US" dirty="0"/>
            </a:br>
            <a:r>
              <a:rPr lang="en-US" dirty="0" err="1"/>
              <a:t>AspNetSynchronizationContext</a:t>
            </a:r>
            <a:r>
              <a:rPr lang="en-US" dirty="0"/>
              <a:t> would be responsible for reattaching </a:t>
            </a:r>
            <a:r>
              <a:rPr lang="en-US" dirty="0" err="1"/>
              <a:t>HttpContext.Current</a:t>
            </a:r>
            <a:r>
              <a:rPr lang="en-US" dirty="0"/>
              <a:t> value. Not capturing it means </a:t>
            </a:r>
            <a:r>
              <a:rPr lang="en-US" dirty="0" err="1"/>
              <a:t>HttpContext.Current</a:t>
            </a:r>
            <a:r>
              <a:rPr lang="en-US" dirty="0"/>
              <a:t> is null.</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put the whole picture together. This is the recap of everything we've covered.</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write 'async Task MyMethod()', the compiler generates a state machine - a struct with MoveNext() containing all your code as a switch statement. Each await is a potential suspension point. When execution reaches an await, the state machine asks the awaiter: 'Are you done?' If yes - fast path - it keeps running.</a:t>
            </a:r>
          </a:p>
          <a:p>
            <a:r>
              <a:rPr lang="en-US" dirty="0"/>
              <a:t>If not, it records state, registers MoveNext as a callback, and returns - freeing the thread. When the awaited operation completes, the builder restores ExecutionContext, and either posts MoveNext to the captured SynchronizationContext or queues it to the ThreadPool. Your code resumes at the right state.</a:t>
            </a:r>
          </a:p>
          <a:p>
            <a:r>
              <a:rPr lang="en-US" dirty="0"/>
              <a:t>The Task returned to the caller is just a promise - a handle on the outcome. When MoveNext falls through, the builder calls SetResult, and the caller's own await can resume. Every piece has a job: async exists to free threads during waits.</a:t>
            </a:r>
          </a:p>
          <a:p>
            <a:r>
              <a:rPr lang="en-US" dirty="0"/>
              <a:t>Tasks are promises, not threads. The ThreadPool is the default engine. SynchronizationContext decides where continuations run.</a:t>
            </a:r>
          </a:p>
          <a:p>
            <a:r>
              <a:rPr lang="en-US" dirty="0"/>
              <a:t>ExecutionContext flows ambient state. The awaitable pattern makes await extensible. The state machine is the compiler's rewrite.</a:t>
            </a:r>
          </a:p>
          <a:p>
            <a:r>
              <a:rPr lang="en-US" dirty="0"/>
              <a:t>ConfigureAwait(false) opts out of context capture.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What about </a:t>
            </a:r>
            <a:r>
              <a:rPr lang="en-US" dirty="0" err="1"/>
              <a:t>ValueTask</a:t>
            </a:r>
            <a:r>
              <a:rPr lang="en-US" dirty="0"/>
              <a:t>? What is it and when do we use it?</a:t>
            </a:r>
          </a:p>
          <a:p>
            <a:pPr marL="171450" indent="-171450">
              <a:buFontTx/>
              <a:buChar char="-"/>
            </a:pPr>
            <a:r>
              <a:rPr lang="en-US" dirty="0" err="1"/>
              <a:t>ValueTask</a:t>
            </a:r>
            <a:r>
              <a:rPr lang="en-US" dirty="0"/>
              <a:t>&lt;T&gt; is a struct that wraps either a bare T result value or a Task&lt;T&gt;. </a:t>
            </a:r>
          </a:p>
          <a:p>
            <a:pPr marL="171450" indent="-171450">
              <a:buFontTx/>
              <a:buChar char="-"/>
            </a:pPr>
            <a:r>
              <a:rPr lang="en-US" dirty="0"/>
              <a:t>The advantage: if the operation completes synchronously and the result is already available, ValueTask&lt;T&gt; can return it without allocating a Task object on the heap. This is a zero-allocation fast path.</a:t>
            </a:r>
          </a:p>
          <a:p>
            <a:pPr marL="171450" indent="-171450">
              <a:buFontTx/>
              <a:buChar char="-"/>
            </a:pPr>
            <a:r>
              <a:rPr lang="en-US" dirty="0"/>
              <a:t>When the operation does need to suspend, </a:t>
            </a:r>
            <a:r>
              <a:rPr lang="en-US" dirty="0" err="1"/>
              <a:t>ValueTask</a:t>
            </a:r>
            <a:r>
              <a:rPr lang="en-US" dirty="0"/>
              <a:t>&lt;T&gt; falls back to wrapping a real Task&lt;T&gt;, so you get one heap allocation - same as if you'd used Task&lt;T&gt; directly. The benefit is purely on the synchronous-completion path: cache hits, buffered reads, already-computed results.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Caveats: </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US" dirty="0"/>
              <a:t>You must await it exactly once, directly.</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US" dirty="0"/>
              <a:t>Don't store it in a variable and await it later.</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US" dirty="0"/>
              <a:t>Don't await it from multiple places concurrently. </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US" dirty="0"/>
              <a:t>Don't call .Result or .</a:t>
            </a:r>
            <a:r>
              <a:rPr lang="en-US" dirty="0" err="1"/>
              <a:t>GetAwaiter</a:t>
            </a:r>
            <a:r>
              <a:rPr lang="en-US" dirty="0"/>
              <a:t>().</a:t>
            </a:r>
            <a:r>
              <a:rPr lang="en-US" dirty="0" err="1"/>
              <a:t>GetResult</a:t>
            </a:r>
            <a:r>
              <a:rPr lang="en-US" dirty="0"/>
              <a:t>() after it's already been awaited. </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US" dirty="0"/>
              <a:t>These restrictions exist because the underlying </a:t>
            </a:r>
            <a:r>
              <a:rPr lang="en-US" dirty="0" err="1"/>
              <a:t>IValueTaskSource</a:t>
            </a:r>
            <a:r>
              <a:rPr lang="en-US" dirty="0"/>
              <a:t> may be pooled and reused.</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we've covered today - state machines, context capture, scheduler hops - is fundamentally a compiler trick. The C# compiler transforms your async methods into state machine structs, and the runtime provides the scheduling infrastructure. But the runtime itself has no native concept of 'this is an async operation that was suspended.'</a:t>
            </a:r>
          </a:p>
          <a:p>
            <a:r>
              <a:rPr lang="en-US" dirty="0"/>
              <a:t>The .NET team has explored making async a first-class runtime primitive. Instead of the compiler generating state machine structs that get boxed onto the heap when they suspend, the runtime itself could manage lightweight continuation frames. This would eliminate the boxing allocation entirely.</a:t>
            </a:r>
          </a:p>
          <a:p>
            <a:r>
              <a:rPr lang="en-US" dirty="0"/>
              <a:t>Green threads or fibers are another direction being explored - lightweight threads managed by the runtime scheduler rather than the OS. These are cheaper to create and switch between than OS threads. Languages like Go (goroutines) and Kotlin (coroutines) already use this model.</a:t>
            </a:r>
          </a:p>
          <a:p>
            <a:r>
              <a:rPr lang="en-US" dirty="0"/>
              <a:t>.NET 9 already brought improvements: the I/O completion ThreadPool on Windows was reworked, and Linux got IOUring support for more efficient async I/O at the OS level. IAsyncEnumerable and async streams are already part of the BCL, enabling async iteration patterns.</a:t>
            </a:r>
          </a:p>
          <a:p>
            <a:r>
              <a:rPr lang="en-US" dirty="0"/>
              <a:t>The vision: cheaper suspension, less GC pressure, and potentially eliminating the need for ConfigureAwait(false) entirely if the runtime can handle context management natively. Watch the dotnet/runtime GitHub repository for the latest proposals on async-generator and green-threads discussions.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started this talk knowing that async/await is something you put on methods because you're told you must. Now you know what it does, why it exists, and how the compiler and runtime conspire to make it work. The next time you see a deadlock or a mysterious context bug, you’ll hopefully have the mental model to diagnose it, or at least have a starting point on where you should look.</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hyperlink" Target="https://sharplab.io/#v2:EYLgxg9gTgpgtADwGwBYA0ATEBqAPgAQAYACfARgFYBuAWACh8AmM+/ADlKWIFEEBDALYAHADYwAggGcAngDswACgCU9AN71im0mQCcCgEQBlAC4whxMvqW06W0js4A6ACIwRfaQrKEf1jVvI9I1NzRisbO3wHfCQXNw8FCl8IgN0DEzNiAGZw+gBfeiA===" TargetMode="External"/><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hyperlink" Target="https://sharplab.io/#v2:EYLgxg9gTgpgtADwGwBYA0ATEBqAPgAQAYACfARgFYBuAWACh8AmM+/ADlKWIFEEBDALYAHADYwAggGcAngDswACgCU9AN71im0mQCcCgEQBlAC4whxMvqW06W0js4A6ACIwRfaQrKEf1jVvI9I1NzRisbO3wHfCQXNw8FCl8IgN0DEzNiAGZw+gBfeiA===" TargetMode="External"/><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hyperlink" Target="https://sharplab.io/#v2:EYLgxg9gTgpgtADwGwBYA0ATEBqAPgAQAYACfARgFYBuAWACh8AmM+/ADlKWIFEEBDALYAHADYwAggGcAngDswACgCU9AN71im0mQCcCgEQBlAC4whxMvqW06W0js4A6ACIwRfaQrKEf1jVvI9I1NzRisbO3wHfCQXNw8FCl8IgN0DEzNiAGZw+gBfeiA===" TargetMode="External"/><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rot="-600000">
            <a:off x="5943600" y="-914400"/>
            <a:ext cx="4572000" cy="2743200"/>
          </a:xfrm>
          <a:prstGeom prst="rect">
            <a:avLst/>
          </a:prstGeom>
          <a:solidFill>
            <a:srgbClr val="38BDF8"/>
          </a:solidFill>
          <a:ln/>
        </p:spPr>
        <p:txBody>
          <a:bodyPr/>
          <a:lstStyle/>
          <a:p>
            <a:endParaRPr lang="en-US"/>
          </a:p>
        </p:txBody>
      </p:sp>
      <p:sp>
        <p:nvSpPr>
          <p:cNvPr id="3" name="Shape 1"/>
          <p:cNvSpPr/>
          <p:nvPr/>
        </p:nvSpPr>
        <p:spPr>
          <a:xfrm rot="-600000">
            <a:off x="6400800" y="-457200"/>
            <a:ext cx="4572000" cy="2743200"/>
          </a:xfrm>
          <a:prstGeom prst="rect">
            <a:avLst/>
          </a:prstGeom>
          <a:solidFill>
            <a:srgbClr val="A78BFA"/>
          </a:solidFill>
          <a:ln/>
        </p:spPr>
        <p:txBody>
          <a:bodyPr/>
          <a:lstStyle/>
          <a:p>
            <a:endParaRPr lang="en-US"/>
          </a:p>
        </p:txBody>
      </p:sp>
      <p:sp>
        <p:nvSpPr>
          <p:cNvPr id="4" name="Text 2"/>
          <p:cNvSpPr/>
          <p:nvPr/>
        </p:nvSpPr>
        <p:spPr>
          <a:xfrm>
            <a:off x="640080" y="1463040"/>
            <a:ext cx="7315200" cy="640080"/>
          </a:xfrm>
          <a:prstGeom prst="rect">
            <a:avLst/>
          </a:prstGeom>
          <a:noFill/>
          <a:ln/>
        </p:spPr>
        <p:txBody>
          <a:bodyPr wrap="square" lIns="0" tIns="0" rIns="0" bIns="0" rtlCol="0" anchor="ctr"/>
          <a:lstStyle/>
          <a:p>
            <a:pPr marL="0" indent="0">
              <a:buNone/>
            </a:pPr>
            <a:r>
              <a:rPr lang="en-US" sz="2400" dirty="0">
                <a:solidFill>
                  <a:srgbClr val="94A3B8"/>
                </a:solidFill>
                <a:latin typeface="Calibri" pitchFamily="34" charset="0"/>
                <a:ea typeface="Calibri" pitchFamily="34" charset="-122"/>
                <a:cs typeface="Calibri" pitchFamily="34" charset="-120"/>
              </a:rPr>
              <a:t>Beyond the Basics of</a:t>
            </a:r>
            <a:endParaRPr lang="en-US" sz="2400" dirty="0"/>
          </a:p>
        </p:txBody>
      </p:sp>
      <p:sp>
        <p:nvSpPr>
          <p:cNvPr id="5" name="Text 3"/>
          <p:cNvSpPr/>
          <p:nvPr/>
        </p:nvSpPr>
        <p:spPr>
          <a:xfrm>
            <a:off x="640080" y="2011680"/>
            <a:ext cx="7315200" cy="1097280"/>
          </a:xfrm>
          <a:prstGeom prst="rect">
            <a:avLst/>
          </a:prstGeom>
          <a:noFill/>
          <a:ln/>
        </p:spPr>
        <p:txBody>
          <a:bodyPr wrap="square" lIns="0" tIns="0" rIns="0" bIns="0" rtlCol="0" anchor="ctr"/>
          <a:lstStyle/>
          <a:p>
            <a:pPr marL="0" indent="0">
              <a:buNone/>
            </a:pPr>
            <a:r>
              <a:rPr lang="en-US" sz="4800" b="1" dirty="0">
                <a:solidFill>
                  <a:srgbClr val="F1F5F9"/>
                </a:solidFill>
                <a:latin typeface="Trebuchet MS" pitchFamily="34" charset="0"/>
                <a:ea typeface="Trebuchet MS" pitchFamily="34" charset="-122"/>
                <a:cs typeface="Trebuchet MS" pitchFamily="34" charset="-120"/>
              </a:rPr>
              <a:t>async / await</a:t>
            </a:r>
            <a:endParaRPr lang="en-US" sz="4800" dirty="0"/>
          </a:p>
        </p:txBody>
      </p:sp>
      <p:sp>
        <p:nvSpPr>
          <p:cNvPr id="6" name="Text 4"/>
          <p:cNvSpPr/>
          <p:nvPr/>
        </p:nvSpPr>
        <p:spPr>
          <a:xfrm>
            <a:off x="640080" y="3200400"/>
            <a:ext cx="6400800" cy="457200"/>
          </a:xfrm>
          <a:prstGeom prst="rect">
            <a:avLst/>
          </a:prstGeom>
          <a:noFill/>
          <a:ln/>
        </p:spPr>
        <p:txBody>
          <a:bodyPr wrap="square" lIns="0" tIns="0" rIns="0" bIns="0" rtlCol="0" anchor="ctr"/>
          <a:lstStyle/>
          <a:p>
            <a:pPr marL="0" indent="0">
              <a:buNone/>
            </a:pPr>
            <a:r>
              <a:rPr lang="en-US" sz="1600" i="1" dirty="0">
                <a:solidFill>
                  <a:srgbClr val="38BDF8"/>
                </a:solidFill>
                <a:latin typeface="Calibri" pitchFamily="34" charset="0"/>
                <a:ea typeface="Calibri" pitchFamily="34" charset="-122"/>
                <a:cs typeface="Calibri" pitchFamily="34" charset="-120"/>
              </a:rPr>
              <a:t>What really happens when you press F5</a:t>
            </a:r>
            <a:endParaRPr lang="en-US" sz="1600" dirty="0"/>
          </a:p>
        </p:txBody>
      </p:sp>
      <p:sp>
        <p:nvSpPr>
          <p:cNvPr id="7" name="Shape 5"/>
          <p:cNvSpPr/>
          <p:nvPr/>
        </p:nvSpPr>
        <p:spPr>
          <a:xfrm>
            <a:off x="0" y="4754880"/>
            <a:ext cx="9144000" cy="388620"/>
          </a:xfrm>
          <a:prstGeom prst="rect">
            <a:avLst/>
          </a:prstGeom>
          <a:solidFill>
            <a:srgbClr val="1E293B"/>
          </a:solidFill>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a:extLst>
            <a:ext uri="{FF2B5EF4-FFF2-40B4-BE49-F238E27FC236}">
              <a16:creationId xmlns:a16="http://schemas.microsoft.com/office/drawing/2014/main" id="{80D1D1A1-D35F-3934-2856-E58871F928D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9947426-61B3-64A8-6609-2CF6259D60DF}"/>
              </a:ext>
            </a:extLst>
          </p:cNvPr>
          <p:cNvSpPr/>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F1F5F9"/>
                </a:solidFill>
                <a:latin typeface="Trebuchet MS" pitchFamily="34" charset="0"/>
                <a:ea typeface="Trebuchet MS" pitchFamily="34" charset="-122"/>
                <a:cs typeface="Trebuchet MS" pitchFamily="34" charset="-120"/>
              </a:rPr>
              <a:t>Topic walkthrough</a:t>
            </a:r>
            <a:endParaRPr lang="en-US" sz="2800" dirty="0"/>
          </a:p>
        </p:txBody>
      </p:sp>
      <p:sp>
        <p:nvSpPr>
          <p:cNvPr id="3" name="Shape 1">
            <a:extLst>
              <a:ext uri="{FF2B5EF4-FFF2-40B4-BE49-F238E27FC236}">
                <a16:creationId xmlns:a16="http://schemas.microsoft.com/office/drawing/2014/main" id="{ABA23435-270E-8E32-84F2-5ACC23B70B94}"/>
              </a:ext>
            </a:extLst>
          </p:cNvPr>
          <p:cNvSpPr/>
          <p:nvPr/>
        </p:nvSpPr>
        <p:spPr>
          <a:xfrm>
            <a:off x="457200" y="671299"/>
            <a:ext cx="64008" cy="347472"/>
          </a:xfrm>
          <a:prstGeom prst="rect">
            <a:avLst/>
          </a:prstGeom>
          <a:solidFill>
            <a:srgbClr val="38BDF8"/>
          </a:solidFill>
          <a:ln/>
        </p:spPr>
        <p:txBody>
          <a:bodyPr/>
          <a:lstStyle/>
          <a:p>
            <a:endParaRPr lang="en-US"/>
          </a:p>
        </p:txBody>
      </p:sp>
      <p:sp>
        <p:nvSpPr>
          <p:cNvPr id="4" name="Text 2">
            <a:extLst>
              <a:ext uri="{FF2B5EF4-FFF2-40B4-BE49-F238E27FC236}">
                <a16:creationId xmlns:a16="http://schemas.microsoft.com/office/drawing/2014/main" id="{705972C6-2177-C38E-5666-146030465E2E}"/>
              </a:ext>
            </a:extLst>
          </p:cNvPr>
          <p:cNvSpPr/>
          <p:nvPr/>
        </p:nvSpPr>
        <p:spPr>
          <a:xfrm>
            <a:off x="640080" y="671299"/>
            <a:ext cx="411480" cy="347472"/>
          </a:xfrm>
          <a:prstGeom prst="rect">
            <a:avLst/>
          </a:prstGeom>
          <a:noFill/>
          <a:ln/>
        </p:spPr>
        <p:txBody>
          <a:bodyPr wrap="square" lIns="0" tIns="0" rIns="0" bIns="0" rtlCol="0" anchor="ctr"/>
          <a:lstStyle/>
          <a:p>
            <a:pPr marL="0" indent="0">
              <a:buNone/>
            </a:pPr>
            <a:r>
              <a:rPr lang="en-US" sz="1000" dirty="0">
                <a:solidFill>
                  <a:srgbClr val="94A3B8"/>
                </a:solidFill>
                <a:latin typeface="Consolas" pitchFamily="34" charset="0"/>
                <a:ea typeface="Consolas" pitchFamily="34" charset="-122"/>
                <a:cs typeface="Consolas" pitchFamily="34" charset="-120"/>
              </a:rPr>
              <a:t>01</a:t>
            </a:r>
            <a:endParaRPr lang="en-US" sz="1000" dirty="0"/>
          </a:p>
        </p:txBody>
      </p:sp>
      <p:sp>
        <p:nvSpPr>
          <p:cNvPr id="5" name="Text 3">
            <a:extLst>
              <a:ext uri="{FF2B5EF4-FFF2-40B4-BE49-F238E27FC236}">
                <a16:creationId xmlns:a16="http://schemas.microsoft.com/office/drawing/2014/main" id="{041CF85F-0157-A08B-333B-4677EEC4AD90}"/>
              </a:ext>
            </a:extLst>
          </p:cNvPr>
          <p:cNvSpPr/>
          <p:nvPr/>
        </p:nvSpPr>
        <p:spPr>
          <a:xfrm>
            <a:off x="1051560" y="671299"/>
            <a:ext cx="2377440" cy="347472"/>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Why async exists</a:t>
            </a:r>
            <a:endParaRPr lang="en-US" sz="1200" dirty="0"/>
          </a:p>
        </p:txBody>
      </p:sp>
      <p:sp>
        <p:nvSpPr>
          <p:cNvPr id="6" name="Text 4">
            <a:extLst>
              <a:ext uri="{FF2B5EF4-FFF2-40B4-BE49-F238E27FC236}">
                <a16:creationId xmlns:a16="http://schemas.microsoft.com/office/drawing/2014/main" id="{EB37F063-18B5-76E1-4FF5-6233D97842C7}"/>
              </a:ext>
            </a:extLst>
          </p:cNvPr>
          <p:cNvSpPr/>
          <p:nvPr/>
        </p:nvSpPr>
        <p:spPr>
          <a:xfrm>
            <a:off x="3474720" y="671299"/>
            <a:ext cx="5212080" cy="347472"/>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Free threads during waits</a:t>
            </a:r>
            <a:endParaRPr lang="en-US" sz="1200" dirty="0"/>
          </a:p>
        </p:txBody>
      </p:sp>
      <p:sp>
        <p:nvSpPr>
          <p:cNvPr id="7" name="Shape 5">
            <a:extLst>
              <a:ext uri="{FF2B5EF4-FFF2-40B4-BE49-F238E27FC236}">
                <a16:creationId xmlns:a16="http://schemas.microsoft.com/office/drawing/2014/main" id="{17649C3C-6F5B-E58E-3C0B-3446771F2AC6}"/>
              </a:ext>
            </a:extLst>
          </p:cNvPr>
          <p:cNvSpPr/>
          <p:nvPr/>
        </p:nvSpPr>
        <p:spPr>
          <a:xfrm>
            <a:off x="457200" y="1082779"/>
            <a:ext cx="64008" cy="347472"/>
          </a:xfrm>
          <a:prstGeom prst="rect">
            <a:avLst/>
          </a:prstGeom>
          <a:solidFill>
            <a:srgbClr val="38BDF8"/>
          </a:solidFill>
          <a:ln/>
        </p:spPr>
        <p:txBody>
          <a:bodyPr/>
          <a:lstStyle/>
          <a:p>
            <a:endParaRPr lang="en-US"/>
          </a:p>
        </p:txBody>
      </p:sp>
      <p:sp>
        <p:nvSpPr>
          <p:cNvPr id="8" name="Text 6">
            <a:extLst>
              <a:ext uri="{FF2B5EF4-FFF2-40B4-BE49-F238E27FC236}">
                <a16:creationId xmlns:a16="http://schemas.microsoft.com/office/drawing/2014/main" id="{B7BFAB19-1E3F-5439-4E74-297377DDC617}"/>
              </a:ext>
            </a:extLst>
          </p:cNvPr>
          <p:cNvSpPr/>
          <p:nvPr/>
        </p:nvSpPr>
        <p:spPr>
          <a:xfrm>
            <a:off x="640080" y="1082779"/>
            <a:ext cx="411480" cy="347472"/>
          </a:xfrm>
          <a:prstGeom prst="rect">
            <a:avLst/>
          </a:prstGeom>
          <a:noFill/>
          <a:ln/>
        </p:spPr>
        <p:txBody>
          <a:bodyPr wrap="square" lIns="0" tIns="0" rIns="0" bIns="0" rtlCol="0" anchor="ctr"/>
          <a:lstStyle/>
          <a:p>
            <a:pPr marL="0" indent="0">
              <a:buNone/>
            </a:pPr>
            <a:r>
              <a:rPr lang="en-US" sz="1000" dirty="0">
                <a:solidFill>
                  <a:srgbClr val="94A3B8"/>
                </a:solidFill>
                <a:latin typeface="Consolas" pitchFamily="34" charset="0"/>
                <a:ea typeface="Consolas" pitchFamily="34" charset="-122"/>
                <a:cs typeface="Consolas" pitchFamily="34" charset="-120"/>
              </a:rPr>
              <a:t>02</a:t>
            </a:r>
            <a:endParaRPr lang="en-US" sz="1000" dirty="0"/>
          </a:p>
        </p:txBody>
      </p:sp>
      <p:sp>
        <p:nvSpPr>
          <p:cNvPr id="9" name="Text 7">
            <a:extLst>
              <a:ext uri="{FF2B5EF4-FFF2-40B4-BE49-F238E27FC236}">
                <a16:creationId xmlns:a16="http://schemas.microsoft.com/office/drawing/2014/main" id="{D9AA88E8-CC74-D314-735A-546C0B97ADCF}"/>
              </a:ext>
            </a:extLst>
          </p:cNvPr>
          <p:cNvSpPr/>
          <p:nvPr/>
        </p:nvSpPr>
        <p:spPr>
          <a:xfrm>
            <a:off x="1051560" y="1082779"/>
            <a:ext cx="2377440" cy="347472"/>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Before await</a:t>
            </a:r>
            <a:endParaRPr lang="en-US" sz="1200" dirty="0"/>
          </a:p>
        </p:txBody>
      </p:sp>
      <p:sp>
        <p:nvSpPr>
          <p:cNvPr id="10" name="Text 8">
            <a:extLst>
              <a:ext uri="{FF2B5EF4-FFF2-40B4-BE49-F238E27FC236}">
                <a16:creationId xmlns:a16="http://schemas.microsoft.com/office/drawing/2014/main" id="{1229ACEB-C325-5C3A-4AAA-8819B6288574}"/>
              </a:ext>
            </a:extLst>
          </p:cNvPr>
          <p:cNvSpPr/>
          <p:nvPr/>
        </p:nvSpPr>
        <p:spPr>
          <a:xfrm>
            <a:off x="3474720" y="1082779"/>
            <a:ext cx="5212080" cy="347472"/>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Callback hell with ContinueWith</a:t>
            </a:r>
            <a:endParaRPr lang="en-US" sz="1200" dirty="0"/>
          </a:p>
        </p:txBody>
      </p:sp>
      <p:sp>
        <p:nvSpPr>
          <p:cNvPr id="11" name="Shape 9">
            <a:extLst>
              <a:ext uri="{FF2B5EF4-FFF2-40B4-BE49-F238E27FC236}">
                <a16:creationId xmlns:a16="http://schemas.microsoft.com/office/drawing/2014/main" id="{861BF1D2-2204-7C42-4D03-79632D1E4087}"/>
              </a:ext>
            </a:extLst>
          </p:cNvPr>
          <p:cNvSpPr/>
          <p:nvPr/>
        </p:nvSpPr>
        <p:spPr>
          <a:xfrm>
            <a:off x="457200" y="1494259"/>
            <a:ext cx="64008" cy="347472"/>
          </a:xfrm>
          <a:prstGeom prst="rect">
            <a:avLst/>
          </a:prstGeom>
          <a:solidFill>
            <a:srgbClr val="A78BFA"/>
          </a:solidFill>
          <a:ln/>
        </p:spPr>
        <p:txBody>
          <a:bodyPr/>
          <a:lstStyle/>
          <a:p>
            <a:endParaRPr lang="en-US"/>
          </a:p>
        </p:txBody>
      </p:sp>
      <p:sp>
        <p:nvSpPr>
          <p:cNvPr id="12" name="Text 10">
            <a:extLst>
              <a:ext uri="{FF2B5EF4-FFF2-40B4-BE49-F238E27FC236}">
                <a16:creationId xmlns:a16="http://schemas.microsoft.com/office/drawing/2014/main" id="{44B84422-100C-EB5C-8FCC-5D6D7239A0CA}"/>
              </a:ext>
            </a:extLst>
          </p:cNvPr>
          <p:cNvSpPr/>
          <p:nvPr/>
        </p:nvSpPr>
        <p:spPr>
          <a:xfrm>
            <a:off x="640080" y="1494259"/>
            <a:ext cx="411480" cy="347472"/>
          </a:xfrm>
          <a:prstGeom prst="rect">
            <a:avLst/>
          </a:prstGeom>
          <a:noFill/>
          <a:ln/>
        </p:spPr>
        <p:txBody>
          <a:bodyPr wrap="square" lIns="0" tIns="0" rIns="0" bIns="0" rtlCol="0" anchor="ctr"/>
          <a:lstStyle/>
          <a:p>
            <a:pPr marL="0" indent="0">
              <a:buNone/>
            </a:pPr>
            <a:r>
              <a:rPr lang="en-US" sz="1000" dirty="0">
                <a:solidFill>
                  <a:srgbClr val="94A3B8"/>
                </a:solidFill>
                <a:latin typeface="Consolas" pitchFamily="34" charset="0"/>
                <a:ea typeface="Consolas" pitchFamily="34" charset="-122"/>
                <a:cs typeface="Consolas" pitchFamily="34" charset="-120"/>
              </a:rPr>
              <a:t>03</a:t>
            </a:r>
            <a:endParaRPr lang="en-US" sz="1000" dirty="0"/>
          </a:p>
        </p:txBody>
      </p:sp>
      <p:sp>
        <p:nvSpPr>
          <p:cNvPr id="13" name="Text 11">
            <a:extLst>
              <a:ext uri="{FF2B5EF4-FFF2-40B4-BE49-F238E27FC236}">
                <a16:creationId xmlns:a16="http://schemas.microsoft.com/office/drawing/2014/main" id="{E159BF27-C040-8894-319B-C9BF0E94ACAA}"/>
              </a:ext>
            </a:extLst>
          </p:cNvPr>
          <p:cNvSpPr/>
          <p:nvPr/>
        </p:nvSpPr>
        <p:spPr>
          <a:xfrm>
            <a:off x="1051560" y="1494259"/>
            <a:ext cx="2377440" cy="347472"/>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Task</a:t>
            </a:r>
            <a:endParaRPr lang="en-US" sz="1200" dirty="0"/>
          </a:p>
        </p:txBody>
      </p:sp>
      <p:sp>
        <p:nvSpPr>
          <p:cNvPr id="14" name="Text 12">
            <a:extLst>
              <a:ext uri="{FF2B5EF4-FFF2-40B4-BE49-F238E27FC236}">
                <a16:creationId xmlns:a16="http://schemas.microsoft.com/office/drawing/2014/main" id="{4F5F90AA-4D70-EABF-F0A7-74CA32FE0DED}"/>
              </a:ext>
            </a:extLst>
          </p:cNvPr>
          <p:cNvSpPr/>
          <p:nvPr/>
        </p:nvSpPr>
        <p:spPr>
          <a:xfrm>
            <a:off x="3474720" y="1494259"/>
            <a:ext cx="5212080" cy="347472"/>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A promise (data structure), not a thread</a:t>
            </a:r>
            <a:endParaRPr lang="en-US" sz="1200" dirty="0"/>
          </a:p>
        </p:txBody>
      </p:sp>
      <p:sp>
        <p:nvSpPr>
          <p:cNvPr id="15" name="Shape 13">
            <a:extLst>
              <a:ext uri="{FF2B5EF4-FFF2-40B4-BE49-F238E27FC236}">
                <a16:creationId xmlns:a16="http://schemas.microsoft.com/office/drawing/2014/main" id="{9016C9C5-84D1-395E-9FF4-F1C309D7C7F7}"/>
              </a:ext>
            </a:extLst>
          </p:cNvPr>
          <p:cNvSpPr/>
          <p:nvPr/>
        </p:nvSpPr>
        <p:spPr>
          <a:xfrm>
            <a:off x="457200" y="2253211"/>
            <a:ext cx="64008" cy="347472"/>
          </a:xfrm>
          <a:prstGeom prst="rect">
            <a:avLst/>
          </a:prstGeom>
          <a:solidFill>
            <a:srgbClr val="A78BFA"/>
          </a:solidFill>
          <a:ln/>
        </p:spPr>
        <p:txBody>
          <a:bodyPr/>
          <a:lstStyle/>
          <a:p>
            <a:endParaRPr lang="en-US"/>
          </a:p>
        </p:txBody>
      </p:sp>
      <p:sp>
        <p:nvSpPr>
          <p:cNvPr id="16" name="Text 14">
            <a:extLst>
              <a:ext uri="{FF2B5EF4-FFF2-40B4-BE49-F238E27FC236}">
                <a16:creationId xmlns:a16="http://schemas.microsoft.com/office/drawing/2014/main" id="{7BC41656-7207-C047-BCD1-44DD689680A0}"/>
              </a:ext>
            </a:extLst>
          </p:cNvPr>
          <p:cNvSpPr/>
          <p:nvPr/>
        </p:nvSpPr>
        <p:spPr>
          <a:xfrm>
            <a:off x="640080" y="2253211"/>
            <a:ext cx="411480" cy="347472"/>
          </a:xfrm>
          <a:prstGeom prst="rect">
            <a:avLst/>
          </a:prstGeom>
          <a:noFill/>
          <a:ln/>
        </p:spPr>
        <p:txBody>
          <a:bodyPr wrap="square" lIns="0" tIns="0" rIns="0" bIns="0" rtlCol="0" anchor="ctr"/>
          <a:lstStyle/>
          <a:p>
            <a:pPr marL="0" indent="0">
              <a:buNone/>
            </a:pPr>
            <a:r>
              <a:rPr lang="en-US" sz="1000" dirty="0">
                <a:solidFill>
                  <a:srgbClr val="94A3B8"/>
                </a:solidFill>
                <a:latin typeface="Consolas" pitchFamily="34" charset="0"/>
                <a:ea typeface="Consolas" pitchFamily="34" charset="-122"/>
                <a:cs typeface="Consolas" pitchFamily="34" charset="-120"/>
              </a:rPr>
              <a:t>05</a:t>
            </a:r>
            <a:endParaRPr lang="en-US" sz="1000" dirty="0"/>
          </a:p>
        </p:txBody>
      </p:sp>
      <p:sp>
        <p:nvSpPr>
          <p:cNvPr id="17" name="Text 15">
            <a:extLst>
              <a:ext uri="{FF2B5EF4-FFF2-40B4-BE49-F238E27FC236}">
                <a16:creationId xmlns:a16="http://schemas.microsoft.com/office/drawing/2014/main" id="{279E4CE9-35AA-E5E0-1DF3-84BF44E45DCC}"/>
              </a:ext>
            </a:extLst>
          </p:cNvPr>
          <p:cNvSpPr/>
          <p:nvPr/>
        </p:nvSpPr>
        <p:spPr>
          <a:xfrm>
            <a:off x="1051560" y="2253211"/>
            <a:ext cx="2377440" cy="347472"/>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ThreadPool</a:t>
            </a:r>
            <a:endParaRPr lang="en-US" sz="1200" dirty="0"/>
          </a:p>
        </p:txBody>
      </p:sp>
      <p:sp>
        <p:nvSpPr>
          <p:cNvPr id="18" name="Text 16">
            <a:extLst>
              <a:ext uri="{FF2B5EF4-FFF2-40B4-BE49-F238E27FC236}">
                <a16:creationId xmlns:a16="http://schemas.microsoft.com/office/drawing/2014/main" id="{2358E98D-CEC1-6E5C-1A06-F2250C9C110F}"/>
              </a:ext>
            </a:extLst>
          </p:cNvPr>
          <p:cNvSpPr/>
          <p:nvPr/>
        </p:nvSpPr>
        <p:spPr>
          <a:xfrm>
            <a:off x="3474720" y="2253211"/>
            <a:ext cx="5212080" cy="347472"/>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Default engine for work items and continuations</a:t>
            </a:r>
            <a:endParaRPr lang="en-US" sz="1200" dirty="0"/>
          </a:p>
        </p:txBody>
      </p:sp>
      <p:sp>
        <p:nvSpPr>
          <p:cNvPr id="19" name="Shape 17">
            <a:extLst>
              <a:ext uri="{FF2B5EF4-FFF2-40B4-BE49-F238E27FC236}">
                <a16:creationId xmlns:a16="http://schemas.microsoft.com/office/drawing/2014/main" id="{1434F94C-D7C2-3A57-9A90-6444F5F5DFD4}"/>
              </a:ext>
            </a:extLst>
          </p:cNvPr>
          <p:cNvSpPr/>
          <p:nvPr/>
        </p:nvSpPr>
        <p:spPr>
          <a:xfrm>
            <a:off x="457200" y="2664691"/>
            <a:ext cx="64008" cy="347472"/>
          </a:xfrm>
          <a:prstGeom prst="rect">
            <a:avLst/>
          </a:prstGeom>
          <a:solidFill>
            <a:srgbClr val="4ADE80"/>
          </a:solidFill>
          <a:ln/>
        </p:spPr>
        <p:txBody>
          <a:bodyPr/>
          <a:lstStyle/>
          <a:p>
            <a:endParaRPr lang="en-US"/>
          </a:p>
        </p:txBody>
      </p:sp>
      <p:sp>
        <p:nvSpPr>
          <p:cNvPr id="20" name="Text 18">
            <a:extLst>
              <a:ext uri="{FF2B5EF4-FFF2-40B4-BE49-F238E27FC236}">
                <a16:creationId xmlns:a16="http://schemas.microsoft.com/office/drawing/2014/main" id="{8122B0A6-DDAE-C35A-ED64-C3F39606A3A6}"/>
              </a:ext>
            </a:extLst>
          </p:cNvPr>
          <p:cNvSpPr/>
          <p:nvPr/>
        </p:nvSpPr>
        <p:spPr>
          <a:xfrm>
            <a:off x="640080" y="2664691"/>
            <a:ext cx="411480" cy="347472"/>
          </a:xfrm>
          <a:prstGeom prst="rect">
            <a:avLst/>
          </a:prstGeom>
          <a:noFill/>
          <a:ln/>
        </p:spPr>
        <p:txBody>
          <a:bodyPr wrap="square" lIns="0" tIns="0" rIns="0" bIns="0" rtlCol="0" anchor="ctr"/>
          <a:lstStyle/>
          <a:p>
            <a:pPr marL="0" indent="0">
              <a:buNone/>
            </a:pPr>
            <a:r>
              <a:rPr lang="en-US" sz="1000" dirty="0">
                <a:solidFill>
                  <a:srgbClr val="94A3B8"/>
                </a:solidFill>
                <a:latin typeface="Consolas" pitchFamily="34" charset="0"/>
                <a:ea typeface="Consolas" pitchFamily="34" charset="-122"/>
                <a:cs typeface="Consolas" pitchFamily="34" charset="-120"/>
              </a:rPr>
              <a:t>06</a:t>
            </a:r>
            <a:endParaRPr lang="en-US" sz="1000" dirty="0"/>
          </a:p>
        </p:txBody>
      </p:sp>
      <p:sp>
        <p:nvSpPr>
          <p:cNvPr id="21" name="Text 19">
            <a:extLst>
              <a:ext uri="{FF2B5EF4-FFF2-40B4-BE49-F238E27FC236}">
                <a16:creationId xmlns:a16="http://schemas.microsoft.com/office/drawing/2014/main" id="{EEE9197B-ADEB-7F39-76F1-90CB5C6E0644}"/>
              </a:ext>
            </a:extLst>
          </p:cNvPr>
          <p:cNvSpPr/>
          <p:nvPr/>
        </p:nvSpPr>
        <p:spPr>
          <a:xfrm>
            <a:off x="1051560" y="2664691"/>
            <a:ext cx="2377440" cy="347472"/>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SynchronizationContext</a:t>
            </a:r>
            <a:endParaRPr lang="en-US" sz="1200" dirty="0"/>
          </a:p>
        </p:txBody>
      </p:sp>
      <p:sp>
        <p:nvSpPr>
          <p:cNvPr id="22" name="Text 20">
            <a:extLst>
              <a:ext uri="{FF2B5EF4-FFF2-40B4-BE49-F238E27FC236}">
                <a16:creationId xmlns:a16="http://schemas.microsoft.com/office/drawing/2014/main" id="{BE694165-1F75-21F3-6CE8-A5A6960EA20A}"/>
              </a:ext>
            </a:extLst>
          </p:cNvPr>
          <p:cNvSpPr/>
          <p:nvPr/>
        </p:nvSpPr>
        <p:spPr>
          <a:xfrm>
            <a:off x="3474720" y="2664691"/>
            <a:ext cx="5212080" cy="347472"/>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Decides where continuations run</a:t>
            </a:r>
            <a:endParaRPr lang="en-US" sz="1200" dirty="0"/>
          </a:p>
        </p:txBody>
      </p:sp>
      <p:sp>
        <p:nvSpPr>
          <p:cNvPr id="23" name="Shape 21">
            <a:extLst>
              <a:ext uri="{FF2B5EF4-FFF2-40B4-BE49-F238E27FC236}">
                <a16:creationId xmlns:a16="http://schemas.microsoft.com/office/drawing/2014/main" id="{75AC67F7-23BF-4933-9AB3-9D5FAFC0CBB8}"/>
              </a:ext>
            </a:extLst>
          </p:cNvPr>
          <p:cNvSpPr/>
          <p:nvPr/>
        </p:nvSpPr>
        <p:spPr>
          <a:xfrm>
            <a:off x="457200" y="3076171"/>
            <a:ext cx="64008" cy="347472"/>
          </a:xfrm>
          <a:prstGeom prst="rect">
            <a:avLst/>
          </a:prstGeom>
          <a:solidFill>
            <a:srgbClr val="4ADE80"/>
          </a:solidFill>
          <a:ln/>
        </p:spPr>
        <p:txBody>
          <a:bodyPr/>
          <a:lstStyle/>
          <a:p>
            <a:endParaRPr lang="en-US"/>
          </a:p>
        </p:txBody>
      </p:sp>
      <p:sp>
        <p:nvSpPr>
          <p:cNvPr id="24" name="Text 22">
            <a:extLst>
              <a:ext uri="{FF2B5EF4-FFF2-40B4-BE49-F238E27FC236}">
                <a16:creationId xmlns:a16="http://schemas.microsoft.com/office/drawing/2014/main" id="{B07F537B-09D9-CC88-9EFE-411D0F85B2E1}"/>
              </a:ext>
            </a:extLst>
          </p:cNvPr>
          <p:cNvSpPr/>
          <p:nvPr/>
        </p:nvSpPr>
        <p:spPr>
          <a:xfrm>
            <a:off x="640080" y="3076171"/>
            <a:ext cx="411480" cy="347472"/>
          </a:xfrm>
          <a:prstGeom prst="rect">
            <a:avLst/>
          </a:prstGeom>
          <a:noFill/>
          <a:ln/>
        </p:spPr>
        <p:txBody>
          <a:bodyPr wrap="square" lIns="0" tIns="0" rIns="0" bIns="0" rtlCol="0" anchor="ctr"/>
          <a:lstStyle/>
          <a:p>
            <a:pPr marL="0" indent="0">
              <a:buNone/>
            </a:pPr>
            <a:r>
              <a:rPr lang="en-US" sz="1000" dirty="0">
                <a:solidFill>
                  <a:srgbClr val="94A3B8"/>
                </a:solidFill>
                <a:latin typeface="Consolas" pitchFamily="34" charset="0"/>
                <a:ea typeface="Consolas" pitchFamily="34" charset="-122"/>
                <a:cs typeface="Consolas" pitchFamily="34" charset="-120"/>
              </a:rPr>
              <a:t>07</a:t>
            </a:r>
            <a:endParaRPr lang="en-US" sz="1000" dirty="0"/>
          </a:p>
        </p:txBody>
      </p:sp>
      <p:sp>
        <p:nvSpPr>
          <p:cNvPr id="25" name="Text 23">
            <a:extLst>
              <a:ext uri="{FF2B5EF4-FFF2-40B4-BE49-F238E27FC236}">
                <a16:creationId xmlns:a16="http://schemas.microsoft.com/office/drawing/2014/main" id="{DA4BD13F-8DA6-B205-F3F3-E105659C3A55}"/>
              </a:ext>
            </a:extLst>
          </p:cNvPr>
          <p:cNvSpPr/>
          <p:nvPr/>
        </p:nvSpPr>
        <p:spPr>
          <a:xfrm>
            <a:off x="1051560" y="3076171"/>
            <a:ext cx="2377440" cy="347472"/>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ExecutionContext</a:t>
            </a:r>
            <a:endParaRPr lang="en-US" sz="1200" dirty="0"/>
          </a:p>
        </p:txBody>
      </p:sp>
      <p:sp>
        <p:nvSpPr>
          <p:cNvPr id="26" name="Text 24">
            <a:extLst>
              <a:ext uri="{FF2B5EF4-FFF2-40B4-BE49-F238E27FC236}">
                <a16:creationId xmlns:a16="http://schemas.microsoft.com/office/drawing/2014/main" id="{6394B43E-ACA5-5D1B-6BF3-4E27FAF25843}"/>
              </a:ext>
            </a:extLst>
          </p:cNvPr>
          <p:cNvSpPr/>
          <p:nvPr/>
        </p:nvSpPr>
        <p:spPr>
          <a:xfrm>
            <a:off x="3474720" y="3076171"/>
            <a:ext cx="5212080" cy="347472"/>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Ambient state flows across thread hops</a:t>
            </a:r>
            <a:endParaRPr lang="en-US" sz="1200" dirty="0"/>
          </a:p>
        </p:txBody>
      </p:sp>
      <p:sp>
        <p:nvSpPr>
          <p:cNvPr id="27" name="Shape 25">
            <a:extLst>
              <a:ext uri="{FF2B5EF4-FFF2-40B4-BE49-F238E27FC236}">
                <a16:creationId xmlns:a16="http://schemas.microsoft.com/office/drawing/2014/main" id="{BBC5859C-0381-BBC8-15EE-883AE3257813}"/>
              </a:ext>
            </a:extLst>
          </p:cNvPr>
          <p:cNvSpPr/>
          <p:nvPr/>
        </p:nvSpPr>
        <p:spPr>
          <a:xfrm>
            <a:off x="457200" y="3487651"/>
            <a:ext cx="64008" cy="347472"/>
          </a:xfrm>
          <a:prstGeom prst="rect">
            <a:avLst/>
          </a:prstGeom>
          <a:solidFill>
            <a:srgbClr val="FBBF24"/>
          </a:solidFill>
          <a:ln/>
        </p:spPr>
        <p:txBody>
          <a:bodyPr/>
          <a:lstStyle/>
          <a:p>
            <a:endParaRPr lang="en-US"/>
          </a:p>
        </p:txBody>
      </p:sp>
      <p:sp>
        <p:nvSpPr>
          <p:cNvPr id="28" name="Text 26">
            <a:extLst>
              <a:ext uri="{FF2B5EF4-FFF2-40B4-BE49-F238E27FC236}">
                <a16:creationId xmlns:a16="http://schemas.microsoft.com/office/drawing/2014/main" id="{CBEFFAFE-2741-010D-7A4B-A8C3D3F59786}"/>
              </a:ext>
            </a:extLst>
          </p:cNvPr>
          <p:cNvSpPr/>
          <p:nvPr/>
        </p:nvSpPr>
        <p:spPr>
          <a:xfrm>
            <a:off x="640080" y="3487651"/>
            <a:ext cx="411480" cy="347472"/>
          </a:xfrm>
          <a:prstGeom prst="rect">
            <a:avLst/>
          </a:prstGeom>
          <a:noFill/>
          <a:ln/>
        </p:spPr>
        <p:txBody>
          <a:bodyPr wrap="square" lIns="0" tIns="0" rIns="0" bIns="0" rtlCol="0" anchor="ctr"/>
          <a:lstStyle/>
          <a:p>
            <a:pPr marL="0" indent="0">
              <a:buNone/>
            </a:pPr>
            <a:r>
              <a:rPr lang="en-US" sz="1000" dirty="0">
                <a:solidFill>
                  <a:srgbClr val="94A3B8"/>
                </a:solidFill>
                <a:latin typeface="Consolas" pitchFamily="34" charset="0"/>
                <a:ea typeface="Consolas" pitchFamily="34" charset="-122"/>
                <a:cs typeface="Consolas" pitchFamily="34" charset="-120"/>
              </a:rPr>
              <a:t>08</a:t>
            </a:r>
            <a:endParaRPr lang="en-US" sz="1000" dirty="0"/>
          </a:p>
        </p:txBody>
      </p:sp>
      <p:sp>
        <p:nvSpPr>
          <p:cNvPr id="29" name="Text 27">
            <a:extLst>
              <a:ext uri="{FF2B5EF4-FFF2-40B4-BE49-F238E27FC236}">
                <a16:creationId xmlns:a16="http://schemas.microsoft.com/office/drawing/2014/main" id="{9D544211-1FF4-D447-F241-923FB8B2F5F4}"/>
              </a:ext>
            </a:extLst>
          </p:cNvPr>
          <p:cNvSpPr/>
          <p:nvPr/>
        </p:nvSpPr>
        <p:spPr>
          <a:xfrm>
            <a:off x="1051560" y="3487651"/>
            <a:ext cx="2377440" cy="347472"/>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Awaitable pattern</a:t>
            </a:r>
            <a:endParaRPr lang="en-US" sz="1200" dirty="0"/>
          </a:p>
        </p:txBody>
      </p:sp>
      <p:sp>
        <p:nvSpPr>
          <p:cNvPr id="30" name="Text 28">
            <a:extLst>
              <a:ext uri="{FF2B5EF4-FFF2-40B4-BE49-F238E27FC236}">
                <a16:creationId xmlns:a16="http://schemas.microsoft.com/office/drawing/2014/main" id="{6D193F0B-4B41-7797-AD01-A38EA891D6D1}"/>
              </a:ext>
            </a:extLst>
          </p:cNvPr>
          <p:cNvSpPr/>
          <p:nvPr/>
        </p:nvSpPr>
        <p:spPr>
          <a:xfrm>
            <a:off x="3474720" y="3487651"/>
            <a:ext cx="5212080" cy="347472"/>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GetAwaiter() - pattern-based, not type-based</a:t>
            </a:r>
            <a:endParaRPr lang="en-US" sz="1200" dirty="0"/>
          </a:p>
        </p:txBody>
      </p:sp>
      <p:sp>
        <p:nvSpPr>
          <p:cNvPr id="31" name="Shape 29">
            <a:extLst>
              <a:ext uri="{FF2B5EF4-FFF2-40B4-BE49-F238E27FC236}">
                <a16:creationId xmlns:a16="http://schemas.microsoft.com/office/drawing/2014/main" id="{8AB52A34-BA92-1F40-F5AB-CEF9F1D53180}"/>
              </a:ext>
            </a:extLst>
          </p:cNvPr>
          <p:cNvSpPr/>
          <p:nvPr/>
        </p:nvSpPr>
        <p:spPr>
          <a:xfrm>
            <a:off x="457200" y="3899131"/>
            <a:ext cx="64008" cy="347472"/>
          </a:xfrm>
          <a:prstGeom prst="rect">
            <a:avLst/>
          </a:prstGeom>
          <a:solidFill>
            <a:srgbClr val="FBBF24"/>
          </a:solidFill>
          <a:ln/>
        </p:spPr>
        <p:txBody>
          <a:bodyPr/>
          <a:lstStyle/>
          <a:p>
            <a:endParaRPr lang="en-US"/>
          </a:p>
        </p:txBody>
      </p:sp>
      <p:sp>
        <p:nvSpPr>
          <p:cNvPr id="32" name="Text 30">
            <a:extLst>
              <a:ext uri="{FF2B5EF4-FFF2-40B4-BE49-F238E27FC236}">
                <a16:creationId xmlns:a16="http://schemas.microsoft.com/office/drawing/2014/main" id="{4A8AB209-6E52-68AC-E0F3-61283B389584}"/>
              </a:ext>
            </a:extLst>
          </p:cNvPr>
          <p:cNvSpPr/>
          <p:nvPr/>
        </p:nvSpPr>
        <p:spPr>
          <a:xfrm>
            <a:off x="640080" y="3899131"/>
            <a:ext cx="411480" cy="347472"/>
          </a:xfrm>
          <a:prstGeom prst="rect">
            <a:avLst/>
          </a:prstGeom>
          <a:noFill/>
          <a:ln/>
        </p:spPr>
        <p:txBody>
          <a:bodyPr wrap="square" lIns="0" tIns="0" rIns="0" bIns="0" rtlCol="0" anchor="ctr"/>
          <a:lstStyle/>
          <a:p>
            <a:pPr marL="0" indent="0">
              <a:buNone/>
            </a:pPr>
            <a:r>
              <a:rPr lang="en-US" sz="1000" dirty="0">
                <a:solidFill>
                  <a:srgbClr val="94A3B8"/>
                </a:solidFill>
                <a:latin typeface="Consolas" pitchFamily="34" charset="0"/>
                <a:ea typeface="Consolas" pitchFamily="34" charset="-122"/>
                <a:cs typeface="Consolas" pitchFamily="34" charset="-120"/>
              </a:rPr>
              <a:t>09</a:t>
            </a:r>
            <a:endParaRPr lang="en-US" sz="1000" dirty="0"/>
          </a:p>
        </p:txBody>
      </p:sp>
      <p:sp>
        <p:nvSpPr>
          <p:cNvPr id="33" name="Text 31">
            <a:extLst>
              <a:ext uri="{FF2B5EF4-FFF2-40B4-BE49-F238E27FC236}">
                <a16:creationId xmlns:a16="http://schemas.microsoft.com/office/drawing/2014/main" id="{F979BB14-38B2-1BD3-393C-D52DD38C128A}"/>
              </a:ext>
            </a:extLst>
          </p:cNvPr>
          <p:cNvSpPr/>
          <p:nvPr/>
        </p:nvSpPr>
        <p:spPr>
          <a:xfrm>
            <a:off x="1051560" y="3899131"/>
            <a:ext cx="2377440" cy="347472"/>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State machine</a:t>
            </a:r>
            <a:endParaRPr lang="en-US" sz="1200" dirty="0"/>
          </a:p>
        </p:txBody>
      </p:sp>
      <p:sp>
        <p:nvSpPr>
          <p:cNvPr id="34" name="Text 32">
            <a:extLst>
              <a:ext uri="{FF2B5EF4-FFF2-40B4-BE49-F238E27FC236}">
                <a16:creationId xmlns:a16="http://schemas.microsoft.com/office/drawing/2014/main" id="{8BADC246-FA0C-993A-CD6E-5DEC61636ACD}"/>
              </a:ext>
            </a:extLst>
          </p:cNvPr>
          <p:cNvSpPr/>
          <p:nvPr/>
        </p:nvSpPr>
        <p:spPr>
          <a:xfrm>
            <a:off x="3474720" y="3899131"/>
            <a:ext cx="5212080" cy="347472"/>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Compiler rewrites to struct + MoveNext() + switch</a:t>
            </a:r>
            <a:endParaRPr lang="en-US" sz="1200" dirty="0"/>
          </a:p>
        </p:txBody>
      </p:sp>
      <p:sp>
        <p:nvSpPr>
          <p:cNvPr id="35" name="Shape 33">
            <a:extLst>
              <a:ext uri="{FF2B5EF4-FFF2-40B4-BE49-F238E27FC236}">
                <a16:creationId xmlns:a16="http://schemas.microsoft.com/office/drawing/2014/main" id="{9DC0135F-1CE4-3575-8039-C6830C2866EA}"/>
              </a:ext>
            </a:extLst>
          </p:cNvPr>
          <p:cNvSpPr/>
          <p:nvPr/>
        </p:nvSpPr>
        <p:spPr>
          <a:xfrm>
            <a:off x="457200" y="4310611"/>
            <a:ext cx="64008" cy="347472"/>
          </a:xfrm>
          <a:prstGeom prst="rect">
            <a:avLst/>
          </a:prstGeom>
          <a:solidFill>
            <a:srgbClr val="FB923C"/>
          </a:solidFill>
          <a:ln/>
        </p:spPr>
        <p:txBody>
          <a:bodyPr/>
          <a:lstStyle/>
          <a:p>
            <a:endParaRPr lang="en-US"/>
          </a:p>
        </p:txBody>
      </p:sp>
      <p:sp>
        <p:nvSpPr>
          <p:cNvPr id="36" name="Text 34">
            <a:extLst>
              <a:ext uri="{FF2B5EF4-FFF2-40B4-BE49-F238E27FC236}">
                <a16:creationId xmlns:a16="http://schemas.microsoft.com/office/drawing/2014/main" id="{476FB4E0-1446-5A85-D63F-3C0EB59AC26D}"/>
              </a:ext>
            </a:extLst>
          </p:cNvPr>
          <p:cNvSpPr/>
          <p:nvPr/>
        </p:nvSpPr>
        <p:spPr>
          <a:xfrm>
            <a:off x="640080" y="4310611"/>
            <a:ext cx="411480" cy="347472"/>
          </a:xfrm>
          <a:prstGeom prst="rect">
            <a:avLst/>
          </a:prstGeom>
          <a:noFill/>
          <a:ln/>
        </p:spPr>
        <p:txBody>
          <a:bodyPr wrap="square" lIns="0" tIns="0" rIns="0" bIns="0" rtlCol="0" anchor="ctr"/>
          <a:lstStyle/>
          <a:p>
            <a:pPr marL="0" indent="0">
              <a:buNone/>
            </a:pPr>
            <a:r>
              <a:rPr lang="en-US" sz="1000" dirty="0">
                <a:solidFill>
                  <a:srgbClr val="94A3B8"/>
                </a:solidFill>
                <a:latin typeface="Consolas" pitchFamily="34" charset="0"/>
                <a:ea typeface="Consolas" pitchFamily="34" charset="-122"/>
                <a:cs typeface="Consolas" pitchFamily="34" charset="-120"/>
              </a:rPr>
              <a:t>10</a:t>
            </a:r>
            <a:endParaRPr lang="en-US" sz="1000" dirty="0"/>
          </a:p>
        </p:txBody>
      </p:sp>
      <p:sp>
        <p:nvSpPr>
          <p:cNvPr id="37" name="Text 35">
            <a:extLst>
              <a:ext uri="{FF2B5EF4-FFF2-40B4-BE49-F238E27FC236}">
                <a16:creationId xmlns:a16="http://schemas.microsoft.com/office/drawing/2014/main" id="{DE54DEAD-CB09-9024-39E9-AFEA015A4197}"/>
              </a:ext>
            </a:extLst>
          </p:cNvPr>
          <p:cNvSpPr/>
          <p:nvPr/>
        </p:nvSpPr>
        <p:spPr>
          <a:xfrm>
            <a:off x="1051560" y="4310611"/>
            <a:ext cx="2377440" cy="347472"/>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ConfigureAwait(false)</a:t>
            </a:r>
            <a:endParaRPr lang="en-US" sz="1200" dirty="0"/>
          </a:p>
        </p:txBody>
      </p:sp>
      <p:sp>
        <p:nvSpPr>
          <p:cNvPr id="38" name="Text 36">
            <a:extLst>
              <a:ext uri="{FF2B5EF4-FFF2-40B4-BE49-F238E27FC236}">
                <a16:creationId xmlns:a16="http://schemas.microsoft.com/office/drawing/2014/main" id="{8BF16C2B-783A-C676-AABB-6587C11FD41C}"/>
              </a:ext>
            </a:extLst>
          </p:cNvPr>
          <p:cNvSpPr/>
          <p:nvPr/>
        </p:nvSpPr>
        <p:spPr>
          <a:xfrm>
            <a:off x="3474720" y="4310611"/>
            <a:ext cx="5212080" cy="347472"/>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Skip context capture - use in libraries</a:t>
            </a:r>
            <a:endParaRPr lang="en-US" sz="1200" dirty="0"/>
          </a:p>
        </p:txBody>
      </p:sp>
      <p:sp>
        <p:nvSpPr>
          <p:cNvPr id="39" name="Text 37">
            <a:extLst>
              <a:ext uri="{FF2B5EF4-FFF2-40B4-BE49-F238E27FC236}">
                <a16:creationId xmlns:a16="http://schemas.microsoft.com/office/drawing/2014/main" id="{00980CC1-9AB7-C354-D120-4DEF0551CE6B}"/>
              </a:ext>
            </a:extLst>
          </p:cNvPr>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35</a:t>
            </a:r>
            <a:endParaRPr lang="en-US" sz="1000" dirty="0"/>
          </a:p>
        </p:txBody>
      </p:sp>
      <p:sp>
        <p:nvSpPr>
          <p:cNvPr id="40" name="Shape 33">
            <a:extLst>
              <a:ext uri="{FF2B5EF4-FFF2-40B4-BE49-F238E27FC236}">
                <a16:creationId xmlns:a16="http://schemas.microsoft.com/office/drawing/2014/main" id="{3C681010-BCC6-C8AA-45BF-331FF69CA3B9}"/>
              </a:ext>
            </a:extLst>
          </p:cNvPr>
          <p:cNvSpPr/>
          <p:nvPr/>
        </p:nvSpPr>
        <p:spPr>
          <a:xfrm>
            <a:off x="457200" y="4722091"/>
            <a:ext cx="64008" cy="347472"/>
          </a:xfrm>
          <a:prstGeom prst="rect">
            <a:avLst/>
          </a:prstGeom>
          <a:solidFill>
            <a:srgbClr val="FF0000"/>
          </a:solidFill>
          <a:ln/>
        </p:spPr>
        <p:txBody>
          <a:bodyPr/>
          <a:lstStyle/>
          <a:p>
            <a:endParaRPr lang="en-US"/>
          </a:p>
        </p:txBody>
      </p:sp>
      <p:sp>
        <p:nvSpPr>
          <p:cNvPr id="41" name="Text 34">
            <a:extLst>
              <a:ext uri="{FF2B5EF4-FFF2-40B4-BE49-F238E27FC236}">
                <a16:creationId xmlns:a16="http://schemas.microsoft.com/office/drawing/2014/main" id="{6E690068-648F-B680-3C1C-3F7830B6A155}"/>
              </a:ext>
            </a:extLst>
          </p:cNvPr>
          <p:cNvSpPr/>
          <p:nvPr/>
        </p:nvSpPr>
        <p:spPr>
          <a:xfrm>
            <a:off x="640080" y="4722091"/>
            <a:ext cx="411480" cy="347472"/>
          </a:xfrm>
          <a:prstGeom prst="rect">
            <a:avLst/>
          </a:prstGeom>
          <a:noFill/>
          <a:ln/>
        </p:spPr>
        <p:txBody>
          <a:bodyPr wrap="square" lIns="0" tIns="0" rIns="0" bIns="0" rtlCol="0" anchor="ctr"/>
          <a:lstStyle/>
          <a:p>
            <a:pPr marL="0" indent="0">
              <a:buNone/>
            </a:pPr>
            <a:r>
              <a:rPr lang="en-US" sz="1000" dirty="0">
                <a:solidFill>
                  <a:srgbClr val="94A3B8"/>
                </a:solidFill>
                <a:latin typeface="Consolas" pitchFamily="34" charset="0"/>
                <a:ea typeface="Consolas" pitchFamily="34" charset="-122"/>
                <a:cs typeface="Consolas" pitchFamily="34" charset="-120"/>
              </a:rPr>
              <a:t>11</a:t>
            </a:r>
            <a:endParaRPr lang="en-US" sz="1000" dirty="0"/>
          </a:p>
        </p:txBody>
      </p:sp>
      <p:sp>
        <p:nvSpPr>
          <p:cNvPr id="42" name="Text 35">
            <a:extLst>
              <a:ext uri="{FF2B5EF4-FFF2-40B4-BE49-F238E27FC236}">
                <a16:creationId xmlns:a16="http://schemas.microsoft.com/office/drawing/2014/main" id="{119E00A6-177E-6956-52C0-B377665ECAD4}"/>
              </a:ext>
            </a:extLst>
          </p:cNvPr>
          <p:cNvSpPr/>
          <p:nvPr/>
        </p:nvSpPr>
        <p:spPr>
          <a:xfrm>
            <a:off x="1051560" y="4722091"/>
            <a:ext cx="2377440" cy="347472"/>
          </a:xfrm>
          <a:prstGeom prst="rect">
            <a:avLst/>
          </a:prstGeom>
          <a:noFill/>
          <a:ln/>
        </p:spPr>
        <p:txBody>
          <a:bodyPr wrap="square" lIns="0" tIns="0" rIns="0" bIns="0" rtlCol="0" anchor="ctr"/>
          <a:lstStyle/>
          <a:p>
            <a:pPr marL="0" indent="0">
              <a:buNone/>
            </a:pPr>
            <a:r>
              <a:rPr lang="en-GB" sz="1200" b="1" dirty="0">
                <a:solidFill>
                  <a:srgbClr val="F1F5F9"/>
                </a:solidFill>
                <a:latin typeface="Calibri" pitchFamily="34" charset="0"/>
                <a:ea typeface="Calibri" pitchFamily="34" charset="-122"/>
                <a:cs typeface="Calibri" pitchFamily="34" charset="-120"/>
              </a:rPr>
              <a:t>V</a:t>
            </a:r>
            <a:r>
              <a:rPr lang="en-US" sz="1200" b="1" dirty="0" err="1">
                <a:solidFill>
                  <a:srgbClr val="F1F5F9"/>
                </a:solidFill>
                <a:latin typeface="Calibri" pitchFamily="34" charset="0"/>
                <a:ea typeface="Calibri" pitchFamily="34" charset="-122"/>
                <a:cs typeface="Calibri" pitchFamily="34" charset="-120"/>
              </a:rPr>
              <a:t>alueTask</a:t>
            </a:r>
            <a:r>
              <a:rPr lang="en-US" sz="1200" b="1" dirty="0">
                <a:solidFill>
                  <a:srgbClr val="F1F5F9"/>
                </a:solidFill>
                <a:latin typeface="Calibri" pitchFamily="34" charset="0"/>
                <a:ea typeface="Calibri" pitchFamily="34" charset="-122"/>
                <a:cs typeface="Calibri" pitchFamily="34" charset="-120"/>
              </a:rPr>
              <a:t> &amp; Future of async/await</a:t>
            </a:r>
            <a:endParaRPr lang="en-US" sz="1200" dirty="0"/>
          </a:p>
        </p:txBody>
      </p:sp>
      <p:sp>
        <p:nvSpPr>
          <p:cNvPr id="43" name="Text 36">
            <a:extLst>
              <a:ext uri="{FF2B5EF4-FFF2-40B4-BE49-F238E27FC236}">
                <a16:creationId xmlns:a16="http://schemas.microsoft.com/office/drawing/2014/main" id="{51F64344-513E-D49D-7647-89ED7084F1B3}"/>
              </a:ext>
            </a:extLst>
          </p:cNvPr>
          <p:cNvSpPr/>
          <p:nvPr/>
        </p:nvSpPr>
        <p:spPr>
          <a:xfrm>
            <a:off x="3474720" y="4709160"/>
            <a:ext cx="5212080" cy="347472"/>
          </a:xfrm>
          <a:prstGeom prst="rect">
            <a:avLst/>
          </a:prstGeom>
          <a:noFill/>
          <a:ln/>
        </p:spPr>
        <p:txBody>
          <a:bodyPr wrap="square" lIns="0" tIns="0" rIns="0" bIns="0" rtlCol="0" anchor="ctr"/>
          <a:lstStyle/>
          <a:p>
            <a:pPr marL="0" indent="0">
              <a:buNone/>
            </a:pPr>
            <a:endParaRPr lang="en-US" sz="1200" dirty="0"/>
          </a:p>
        </p:txBody>
      </p:sp>
      <p:sp>
        <p:nvSpPr>
          <p:cNvPr id="83" name="Shape 13">
            <a:extLst>
              <a:ext uri="{FF2B5EF4-FFF2-40B4-BE49-F238E27FC236}">
                <a16:creationId xmlns:a16="http://schemas.microsoft.com/office/drawing/2014/main" id="{2678BD0D-F8D4-BB4B-6962-7874C34BFA38}"/>
              </a:ext>
            </a:extLst>
          </p:cNvPr>
          <p:cNvSpPr/>
          <p:nvPr/>
        </p:nvSpPr>
        <p:spPr>
          <a:xfrm>
            <a:off x="457200" y="1878307"/>
            <a:ext cx="64008" cy="347472"/>
          </a:xfrm>
          <a:prstGeom prst="rect">
            <a:avLst/>
          </a:prstGeom>
          <a:solidFill>
            <a:srgbClr val="A78BFA"/>
          </a:solidFill>
          <a:ln/>
        </p:spPr>
        <p:txBody>
          <a:bodyPr/>
          <a:lstStyle/>
          <a:p>
            <a:endParaRPr lang="en-US"/>
          </a:p>
        </p:txBody>
      </p:sp>
      <p:sp>
        <p:nvSpPr>
          <p:cNvPr id="84" name="Text 14">
            <a:extLst>
              <a:ext uri="{FF2B5EF4-FFF2-40B4-BE49-F238E27FC236}">
                <a16:creationId xmlns:a16="http://schemas.microsoft.com/office/drawing/2014/main" id="{79B425FC-9A1C-52A6-AC47-8C1600DCE14D}"/>
              </a:ext>
            </a:extLst>
          </p:cNvPr>
          <p:cNvSpPr/>
          <p:nvPr/>
        </p:nvSpPr>
        <p:spPr>
          <a:xfrm>
            <a:off x="640080" y="1878307"/>
            <a:ext cx="411480" cy="347472"/>
          </a:xfrm>
          <a:prstGeom prst="rect">
            <a:avLst/>
          </a:prstGeom>
          <a:noFill/>
          <a:ln/>
        </p:spPr>
        <p:txBody>
          <a:bodyPr wrap="square" lIns="0" tIns="0" rIns="0" bIns="0" rtlCol="0" anchor="ctr"/>
          <a:lstStyle/>
          <a:p>
            <a:pPr marL="0" indent="0">
              <a:buNone/>
            </a:pPr>
            <a:r>
              <a:rPr lang="en-US" sz="1000" dirty="0">
                <a:solidFill>
                  <a:srgbClr val="94A3B8"/>
                </a:solidFill>
                <a:latin typeface="Consolas" pitchFamily="34" charset="0"/>
                <a:ea typeface="Consolas" pitchFamily="34" charset="-122"/>
                <a:cs typeface="Consolas" pitchFamily="34" charset="-120"/>
              </a:rPr>
              <a:t>04</a:t>
            </a:r>
            <a:endParaRPr lang="en-US" sz="1000" dirty="0"/>
          </a:p>
        </p:txBody>
      </p:sp>
      <p:sp>
        <p:nvSpPr>
          <p:cNvPr id="85" name="Text 15">
            <a:extLst>
              <a:ext uri="{FF2B5EF4-FFF2-40B4-BE49-F238E27FC236}">
                <a16:creationId xmlns:a16="http://schemas.microsoft.com/office/drawing/2014/main" id="{D9CDC90D-FE28-0033-D787-656DEA9D462B}"/>
              </a:ext>
            </a:extLst>
          </p:cNvPr>
          <p:cNvSpPr/>
          <p:nvPr/>
        </p:nvSpPr>
        <p:spPr>
          <a:xfrm>
            <a:off x="1051560" y="1878307"/>
            <a:ext cx="2377440" cy="347472"/>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Cancellation Tokens</a:t>
            </a:r>
            <a:endParaRPr lang="en-US" sz="1200" dirty="0"/>
          </a:p>
        </p:txBody>
      </p:sp>
      <p:sp>
        <p:nvSpPr>
          <p:cNvPr id="86" name="Text 16">
            <a:extLst>
              <a:ext uri="{FF2B5EF4-FFF2-40B4-BE49-F238E27FC236}">
                <a16:creationId xmlns:a16="http://schemas.microsoft.com/office/drawing/2014/main" id="{AA764786-0015-1541-13F6-29266C2FAF64}"/>
              </a:ext>
            </a:extLst>
          </p:cNvPr>
          <p:cNvSpPr/>
          <p:nvPr/>
        </p:nvSpPr>
        <p:spPr>
          <a:xfrm>
            <a:off x="3474720" y="1878307"/>
            <a:ext cx="5212080" cy="347472"/>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Default engine for work items and continuations</a:t>
            </a:r>
            <a:endParaRPr lang="en-US" sz="1200" dirty="0"/>
          </a:p>
        </p:txBody>
      </p:sp>
    </p:spTree>
    <p:extLst>
      <p:ext uri="{BB962C8B-B14F-4D97-AF65-F5344CB8AC3E}">
        <p14:creationId xmlns:p14="http://schemas.microsoft.com/office/powerpoint/2010/main" val="3431195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F1F5F9"/>
                </a:solidFill>
                <a:latin typeface="Trebuchet MS" pitchFamily="34" charset="0"/>
                <a:ea typeface="Trebuchet MS" pitchFamily="34" charset="-122"/>
                <a:cs typeface="Trebuchet MS" pitchFamily="34" charset="-120"/>
              </a:rPr>
              <a:t>"We all do this, but why?"</a:t>
            </a:r>
            <a:endParaRPr lang="en-US" sz="2800" dirty="0"/>
          </a:p>
        </p:txBody>
      </p:sp>
      <p:sp>
        <p:nvSpPr>
          <p:cNvPr id="3" name="Text 1"/>
          <p:cNvSpPr/>
          <p:nvPr/>
        </p:nvSpPr>
        <p:spPr>
          <a:xfrm>
            <a:off x="457200" y="777240"/>
            <a:ext cx="8229600" cy="365760"/>
          </a:xfrm>
          <a:prstGeom prst="rect">
            <a:avLst/>
          </a:prstGeom>
          <a:noFill/>
          <a:ln/>
        </p:spPr>
        <p:txBody>
          <a:bodyPr wrap="square" lIns="0" tIns="0" rIns="0" bIns="0" rtlCol="0" anchor="ctr"/>
          <a:lstStyle/>
          <a:p>
            <a:pPr marL="0" indent="0">
              <a:buNone/>
            </a:pPr>
            <a:r>
              <a:rPr lang="en-US" sz="1400" dirty="0">
                <a:solidFill>
                  <a:srgbClr val="94A3B8"/>
                </a:solidFill>
                <a:latin typeface="Calibri" pitchFamily="34" charset="0"/>
                <a:ea typeface="Calibri" pitchFamily="34" charset="-122"/>
                <a:cs typeface="Calibri" pitchFamily="34" charset="-120"/>
              </a:rPr>
              <a:t>You’ve written this method a thousand times...</a:t>
            </a:r>
            <a:endParaRPr lang="en-US" sz="1400" dirty="0"/>
          </a:p>
        </p:txBody>
      </p:sp>
      <p:sp>
        <p:nvSpPr>
          <p:cNvPr id="4" name="Shape 2"/>
          <p:cNvSpPr/>
          <p:nvPr/>
        </p:nvSpPr>
        <p:spPr>
          <a:xfrm>
            <a:off x="457200" y="1280160"/>
            <a:ext cx="5029200" cy="1828800"/>
          </a:xfrm>
          <a:prstGeom prst="rect">
            <a:avLst/>
          </a:prstGeom>
          <a:solidFill>
            <a:srgbClr val="1E293B"/>
          </a:solidFill>
          <a:ln/>
          <a:effectLst>
            <a:outerShdw blurRad="101600" dist="38100" dir="8100000" algn="bl" rotWithShape="0">
              <a:srgbClr val="000000">
                <a:alpha val="30000"/>
              </a:srgbClr>
            </a:outerShdw>
          </a:effectLst>
        </p:spPr>
        <p:txBody>
          <a:bodyPr/>
          <a:lstStyle/>
          <a:p>
            <a:endParaRPr lang="en-US"/>
          </a:p>
        </p:txBody>
      </p:sp>
      <p:sp>
        <p:nvSpPr>
          <p:cNvPr id="5" name="Text 3"/>
          <p:cNvSpPr/>
          <p:nvPr/>
        </p:nvSpPr>
        <p:spPr>
          <a:xfrm>
            <a:off x="594360" y="1371600"/>
            <a:ext cx="4754880" cy="1645920"/>
          </a:xfrm>
          <a:prstGeom prst="rect">
            <a:avLst/>
          </a:prstGeom>
          <a:noFill/>
          <a:ln/>
        </p:spPr>
        <p:txBody>
          <a:bodyPr wrap="square" lIns="0" tIns="0" rIns="0" bIns="0" rtlCol="0" anchor="t"/>
          <a:lstStyle/>
          <a:p>
            <a:pPr marL="0" indent="0">
              <a:spcAft>
                <a:spcPts val="200"/>
              </a:spcAft>
              <a:buNone/>
            </a:pPr>
            <a:r>
              <a:rPr lang="en-US" sz="1400" dirty="0">
                <a:solidFill>
                  <a:srgbClr val="E2E8F0"/>
                </a:solidFill>
                <a:latin typeface="Consolas" pitchFamily="34" charset="0"/>
                <a:ea typeface="Consolas" pitchFamily="34" charset="-122"/>
                <a:cs typeface="Consolas" pitchFamily="34" charset="-120"/>
              </a:rPr>
              <a:t>async Task DoWorkAsync()</a:t>
            </a:r>
            <a:endParaRPr lang="en-US" sz="1400" dirty="0"/>
          </a:p>
          <a:p>
            <a:pPr marL="0" indent="0">
              <a:spcAft>
                <a:spcPts val="200"/>
              </a:spcAft>
              <a:buNone/>
            </a:pPr>
            <a:r>
              <a:rPr lang="en-US" sz="1400" dirty="0">
                <a:solidFill>
                  <a:srgbClr val="E2E8F0"/>
                </a:solidFill>
                <a:latin typeface="Consolas" pitchFamily="34" charset="0"/>
                <a:ea typeface="Consolas" pitchFamily="34" charset="-122"/>
                <a:cs typeface="Consolas" pitchFamily="34" charset="-120"/>
              </a:rPr>
              <a:t>{</a:t>
            </a:r>
            <a:endParaRPr lang="en-US" sz="1400" dirty="0"/>
          </a:p>
          <a:p>
            <a:pPr marL="0" indent="0">
              <a:spcAft>
                <a:spcPts val="200"/>
              </a:spcAft>
              <a:buNone/>
            </a:pPr>
            <a:r>
              <a:rPr lang="en-US" sz="1400" dirty="0">
                <a:solidFill>
                  <a:srgbClr val="E2E8F0"/>
                </a:solidFill>
                <a:latin typeface="Consolas" pitchFamily="34" charset="0"/>
                <a:ea typeface="Consolas" pitchFamily="34" charset="-122"/>
                <a:cs typeface="Consolas" pitchFamily="34" charset="-120"/>
              </a:rPr>
              <a:t>    Console.WriteLine("Before");</a:t>
            </a:r>
            <a:endParaRPr lang="en-US" sz="1400" dirty="0"/>
          </a:p>
          <a:p>
            <a:pPr marL="0" indent="0">
              <a:spcAft>
                <a:spcPts val="200"/>
              </a:spcAft>
              <a:buNone/>
            </a:pPr>
            <a:r>
              <a:rPr lang="en-US" sz="1400" dirty="0">
                <a:solidFill>
                  <a:srgbClr val="E2E8F0"/>
                </a:solidFill>
                <a:latin typeface="Consolas" pitchFamily="34" charset="0"/>
                <a:ea typeface="Consolas" pitchFamily="34" charset="-122"/>
                <a:cs typeface="Consolas" pitchFamily="34" charset="-120"/>
              </a:rPr>
              <a:t>    await Task.Delay(1000);</a:t>
            </a:r>
            <a:endParaRPr lang="en-US" sz="1400" dirty="0"/>
          </a:p>
          <a:p>
            <a:pPr marL="0" indent="0">
              <a:spcAft>
                <a:spcPts val="200"/>
              </a:spcAft>
              <a:buNone/>
            </a:pPr>
            <a:r>
              <a:rPr lang="en-US" sz="1400" dirty="0">
                <a:solidFill>
                  <a:srgbClr val="E2E8F0"/>
                </a:solidFill>
                <a:latin typeface="Consolas" pitchFamily="34" charset="0"/>
                <a:ea typeface="Consolas" pitchFamily="34" charset="-122"/>
                <a:cs typeface="Consolas" pitchFamily="34" charset="-120"/>
              </a:rPr>
              <a:t>    Console.WriteLine("After");</a:t>
            </a:r>
            <a:endParaRPr lang="en-US" sz="1400" dirty="0"/>
          </a:p>
          <a:p>
            <a:pPr marL="0" indent="0">
              <a:spcAft>
                <a:spcPts val="200"/>
              </a:spcAft>
              <a:buNone/>
            </a:pPr>
            <a:r>
              <a:rPr lang="en-US" sz="1400" dirty="0">
                <a:solidFill>
                  <a:srgbClr val="E2E8F0"/>
                </a:solidFill>
                <a:latin typeface="Consolas" pitchFamily="34" charset="0"/>
                <a:ea typeface="Consolas" pitchFamily="34" charset="-122"/>
                <a:cs typeface="Consolas" pitchFamily="34" charset="-120"/>
              </a:rPr>
              <a:t>}</a:t>
            </a:r>
            <a:endParaRPr lang="en-US" sz="1400" dirty="0"/>
          </a:p>
        </p:txBody>
      </p:sp>
      <p:sp>
        <p:nvSpPr>
          <p:cNvPr id="6" name="Text 4"/>
          <p:cNvSpPr/>
          <p:nvPr/>
        </p:nvSpPr>
        <p:spPr>
          <a:xfrm>
            <a:off x="5760720" y="1463040"/>
            <a:ext cx="3017520" cy="2011680"/>
          </a:xfrm>
          <a:prstGeom prst="rect">
            <a:avLst/>
          </a:prstGeom>
          <a:noFill/>
          <a:ln/>
        </p:spPr>
        <p:txBody>
          <a:bodyPr wrap="square" rtlCol="0" anchor="ctr"/>
          <a:lstStyle/>
          <a:p>
            <a:pPr marL="342900" indent="-342900">
              <a:spcAft>
                <a:spcPts val="800"/>
              </a:spcAft>
              <a:buSzPct val="100000"/>
              <a:buChar char="•"/>
            </a:pPr>
            <a:r>
              <a:rPr lang="en-US" sz="1400" dirty="0">
                <a:solidFill>
                  <a:srgbClr val="38BDF8"/>
                </a:solidFill>
                <a:latin typeface="Calibri" pitchFamily="34" charset="0"/>
                <a:ea typeface="Calibri" pitchFamily="34" charset="-122"/>
                <a:cs typeface="Calibri" pitchFamily="34" charset="-120"/>
              </a:rPr>
              <a:t>What is a Task, really?</a:t>
            </a:r>
            <a:endParaRPr lang="en-US" sz="1400" dirty="0"/>
          </a:p>
          <a:p>
            <a:pPr marL="342900" indent="-342900">
              <a:spcAft>
                <a:spcPts val="800"/>
              </a:spcAft>
              <a:buSzPct val="100000"/>
              <a:buChar char="•"/>
            </a:pPr>
            <a:r>
              <a:rPr lang="en-US" sz="1400" dirty="0">
                <a:solidFill>
                  <a:srgbClr val="38BDF8"/>
                </a:solidFill>
                <a:latin typeface="Calibri" pitchFamily="34" charset="0"/>
                <a:ea typeface="Calibri" pitchFamily="34" charset="-122"/>
                <a:cs typeface="Calibri" pitchFamily="34" charset="-120"/>
              </a:rPr>
              <a:t>Who actually runs it?</a:t>
            </a:r>
            <a:endParaRPr lang="en-US" sz="1400" dirty="0"/>
          </a:p>
          <a:p>
            <a:pPr marL="342900" indent="-342900">
              <a:spcAft>
                <a:spcPts val="800"/>
              </a:spcAft>
              <a:buSzPct val="100000"/>
              <a:buChar char="•"/>
            </a:pPr>
            <a:r>
              <a:rPr lang="en-US" sz="1400" dirty="0">
                <a:solidFill>
                  <a:srgbClr val="38BDF8"/>
                </a:solidFill>
                <a:latin typeface="Calibri" pitchFamily="34" charset="0"/>
                <a:ea typeface="Calibri" pitchFamily="34" charset="-122"/>
                <a:cs typeface="Calibri" pitchFamily="34" charset="-120"/>
              </a:rPr>
              <a:t>What does await compile to?</a:t>
            </a:r>
            <a:endParaRPr lang="en-US" sz="1400" dirty="0"/>
          </a:p>
          <a:p>
            <a:pPr marL="342900" indent="-342900">
              <a:spcAft>
                <a:spcPts val="800"/>
              </a:spcAft>
              <a:buSzPct val="100000"/>
              <a:buChar char="•"/>
            </a:pPr>
            <a:r>
              <a:rPr lang="en-US" sz="1400" dirty="0">
                <a:solidFill>
                  <a:srgbClr val="38BDF8"/>
                </a:solidFill>
                <a:latin typeface="Calibri" pitchFamily="34" charset="0"/>
                <a:ea typeface="Calibri" pitchFamily="34" charset="-122"/>
                <a:cs typeface="Calibri" pitchFamily="34" charset="-120"/>
              </a:rPr>
              <a:t>Why does ConfigureAwait(false) exist?</a:t>
            </a:r>
            <a:endParaRPr lang="en-US" sz="1400" dirty="0"/>
          </a:p>
        </p:txBody>
      </p:sp>
      <p:sp>
        <p:nvSpPr>
          <p:cNvPr id="7" name="Shape 5"/>
          <p:cNvSpPr/>
          <p:nvPr/>
        </p:nvSpPr>
        <p:spPr>
          <a:xfrm>
            <a:off x="457200" y="4206240"/>
            <a:ext cx="8229600" cy="640080"/>
          </a:xfrm>
          <a:prstGeom prst="rect">
            <a:avLst/>
          </a:prstGeom>
          <a:solidFill>
            <a:srgbClr val="1E293B"/>
          </a:solidFill>
          <a:ln/>
        </p:spPr>
        <p:txBody>
          <a:bodyPr/>
          <a:lstStyle/>
          <a:p>
            <a:endParaRPr lang="en-US"/>
          </a:p>
        </p:txBody>
      </p:sp>
      <p:sp>
        <p:nvSpPr>
          <p:cNvPr id="8" name="Shape 6"/>
          <p:cNvSpPr/>
          <p:nvPr/>
        </p:nvSpPr>
        <p:spPr>
          <a:xfrm>
            <a:off x="457200" y="4206240"/>
            <a:ext cx="73152" cy="640080"/>
          </a:xfrm>
          <a:prstGeom prst="rect">
            <a:avLst/>
          </a:prstGeom>
          <a:solidFill>
            <a:srgbClr val="38BDF8"/>
          </a:solidFill>
          <a:ln/>
        </p:spPr>
        <p:txBody>
          <a:bodyPr/>
          <a:lstStyle/>
          <a:p>
            <a:endParaRPr lang="en-US"/>
          </a:p>
        </p:txBody>
      </p:sp>
      <p:sp>
        <p:nvSpPr>
          <p:cNvPr id="9" name="Text 7"/>
          <p:cNvSpPr/>
          <p:nvPr/>
        </p:nvSpPr>
        <p:spPr>
          <a:xfrm>
            <a:off x="777240" y="4206240"/>
            <a:ext cx="7772400" cy="640080"/>
          </a:xfrm>
          <a:prstGeom prst="rect">
            <a:avLst/>
          </a:prstGeom>
          <a:noFill/>
          <a:ln/>
        </p:spPr>
        <p:txBody>
          <a:bodyPr wrap="square" lIns="0" tIns="0" rIns="0" bIns="0" rtlCol="0" anchor="ctr"/>
          <a:lstStyle/>
          <a:p>
            <a:pPr marL="0" indent="0">
              <a:buNone/>
            </a:pPr>
            <a:r>
              <a:rPr lang="en-US" sz="1300" i="1" dirty="0">
                <a:solidFill>
                  <a:srgbClr val="F1F5F9"/>
                </a:solidFill>
                <a:latin typeface="Calibri" pitchFamily="34" charset="0"/>
                <a:ea typeface="Calibri" pitchFamily="34" charset="-122"/>
                <a:cs typeface="Calibri" pitchFamily="34" charset="-120"/>
              </a:rPr>
              <a:t>You use async/await every day. It’s time to understand what’s happening underneath.</a:t>
            </a:r>
            <a:endParaRPr lang="en-US" sz="1300" dirty="0"/>
          </a:p>
        </p:txBody>
      </p:sp>
      <p:sp>
        <p:nvSpPr>
          <p:cNvPr id="10" name="Text 8"/>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8">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F1F5F9"/>
                </a:solidFill>
                <a:latin typeface="Trebuchet MS" pitchFamily="34" charset="0"/>
              </a:rPr>
              <a:t>The Problem: Why Does Async Exist?</a:t>
            </a:r>
          </a:p>
        </p:txBody>
      </p:sp>
      <p:sp>
        <p:nvSpPr>
          <p:cNvPr id="3" name="Shape 1"/>
          <p:cNvSpPr/>
          <p:nvPr/>
        </p:nvSpPr>
        <p:spPr>
          <a:xfrm>
            <a:off x="457200" y="960120"/>
            <a:ext cx="2560320" cy="1097280"/>
          </a:xfrm>
          <a:prstGeom prst="rect">
            <a:avLst/>
          </a:prstGeom>
          <a:solidFill>
            <a:srgbClr val="1E293B"/>
          </a:solidFill>
          <a:ln/>
          <a:effectLst>
            <a:outerShdw blurRad="101600" dist="38100" dir="8100000" algn="bl" rotWithShape="0">
              <a:srgbClr val="000000">
                <a:alpha val="30000"/>
              </a:srgbClr>
            </a:outerShdw>
          </a:effectLst>
        </p:spPr>
        <p:txBody>
          <a:bodyPr/>
          <a:lstStyle/>
          <a:p>
            <a:endParaRPr lang="en-US"/>
          </a:p>
        </p:txBody>
      </p:sp>
      <p:sp>
        <p:nvSpPr>
          <p:cNvPr id="4" name="Text 2"/>
          <p:cNvSpPr/>
          <p:nvPr/>
        </p:nvSpPr>
        <p:spPr>
          <a:xfrm>
            <a:off x="457200" y="1005840"/>
            <a:ext cx="2560320" cy="548640"/>
          </a:xfrm>
          <a:prstGeom prst="rect">
            <a:avLst/>
          </a:prstGeom>
          <a:noFill/>
          <a:ln/>
        </p:spPr>
        <p:txBody>
          <a:bodyPr wrap="square" lIns="0" tIns="0" rIns="0" bIns="0" rtlCol="0" anchor="ctr"/>
          <a:lstStyle/>
          <a:p>
            <a:pPr marL="0" indent="0" algn="ctr">
              <a:buNone/>
            </a:pPr>
            <a:r>
              <a:rPr lang="en-US" sz="3200" b="1" dirty="0">
                <a:solidFill>
                  <a:srgbClr val="38BDF8"/>
                </a:solidFill>
                <a:latin typeface="Trebuchet MS" pitchFamily="34" charset="0"/>
              </a:rPr>
              <a:t>~1 MB</a:t>
            </a:r>
          </a:p>
          <a:p>
            <a:pPr marL="0" indent="0" algn="ctr">
              <a:buNone/>
            </a:pPr>
            <a:r>
              <a:rPr lang="en-US" sz="1100" dirty="0">
                <a:solidFill>
                  <a:srgbClr val="94A3B8"/>
                </a:solidFill>
                <a:latin typeface="Calibri" pitchFamily="34" charset="0"/>
              </a:rPr>
              <a:t>stack per thread</a:t>
            </a:r>
          </a:p>
        </p:txBody>
      </p:sp>
      <p:sp>
        <p:nvSpPr>
          <p:cNvPr id="5" name="Shape 3"/>
          <p:cNvSpPr/>
          <p:nvPr/>
        </p:nvSpPr>
        <p:spPr>
          <a:xfrm>
            <a:off x="3291840" y="960120"/>
            <a:ext cx="2560320" cy="1097280"/>
          </a:xfrm>
          <a:prstGeom prst="rect">
            <a:avLst/>
          </a:prstGeom>
          <a:solidFill>
            <a:srgbClr val="1E293B"/>
          </a:solidFill>
          <a:ln/>
          <a:effectLst>
            <a:outerShdw blurRad="101600" dist="38100" dir="8100000" algn="bl" rotWithShape="0">
              <a:srgbClr val="000000">
                <a:alpha val="30000"/>
              </a:srgbClr>
            </a:outerShdw>
          </a:effectLst>
        </p:spPr>
        <p:txBody>
          <a:bodyPr/>
          <a:lstStyle/>
          <a:p>
            <a:endParaRPr lang="en-US"/>
          </a:p>
        </p:txBody>
      </p:sp>
      <p:sp>
        <p:nvSpPr>
          <p:cNvPr id="6" name="Text 4"/>
          <p:cNvSpPr/>
          <p:nvPr/>
        </p:nvSpPr>
        <p:spPr>
          <a:xfrm>
            <a:off x="3291840" y="1005840"/>
            <a:ext cx="2560320" cy="548640"/>
          </a:xfrm>
          <a:prstGeom prst="rect">
            <a:avLst/>
          </a:prstGeom>
          <a:noFill/>
          <a:ln/>
        </p:spPr>
        <p:txBody>
          <a:bodyPr wrap="square" lIns="0" tIns="0" rIns="0" bIns="0" rtlCol="0" anchor="ctr"/>
          <a:lstStyle/>
          <a:p>
            <a:pPr marL="0" indent="0" algn="ctr">
              <a:buNone/>
            </a:pPr>
            <a:r>
              <a:rPr lang="en-US" sz="3200" b="1" dirty="0">
                <a:solidFill>
                  <a:srgbClr val="38BDF8"/>
                </a:solidFill>
                <a:latin typeface="Trebuchet MS" pitchFamily="34" charset="0"/>
              </a:rPr>
              <a:t>10,000</a:t>
            </a:r>
          </a:p>
          <a:p>
            <a:pPr marL="0" indent="0" algn="ctr">
              <a:buNone/>
            </a:pPr>
            <a:r>
              <a:rPr lang="en-US" sz="1100" dirty="0">
                <a:solidFill>
                  <a:srgbClr val="94A3B8"/>
                </a:solidFill>
                <a:latin typeface="Calibri" pitchFamily="34" charset="0"/>
              </a:rPr>
              <a:t>concurrent requests</a:t>
            </a:r>
          </a:p>
        </p:txBody>
      </p:sp>
      <p:sp>
        <p:nvSpPr>
          <p:cNvPr id="7" name="Shape 5"/>
          <p:cNvSpPr/>
          <p:nvPr/>
        </p:nvSpPr>
        <p:spPr>
          <a:xfrm>
            <a:off x="6126480" y="960120"/>
            <a:ext cx="2560320" cy="1097280"/>
          </a:xfrm>
          <a:prstGeom prst="rect">
            <a:avLst/>
          </a:prstGeom>
          <a:solidFill>
            <a:srgbClr val="1E293B"/>
          </a:solidFill>
          <a:ln/>
          <a:effectLst>
            <a:outerShdw blurRad="101600" dist="38100" dir="8100000" algn="bl" rotWithShape="0">
              <a:srgbClr val="000000">
                <a:alpha val="30000"/>
              </a:srgbClr>
            </a:outerShdw>
          </a:effectLst>
        </p:spPr>
        <p:txBody>
          <a:bodyPr/>
          <a:lstStyle/>
          <a:p>
            <a:endParaRPr lang="en-US"/>
          </a:p>
        </p:txBody>
      </p:sp>
      <p:sp>
        <p:nvSpPr>
          <p:cNvPr id="8" name="Text 6"/>
          <p:cNvSpPr/>
          <p:nvPr/>
        </p:nvSpPr>
        <p:spPr>
          <a:xfrm>
            <a:off x="6126480" y="1005840"/>
            <a:ext cx="2560320" cy="548640"/>
          </a:xfrm>
          <a:prstGeom prst="rect">
            <a:avLst/>
          </a:prstGeom>
          <a:noFill/>
          <a:ln/>
        </p:spPr>
        <p:txBody>
          <a:bodyPr wrap="square" lIns="0" tIns="0" rIns="0" bIns="0" rtlCol="0" anchor="ctr"/>
          <a:lstStyle/>
          <a:p>
            <a:pPr marL="0" indent="0" algn="ctr">
              <a:buNone/>
            </a:pPr>
            <a:r>
              <a:rPr lang="en-US" sz="3200" b="1" dirty="0">
                <a:solidFill>
                  <a:srgbClr val="4ADE80"/>
                </a:solidFill>
                <a:latin typeface="Trebuchet MS" pitchFamily="34" charset="0"/>
              </a:rPr>
              <a:t>20-50</a:t>
            </a:r>
          </a:p>
          <a:p>
            <a:pPr marL="0" indent="0" algn="ctr">
              <a:buNone/>
            </a:pPr>
            <a:r>
              <a:rPr lang="en-US" sz="1100" dirty="0">
                <a:solidFill>
                  <a:srgbClr val="94A3B8"/>
                </a:solidFill>
                <a:latin typeface="Calibri" pitchFamily="34" charset="0"/>
              </a:rPr>
              <a:t>threads needed with async</a:t>
            </a:r>
          </a:p>
        </p:txBody>
      </p:sp>
      <p:sp>
        <p:nvSpPr>
          <p:cNvPr id="9" name="Shape 7"/>
          <p:cNvSpPr/>
          <p:nvPr/>
        </p:nvSpPr>
        <p:spPr>
          <a:xfrm>
            <a:off x="457200" y="2194560"/>
            <a:ext cx="4023360" cy="1554480"/>
          </a:xfrm>
          <a:prstGeom prst="rect">
            <a:avLst/>
          </a:prstGeom>
          <a:solidFill>
            <a:srgbClr val="1E293B"/>
          </a:solidFill>
          <a:ln/>
        </p:spPr>
        <p:txBody>
          <a:bodyPr/>
          <a:lstStyle/>
          <a:p>
            <a:endParaRPr lang="en-US"/>
          </a:p>
        </p:txBody>
      </p:sp>
      <p:sp>
        <p:nvSpPr>
          <p:cNvPr id="10" name="Text 8"/>
          <p:cNvSpPr/>
          <p:nvPr/>
        </p:nvSpPr>
        <p:spPr>
          <a:xfrm>
            <a:off x="594360" y="2240280"/>
            <a:ext cx="3749040" cy="1463040"/>
          </a:xfrm>
          <a:prstGeom prst="rect">
            <a:avLst/>
          </a:prstGeom>
          <a:noFill/>
          <a:ln/>
        </p:spPr>
        <p:txBody>
          <a:bodyPr wrap="square" lIns="0" tIns="0" rIns="0" bIns="0" rtlCol="0" anchor="t"/>
          <a:lstStyle/>
          <a:p>
            <a:pPr marL="0" indent="0">
              <a:spcAft>
                <a:spcPts val="300"/>
              </a:spcAft>
              <a:buNone/>
            </a:pPr>
            <a:r>
              <a:rPr lang="en-US" sz="1200" b="1" dirty="0">
                <a:solidFill>
                  <a:srgbClr val="F87171"/>
                </a:solidFill>
                <a:latin typeface="Calibri" pitchFamily="34" charset="0"/>
              </a:rPr>
              <a:t>Blocking (Thread.Sleep)</a:t>
            </a:r>
          </a:p>
          <a:p>
            <a:pPr marL="0" indent="0">
              <a:spcAft>
                <a:spcPts val="200"/>
              </a:spcAft>
              <a:buNone/>
            </a:pPr>
            <a:r>
              <a:rPr lang="en-US" sz="1100" dirty="0">
                <a:solidFill>
                  <a:srgbClr val="E2E8F0"/>
                </a:solidFill>
                <a:latin typeface="Consolas" pitchFamily="34" charset="0"/>
              </a:rPr>
              <a:t>Thread.Sleep(1000);</a:t>
            </a:r>
          </a:p>
          <a:p>
            <a:pPr marL="0" indent="0">
              <a:spcAft>
                <a:spcPts val="200"/>
              </a:spcAft>
              <a:buNone/>
            </a:pPr>
            <a:r>
              <a:rPr lang="en-US" sz="1050" dirty="0">
                <a:solidFill>
                  <a:srgbClr val="94A3B8"/>
                </a:solidFill>
                <a:latin typeface="Calibri" pitchFamily="34" charset="0"/>
              </a:rPr>
              <a:t>Thread alive, consuming memory, doing nothing. Can’t be reused.</a:t>
            </a:r>
          </a:p>
        </p:txBody>
      </p:sp>
      <p:sp>
        <p:nvSpPr>
          <p:cNvPr id="11" name="Shape 9"/>
          <p:cNvSpPr/>
          <p:nvPr/>
        </p:nvSpPr>
        <p:spPr>
          <a:xfrm>
            <a:off x="4663040" y="2194560"/>
            <a:ext cx="4023360" cy="1554480"/>
          </a:xfrm>
          <a:prstGeom prst="rect">
            <a:avLst/>
          </a:prstGeom>
          <a:solidFill>
            <a:srgbClr val="1E293B"/>
          </a:solidFill>
          <a:ln/>
        </p:spPr>
        <p:txBody>
          <a:bodyPr/>
          <a:lstStyle/>
          <a:p>
            <a:endParaRPr lang="en-US"/>
          </a:p>
        </p:txBody>
      </p:sp>
      <p:sp>
        <p:nvSpPr>
          <p:cNvPr id="12" name="Text 10"/>
          <p:cNvSpPr/>
          <p:nvPr/>
        </p:nvSpPr>
        <p:spPr>
          <a:xfrm>
            <a:off x="4800200" y="2240280"/>
            <a:ext cx="3749040" cy="1463040"/>
          </a:xfrm>
          <a:prstGeom prst="rect">
            <a:avLst/>
          </a:prstGeom>
          <a:noFill/>
          <a:ln/>
        </p:spPr>
        <p:txBody>
          <a:bodyPr wrap="square" lIns="0" tIns="0" rIns="0" bIns="0" rtlCol="0" anchor="t"/>
          <a:lstStyle/>
          <a:p>
            <a:pPr marL="0" indent="0">
              <a:spcAft>
                <a:spcPts val="300"/>
              </a:spcAft>
              <a:buNone/>
            </a:pPr>
            <a:r>
              <a:rPr lang="en-US" sz="1200" b="1" dirty="0">
                <a:solidFill>
                  <a:srgbClr val="4ADE80"/>
                </a:solidFill>
                <a:latin typeface="Calibri" pitchFamily="34" charset="0"/>
              </a:rPr>
              <a:t>Async (await Task.Delay)</a:t>
            </a:r>
          </a:p>
          <a:p>
            <a:pPr marL="0" indent="0">
              <a:spcAft>
                <a:spcPts val="200"/>
              </a:spcAft>
              <a:buNone/>
            </a:pPr>
            <a:r>
              <a:rPr lang="en-US" sz="1100" dirty="0">
                <a:solidFill>
                  <a:srgbClr val="E2E8F0"/>
                </a:solidFill>
                <a:latin typeface="Consolas" pitchFamily="34" charset="0"/>
              </a:rPr>
              <a:t>await Task.Delay(1000);</a:t>
            </a:r>
          </a:p>
          <a:p>
            <a:pPr marL="0" indent="0">
              <a:spcAft>
                <a:spcPts val="200"/>
              </a:spcAft>
              <a:buNone/>
            </a:pPr>
            <a:r>
              <a:rPr lang="en-US" sz="1050" dirty="0">
                <a:solidFill>
                  <a:srgbClr val="94A3B8"/>
                </a:solidFill>
                <a:latin typeface="Calibri" pitchFamily="34" charset="0"/>
              </a:rPr>
              <a:t>OS timer fires. Thread released, free for other work. Resumes on continuation.</a:t>
            </a:r>
          </a:p>
        </p:txBody>
      </p:sp>
      <p:sp>
        <p:nvSpPr>
          <p:cNvPr id="13" name="Shape 11"/>
          <p:cNvSpPr/>
          <p:nvPr/>
        </p:nvSpPr>
        <p:spPr>
          <a:xfrm>
            <a:off x="457200" y="4206240"/>
            <a:ext cx="8229600" cy="640080"/>
          </a:xfrm>
          <a:prstGeom prst="rect">
            <a:avLst/>
          </a:prstGeom>
          <a:solidFill>
            <a:srgbClr val="1E293B"/>
          </a:solidFill>
          <a:ln/>
        </p:spPr>
        <p:txBody>
          <a:bodyPr/>
          <a:lstStyle/>
          <a:p>
            <a:endParaRPr lang="en-US"/>
          </a:p>
        </p:txBody>
      </p:sp>
      <p:sp>
        <p:nvSpPr>
          <p:cNvPr id="14" name="Shape 12"/>
          <p:cNvSpPr/>
          <p:nvPr/>
        </p:nvSpPr>
        <p:spPr>
          <a:xfrm>
            <a:off x="457200" y="4206240"/>
            <a:ext cx="73152" cy="640080"/>
          </a:xfrm>
          <a:prstGeom prst="rect">
            <a:avLst/>
          </a:prstGeom>
          <a:solidFill>
            <a:srgbClr val="38BDF8"/>
          </a:solidFill>
          <a:ln/>
        </p:spPr>
        <p:txBody>
          <a:bodyPr/>
          <a:lstStyle/>
          <a:p>
            <a:endParaRPr lang="en-US"/>
          </a:p>
        </p:txBody>
      </p:sp>
      <p:sp>
        <p:nvSpPr>
          <p:cNvPr id="15" name="Text 13"/>
          <p:cNvSpPr/>
          <p:nvPr/>
        </p:nvSpPr>
        <p:spPr>
          <a:xfrm>
            <a:off x="777240" y="4206240"/>
            <a:ext cx="7772400" cy="640080"/>
          </a:xfrm>
          <a:prstGeom prst="rect">
            <a:avLst/>
          </a:prstGeom>
          <a:noFill/>
          <a:ln/>
        </p:spPr>
        <p:txBody>
          <a:bodyPr wrap="square" lIns="0" tIns="0" rIns="0" bIns="0" rtlCol="0" anchor="ctr"/>
          <a:lstStyle/>
          <a:p>
            <a:pPr marL="0" indent="0">
              <a:buNone/>
            </a:pPr>
            <a:r>
              <a:rPr lang="en-US" sz="1300" i="1" dirty="0">
                <a:solidFill>
                  <a:srgbClr val="F1F5F9"/>
                </a:solidFill>
                <a:latin typeface="Calibri" pitchFamily="34" charset="0"/>
              </a:rPr>
              <a:t>Async is about not wasting threads while waiting - not parallelism.</a:t>
            </a:r>
          </a:p>
        </p:txBody>
      </p:sp>
      <p:sp>
        <p:nvSpPr>
          <p:cNvPr id="16" name="Text 14"/>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rPr>
              <a:t>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9">
    <p:bg>
      <p:bgPr>
        <a:solidFill>
          <a:srgbClr val="0F172A"/>
        </a:solidFill>
        <a:effectLst/>
      </p:bgPr>
    </p:bg>
    <p:spTree>
      <p:nvGrpSpPr>
        <p:cNvPr id="1" name=""/>
        <p:cNvGrpSpPr/>
        <p:nvPr/>
      </p:nvGrpSpPr>
      <p:grpSpPr>
        <a:xfrm>
          <a:off x="0" y="0"/>
          <a:ext cx="0" cy="0"/>
          <a:chOff x="0" y="0"/>
          <a:chExt cx="0" cy="0"/>
        </a:xfrm>
      </p:grpSpPr>
      <p:sp>
        <p:nvSpPr>
          <p:cNvPr id="2" name="Text T"/>
          <p:cNvSpPr/>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F1F5F9"/>
                </a:solidFill>
                <a:latin typeface="Trebuchet MS" pitchFamily="34" charset="0"/>
              </a:rPr>
              <a:t>Pre-await: ContinueWith and Callback Hell</a:t>
            </a:r>
          </a:p>
        </p:txBody>
      </p:sp>
      <p:sp>
        <p:nvSpPr>
          <p:cNvPr id="30" name="CodeBg"/>
          <p:cNvSpPr/>
          <p:nvPr/>
        </p:nvSpPr>
        <p:spPr>
          <a:xfrm>
            <a:off x="457200" y="960120"/>
            <a:ext cx="5303520" cy="1856458"/>
          </a:xfrm>
          <a:prstGeom prst="rect">
            <a:avLst/>
          </a:prstGeom>
          <a:solidFill>
            <a:srgbClr val="1E293B"/>
          </a:solidFill>
          <a:ln/>
          <a:effectLst>
            <a:outerShdw blurRad="101600" dist="38100" dir="8100000" algn="bl" rotWithShape="0">
              <a:srgbClr val="000000">
                <a:alpha val="30000"/>
              </a:srgbClr>
            </a:outerShdw>
          </a:effectLst>
        </p:spPr>
        <p:txBody>
          <a:bodyPr/>
          <a:lstStyle/>
          <a:p>
            <a:endParaRPr lang="en-US"/>
          </a:p>
        </p:txBody>
      </p:sp>
      <p:sp>
        <p:nvSpPr>
          <p:cNvPr id="3" name="Code"/>
          <p:cNvSpPr/>
          <p:nvPr/>
        </p:nvSpPr>
        <p:spPr>
          <a:xfrm>
            <a:off x="594360" y="1051560"/>
            <a:ext cx="5029200" cy="1804529"/>
          </a:xfrm>
          <a:prstGeom prst="rect">
            <a:avLst/>
          </a:prstGeom>
          <a:noFill/>
          <a:ln/>
        </p:spPr>
        <p:txBody>
          <a:bodyPr wrap="square" lIns="0" tIns="0" rIns="0" bIns="0" rtlCol="0" anchor="t"/>
          <a:lstStyle/>
          <a:p>
            <a:pPr marL="0" indent="0">
              <a:spcAft>
                <a:spcPts val="200"/>
              </a:spcAft>
              <a:buNone/>
            </a:pPr>
            <a:r>
              <a:rPr lang="en-US" sz="1000" dirty="0">
                <a:solidFill>
                  <a:srgbClr val="E2E8F0"/>
                </a:solidFill>
                <a:latin typeface="Consolas" pitchFamily="34" charset="0"/>
              </a:rPr>
              <a:t>// Each sequential step = another level of nesting</a:t>
            </a:r>
          </a:p>
          <a:p>
            <a:pPr marL="0" indent="0">
              <a:spcAft>
                <a:spcPts val="200"/>
              </a:spcAft>
              <a:buNone/>
            </a:pPr>
            <a:r>
              <a:rPr lang="en-US" sz="1000" dirty="0">
                <a:solidFill>
                  <a:srgbClr val="E2E8F0"/>
                </a:solidFill>
                <a:latin typeface="Consolas" pitchFamily="34" charset="0"/>
              </a:rPr>
              <a:t>Task DoWorkTPL() {</a:t>
            </a:r>
          </a:p>
          <a:p>
            <a:pPr marL="0" indent="0">
              <a:spcAft>
                <a:spcPts val="200"/>
              </a:spcAft>
              <a:buNone/>
            </a:pPr>
            <a:r>
              <a:rPr lang="en-US" sz="1000" dirty="0">
                <a:solidFill>
                  <a:srgbClr val="E2E8F0"/>
                </a:solidFill>
                <a:latin typeface="Consolas" pitchFamily="34" charset="0"/>
              </a:rPr>
              <a:t>    return Task.Delay(1000).ContinueWith(t =&gt; {</a:t>
            </a:r>
          </a:p>
          <a:p>
            <a:pPr marL="0" indent="0">
              <a:spcAft>
                <a:spcPts val="200"/>
              </a:spcAft>
              <a:buNone/>
            </a:pPr>
            <a:r>
              <a:rPr lang="en-US" sz="1000" dirty="0">
                <a:solidFill>
                  <a:srgbClr val="E2E8F0"/>
                </a:solidFill>
                <a:latin typeface="Consolas" pitchFamily="34" charset="0"/>
              </a:rPr>
              <a:t>        if (t.IsFaulted) return Task.CompletedTask;</a:t>
            </a:r>
          </a:p>
          <a:p>
            <a:pPr marL="0" indent="0">
              <a:spcAft>
                <a:spcPts val="200"/>
              </a:spcAft>
              <a:buNone/>
            </a:pPr>
            <a:r>
              <a:rPr lang="en-US" sz="1000" dirty="0">
                <a:solidFill>
                  <a:srgbClr val="E2E8F0"/>
                </a:solidFill>
                <a:latin typeface="Consolas" pitchFamily="34" charset="0"/>
              </a:rPr>
              <a:t>        Console.WriteLine("Step 1");</a:t>
            </a:r>
          </a:p>
          <a:p>
            <a:pPr marL="0" indent="0">
              <a:spcAft>
                <a:spcPts val="200"/>
              </a:spcAft>
              <a:buNone/>
            </a:pPr>
            <a:r>
              <a:rPr lang="en-US" sz="1000" dirty="0">
                <a:solidFill>
                  <a:srgbClr val="E2E8F0"/>
                </a:solidFill>
                <a:latin typeface="Consolas" pitchFamily="34" charset="0"/>
              </a:rPr>
              <a:t>        return Task.Delay(500).ContinueWith(_ =&gt; {</a:t>
            </a:r>
          </a:p>
          <a:p>
            <a:pPr marL="0" indent="0">
              <a:spcAft>
                <a:spcPts val="200"/>
              </a:spcAft>
              <a:buNone/>
            </a:pPr>
            <a:r>
              <a:rPr lang="en-US" sz="1000" dirty="0">
                <a:solidFill>
                  <a:srgbClr val="E2E8F0"/>
                </a:solidFill>
                <a:latin typeface="Consolas" pitchFamily="34" charset="0"/>
              </a:rPr>
              <a:t>            Console.WriteLine("Step 2");</a:t>
            </a:r>
          </a:p>
          <a:p>
            <a:pPr marL="0" indent="0">
              <a:spcAft>
                <a:spcPts val="200"/>
              </a:spcAft>
              <a:buNone/>
            </a:pPr>
            <a:r>
              <a:rPr lang="en-US" sz="1000" dirty="0">
                <a:solidFill>
                  <a:srgbClr val="E2E8F0"/>
                </a:solidFill>
                <a:latin typeface="Consolas" pitchFamily="34" charset="0"/>
              </a:rPr>
              <a:t>        });</a:t>
            </a:r>
          </a:p>
          <a:p>
            <a:pPr marL="0" indent="0">
              <a:spcAft>
                <a:spcPts val="200"/>
              </a:spcAft>
              <a:buNone/>
            </a:pPr>
            <a:r>
              <a:rPr lang="en-US" sz="1000" dirty="0">
                <a:solidFill>
                  <a:srgbClr val="E2E8F0"/>
                </a:solidFill>
                <a:latin typeface="Consolas" pitchFamily="34" charset="0"/>
              </a:rPr>
              <a:t>    }).Unwrap();</a:t>
            </a:r>
          </a:p>
          <a:p>
            <a:pPr marL="0" indent="0">
              <a:spcAft>
                <a:spcPts val="200"/>
              </a:spcAft>
              <a:buNone/>
            </a:pPr>
            <a:r>
              <a:rPr lang="en-US" sz="1000" dirty="0">
                <a:solidFill>
                  <a:srgbClr val="E2E8F0"/>
                </a:solidFill>
                <a:latin typeface="Consolas" pitchFamily="34" charset="0"/>
              </a:rPr>
              <a:t>}</a:t>
            </a:r>
          </a:p>
        </p:txBody>
      </p:sp>
      <p:sp>
        <p:nvSpPr>
          <p:cNvPr id="5" name="Bullets"/>
          <p:cNvSpPr/>
          <p:nvPr/>
        </p:nvSpPr>
        <p:spPr>
          <a:xfrm>
            <a:off x="5943360" y="960120"/>
            <a:ext cx="2743200" cy="23774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E2E8F0"/>
                </a:solidFill>
                <a:latin typeface="Calibri" pitchFamily="34" charset="0"/>
              </a:rPr>
              <a:t>Nesting grows with every sequential step</a:t>
            </a:r>
          </a:p>
          <a:p>
            <a:pPr marL="342900" indent="-342900">
              <a:spcAft>
                <a:spcPts val="600"/>
              </a:spcAft>
              <a:buSzPct val="100000"/>
              <a:buChar char="•"/>
            </a:pPr>
            <a:r>
              <a:rPr lang="en-US" sz="1200" dirty="0">
                <a:solidFill>
                  <a:srgbClr val="E2E8F0"/>
                </a:solidFill>
                <a:latin typeface="Calibri" pitchFamily="34" charset="0"/>
              </a:rPr>
              <a:t>No try/catch - must check IsFaulted manually on each step</a:t>
            </a:r>
          </a:p>
          <a:p>
            <a:pPr marL="342900" indent="-342900">
              <a:spcAft>
                <a:spcPts val="600"/>
              </a:spcAft>
              <a:buSzPct val="100000"/>
              <a:buChar char="•"/>
            </a:pPr>
            <a:r>
              <a:rPr lang="en-US" sz="1200" dirty="0">
                <a:solidFill>
                  <a:srgbClr val="E2E8F0"/>
                </a:solidFill>
                <a:latin typeface="Calibri" pitchFamily="34" charset="0"/>
              </a:rPr>
              <a:t>Unwrap() needed: ContinueWith on Task&lt;T&gt; returns Task&lt;Task&lt;T&gt;&gt;</a:t>
            </a:r>
          </a:p>
          <a:p>
            <a:pPr marL="342900" indent="-342900">
              <a:spcAft>
                <a:spcPts val="600"/>
              </a:spcAft>
              <a:buSzPct val="100000"/>
              <a:buChar char="•"/>
            </a:pPr>
            <a:r>
              <a:rPr lang="en-US" sz="1200" dirty="0">
                <a:solidFill>
                  <a:srgbClr val="E2E8F0"/>
                </a:solidFill>
                <a:latin typeface="Calibri" pitchFamily="34" charset="0"/>
              </a:rPr>
              <a:t>Code structure doesn't match the logical flow</a:t>
            </a:r>
          </a:p>
        </p:txBody>
      </p:sp>
      <p:sp>
        <p:nvSpPr>
          <p:cNvPr id="70" name="CodeBg"/>
          <p:cNvSpPr/>
          <p:nvPr/>
        </p:nvSpPr>
        <p:spPr>
          <a:xfrm>
            <a:off x="457200" y="2909147"/>
            <a:ext cx="8229600" cy="1280160"/>
          </a:xfrm>
          <a:prstGeom prst="rect">
            <a:avLst/>
          </a:prstGeom>
          <a:solidFill>
            <a:srgbClr val="1E293B"/>
          </a:solidFill>
          <a:ln/>
          <a:effectLst>
            <a:outerShdw blurRad="101600" dist="38100" dir="8100000" algn="bl" rotWithShape="0">
              <a:srgbClr val="000000">
                <a:alpha val="30000"/>
              </a:srgbClr>
            </a:outerShdw>
          </a:effectLst>
        </p:spPr>
        <p:txBody>
          <a:bodyPr/>
          <a:lstStyle/>
          <a:p>
            <a:endParaRPr lang="en-US"/>
          </a:p>
        </p:txBody>
      </p:sp>
      <p:sp>
        <p:nvSpPr>
          <p:cNvPr id="7" name="Code"/>
          <p:cNvSpPr/>
          <p:nvPr/>
        </p:nvSpPr>
        <p:spPr>
          <a:xfrm>
            <a:off x="594360" y="3000587"/>
            <a:ext cx="7955280" cy="1097280"/>
          </a:xfrm>
          <a:prstGeom prst="rect">
            <a:avLst/>
          </a:prstGeom>
          <a:noFill/>
          <a:ln/>
        </p:spPr>
        <p:txBody>
          <a:bodyPr wrap="square" lIns="0" tIns="0" rIns="0" bIns="0" rtlCol="0" anchor="t"/>
          <a:lstStyle/>
          <a:p>
            <a:pPr marL="0" indent="0">
              <a:spcAft>
                <a:spcPts val="200"/>
              </a:spcAft>
              <a:buNone/>
            </a:pPr>
            <a:r>
              <a:rPr lang="en-US" sz="1000" dirty="0">
                <a:solidFill>
                  <a:srgbClr val="E2E8F0"/>
                </a:solidFill>
                <a:latin typeface="Consolas" pitchFamily="34" charset="0"/>
              </a:rPr>
              <a:t>// With async/await: flat, sequential, natural</a:t>
            </a:r>
          </a:p>
          <a:p>
            <a:pPr marL="0" indent="0">
              <a:spcAft>
                <a:spcPts val="200"/>
              </a:spcAft>
              <a:buNone/>
            </a:pPr>
            <a:r>
              <a:rPr lang="en-US" sz="1000" dirty="0">
                <a:solidFill>
                  <a:srgbClr val="E2E8F0"/>
                </a:solidFill>
                <a:latin typeface="Consolas" pitchFamily="34" charset="0"/>
              </a:rPr>
              <a:t>async Task DoWorkClean() {</a:t>
            </a:r>
          </a:p>
          <a:p>
            <a:pPr marL="0" indent="0">
              <a:spcAft>
                <a:spcPts val="200"/>
              </a:spcAft>
              <a:buNone/>
            </a:pPr>
            <a:r>
              <a:rPr lang="en-US" sz="1000" dirty="0">
                <a:solidFill>
                  <a:srgbClr val="E2E8F0"/>
                </a:solidFill>
                <a:latin typeface="Consolas" pitchFamily="34" charset="0"/>
              </a:rPr>
              <a:t>    Console.WriteLine("Step 1");</a:t>
            </a:r>
          </a:p>
          <a:p>
            <a:pPr marL="0" indent="0">
              <a:spcAft>
                <a:spcPts val="200"/>
              </a:spcAft>
              <a:buNone/>
            </a:pPr>
            <a:r>
              <a:rPr lang="en-US" sz="1000" dirty="0">
                <a:solidFill>
                  <a:srgbClr val="E2E8F0"/>
                </a:solidFill>
                <a:latin typeface="Consolas" pitchFamily="34" charset="0"/>
              </a:rPr>
              <a:t>    await Task.Delay(1000);</a:t>
            </a:r>
          </a:p>
          <a:p>
            <a:pPr marL="0" indent="0">
              <a:spcAft>
                <a:spcPts val="200"/>
              </a:spcAft>
              <a:buNone/>
            </a:pPr>
            <a:r>
              <a:rPr lang="en-US" sz="1000" dirty="0">
                <a:solidFill>
                  <a:srgbClr val="E2E8F0"/>
                </a:solidFill>
                <a:latin typeface="Consolas" pitchFamily="34" charset="0"/>
              </a:rPr>
              <a:t>    Console.WriteLine("Step 2");</a:t>
            </a:r>
          </a:p>
          <a:p>
            <a:pPr marL="0" indent="0">
              <a:spcAft>
                <a:spcPts val="200"/>
              </a:spcAft>
              <a:buNone/>
            </a:pPr>
            <a:r>
              <a:rPr lang="en-US" sz="1000" dirty="0">
                <a:solidFill>
                  <a:srgbClr val="E2E8F0"/>
                </a:solidFill>
                <a:latin typeface="Consolas" pitchFamily="34" charset="0"/>
              </a:rPr>
              <a:t>    await Task.Delay(500);</a:t>
            </a:r>
          </a:p>
          <a:p>
            <a:pPr marL="0" indent="0">
              <a:spcAft>
                <a:spcPts val="200"/>
              </a:spcAft>
              <a:buNone/>
            </a:pPr>
            <a:r>
              <a:rPr lang="en-US" sz="1000" dirty="0">
                <a:solidFill>
                  <a:srgbClr val="E2E8F0"/>
                </a:solidFill>
                <a:latin typeface="Consolas" pitchFamily="34" charset="0"/>
              </a:rPr>
              <a:t>}</a:t>
            </a:r>
          </a:p>
        </p:txBody>
      </p:sp>
      <p:sp>
        <p:nvSpPr>
          <p:cNvPr id="98" name="Shape F1"/>
          <p:cNvSpPr/>
          <p:nvPr/>
        </p:nvSpPr>
        <p:spPr>
          <a:xfrm>
            <a:off x="457200" y="4308405"/>
            <a:ext cx="8229600" cy="640080"/>
          </a:xfrm>
          <a:prstGeom prst="rect">
            <a:avLst/>
          </a:prstGeom>
          <a:solidFill>
            <a:srgbClr val="1E293B"/>
          </a:solidFill>
          <a:ln/>
        </p:spPr>
        <p:txBody>
          <a:bodyPr/>
          <a:lstStyle/>
          <a:p>
            <a:endParaRPr lang="en-US"/>
          </a:p>
        </p:txBody>
      </p:sp>
      <p:sp>
        <p:nvSpPr>
          <p:cNvPr id="99" name="Shape F2"/>
          <p:cNvSpPr/>
          <p:nvPr/>
        </p:nvSpPr>
        <p:spPr>
          <a:xfrm>
            <a:off x="457200" y="4308405"/>
            <a:ext cx="73152" cy="640080"/>
          </a:xfrm>
          <a:prstGeom prst="rect">
            <a:avLst/>
          </a:prstGeom>
          <a:solidFill>
            <a:srgbClr val="38BDF8"/>
          </a:solidFill>
          <a:ln/>
        </p:spPr>
        <p:txBody>
          <a:bodyPr/>
          <a:lstStyle/>
          <a:p>
            <a:endParaRPr lang="en-US"/>
          </a:p>
        </p:txBody>
      </p:sp>
      <p:sp>
        <p:nvSpPr>
          <p:cNvPr id="100" name="Text F3"/>
          <p:cNvSpPr/>
          <p:nvPr/>
        </p:nvSpPr>
        <p:spPr>
          <a:xfrm>
            <a:off x="777240" y="4308405"/>
            <a:ext cx="7772400" cy="640080"/>
          </a:xfrm>
          <a:prstGeom prst="rect">
            <a:avLst/>
          </a:prstGeom>
          <a:noFill/>
          <a:ln/>
        </p:spPr>
        <p:txBody>
          <a:bodyPr wrap="square" lIns="0" tIns="0" rIns="0" bIns="0" rtlCol="0" anchor="ctr"/>
          <a:lstStyle/>
          <a:p>
            <a:pPr marL="0" indent="0">
              <a:buNone/>
            </a:pPr>
            <a:r>
              <a:rPr lang="en-US" sz="1300" i="1" dirty="0">
                <a:solidFill>
                  <a:srgbClr val="F1F5F9"/>
                </a:solidFill>
                <a:latin typeface="Calibri" pitchFamily="34" charset="0"/>
              </a:rPr>
              <a:t>await is syntactic sugar for ContinueWith - same mechanics, dramatically better ergonomics.</a:t>
            </a:r>
          </a:p>
        </p:txBody>
      </p:sp>
      <p:sp>
        <p:nvSpPr>
          <p:cNvPr id="101" name="Text F4"/>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rPr>
              <a:t>3</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0">
    <p:bg>
      <p:bgPr>
        <a:solidFill>
          <a:srgbClr val="0F172A"/>
        </a:solidFill>
        <a:effectLst/>
      </p:bgPr>
    </p:bg>
    <p:spTree>
      <p:nvGrpSpPr>
        <p:cNvPr id="1" name=""/>
        <p:cNvGrpSpPr/>
        <p:nvPr/>
      </p:nvGrpSpPr>
      <p:grpSpPr>
        <a:xfrm>
          <a:off x="0" y="0"/>
          <a:ext cx="0" cy="0"/>
          <a:chOff x="0" y="0"/>
          <a:chExt cx="0" cy="0"/>
        </a:xfrm>
      </p:grpSpPr>
      <p:sp>
        <p:nvSpPr>
          <p:cNvPr id="2" name="Text T"/>
          <p:cNvSpPr/>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F1F5F9"/>
                </a:solidFill>
                <a:latin typeface="Trebuchet MS" pitchFamily="34" charset="0"/>
              </a:rPr>
              <a:t>Task: A Promise + TaskCompletionSource</a:t>
            </a:r>
          </a:p>
        </p:txBody>
      </p:sp>
      <p:sp>
        <p:nvSpPr>
          <p:cNvPr id="30" name="CodeBg"/>
          <p:cNvSpPr/>
          <p:nvPr/>
        </p:nvSpPr>
        <p:spPr>
          <a:xfrm>
            <a:off x="457200" y="1005840"/>
            <a:ext cx="5486400" cy="2926080"/>
          </a:xfrm>
          <a:prstGeom prst="rect">
            <a:avLst/>
          </a:prstGeom>
          <a:solidFill>
            <a:srgbClr val="1E293B"/>
          </a:solidFill>
          <a:ln/>
          <a:effectLst>
            <a:outerShdw blurRad="101600" dist="38100" dir="8100000" algn="bl" rotWithShape="0">
              <a:srgbClr val="000000">
                <a:alpha val="30000"/>
              </a:srgbClr>
            </a:outerShdw>
          </a:effectLst>
        </p:spPr>
        <p:txBody>
          <a:bodyPr/>
          <a:lstStyle/>
          <a:p>
            <a:pPr marL="342900" indent="-342900">
              <a:spcAft>
                <a:spcPts val="600"/>
              </a:spcAft>
              <a:buSzPct val="100000"/>
              <a:buChar char="•"/>
            </a:pPr>
            <a:r>
              <a:rPr lang="en-US" dirty="0">
                <a:solidFill>
                  <a:srgbClr val="E2E8F0"/>
                </a:solidFill>
                <a:latin typeface="Calibri" pitchFamily="34" charset="0"/>
              </a:rPr>
              <a:t>Task = promise, not a thread or unit of execution</a:t>
            </a:r>
          </a:p>
          <a:p>
            <a:pPr marL="342900" indent="-342900">
              <a:spcAft>
                <a:spcPts val="600"/>
              </a:spcAft>
              <a:buSzPct val="100000"/>
              <a:buFontTx/>
              <a:buChar char="•"/>
            </a:pPr>
            <a:r>
              <a:rPr lang="en-US" dirty="0">
                <a:solidFill>
                  <a:srgbClr val="E2E8F0"/>
                </a:solidFill>
                <a:latin typeface="Calibri" pitchFamily="34" charset="0"/>
              </a:rPr>
              <a:t>Task&lt;T&gt; = same promise, but also carries a typed result</a:t>
            </a:r>
          </a:p>
          <a:p>
            <a:pPr marL="342900" indent="-342900">
              <a:spcAft>
                <a:spcPts val="600"/>
              </a:spcAft>
              <a:buSzPct val="100000"/>
              <a:buChar char="•"/>
            </a:pPr>
            <a:r>
              <a:rPr lang="en-US" dirty="0" err="1">
                <a:solidFill>
                  <a:srgbClr val="E2E8F0"/>
                </a:solidFill>
                <a:latin typeface="Calibri" pitchFamily="34" charset="0"/>
              </a:rPr>
              <a:t>Task.Delay</a:t>
            </a:r>
            <a:r>
              <a:rPr lang="en-US" dirty="0">
                <a:solidFill>
                  <a:srgbClr val="E2E8F0"/>
                </a:solidFill>
                <a:latin typeface="Calibri" pitchFamily="34" charset="0"/>
              </a:rPr>
              <a:t>: sets an OS timer. Zero threads used.</a:t>
            </a:r>
          </a:p>
          <a:p>
            <a:pPr marL="342900" indent="-342900">
              <a:spcAft>
                <a:spcPts val="600"/>
              </a:spcAft>
              <a:buSzPct val="100000"/>
              <a:buChar char="•"/>
            </a:pPr>
            <a:r>
              <a:rPr lang="en-US" dirty="0" err="1">
                <a:solidFill>
                  <a:srgbClr val="E2E8F0"/>
                </a:solidFill>
                <a:latin typeface="Calibri" pitchFamily="34" charset="0"/>
              </a:rPr>
              <a:t>Task.Run</a:t>
            </a:r>
            <a:r>
              <a:rPr lang="en-US" dirty="0">
                <a:solidFill>
                  <a:srgbClr val="E2E8F0"/>
                </a:solidFill>
                <a:latin typeface="Calibri" pitchFamily="34" charset="0"/>
              </a:rPr>
              <a:t>: queues work to a </a:t>
            </a:r>
            <a:r>
              <a:rPr lang="en-US" dirty="0" err="1">
                <a:solidFill>
                  <a:srgbClr val="E2E8F0"/>
                </a:solidFill>
                <a:latin typeface="Calibri" pitchFamily="34" charset="0"/>
              </a:rPr>
              <a:t>ThreadPool</a:t>
            </a:r>
            <a:r>
              <a:rPr lang="en-US" dirty="0">
                <a:solidFill>
                  <a:srgbClr val="E2E8F0"/>
                </a:solidFill>
                <a:latin typeface="Calibri" pitchFamily="34" charset="0"/>
              </a:rPr>
              <a:t> thread</a:t>
            </a:r>
          </a:p>
          <a:p>
            <a:pPr marL="342900" indent="-342900">
              <a:spcAft>
                <a:spcPts val="600"/>
              </a:spcAft>
              <a:buSzPct val="100000"/>
              <a:buChar char="•"/>
            </a:pPr>
            <a:r>
              <a:rPr lang="en-US" dirty="0" err="1">
                <a:solidFill>
                  <a:srgbClr val="E2E8F0"/>
                </a:solidFill>
                <a:latin typeface="Calibri" pitchFamily="34" charset="0"/>
              </a:rPr>
              <a:t>TaskCompletionSource</a:t>
            </a:r>
            <a:r>
              <a:rPr lang="en-US" dirty="0">
                <a:solidFill>
                  <a:srgbClr val="E2E8F0"/>
                </a:solidFill>
                <a:latin typeface="Calibri" pitchFamily="34" charset="0"/>
              </a:rPr>
              <a:t>: bridge between event-driven code and async/await</a:t>
            </a:r>
          </a:p>
          <a:p>
            <a:pPr marL="342900" indent="-342900">
              <a:spcAft>
                <a:spcPts val="600"/>
              </a:spcAft>
              <a:buSzPct val="100000"/>
              <a:buChar char="•"/>
            </a:pPr>
            <a:r>
              <a:rPr lang="en-US" dirty="0">
                <a:solidFill>
                  <a:srgbClr val="E2E8F0"/>
                </a:solidFill>
                <a:latin typeface="Calibri" pitchFamily="34" charset="0"/>
              </a:rPr>
              <a:t>I/O APIs eventually wrap a TCS completed by an OS callback</a:t>
            </a:r>
          </a:p>
        </p:txBody>
      </p:sp>
      <p:sp>
        <p:nvSpPr>
          <p:cNvPr id="3" name="Code"/>
          <p:cNvSpPr/>
          <p:nvPr/>
        </p:nvSpPr>
        <p:spPr>
          <a:xfrm>
            <a:off x="594360" y="1097280"/>
            <a:ext cx="5212080" cy="2743200"/>
          </a:xfrm>
          <a:prstGeom prst="rect">
            <a:avLst/>
          </a:prstGeom>
          <a:noFill/>
          <a:ln/>
        </p:spPr>
        <p:txBody>
          <a:bodyPr wrap="square" lIns="0" tIns="0" rIns="0" bIns="0" rtlCol="0" anchor="t"/>
          <a:lstStyle/>
          <a:p>
            <a:pPr marL="0" indent="0">
              <a:spcAft>
                <a:spcPts val="200"/>
              </a:spcAft>
              <a:buNone/>
            </a:pPr>
            <a:endParaRPr lang="en-US" sz="1100" dirty="0">
              <a:solidFill>
                <a:srgbClr val="E2E8F0"/>
              </a:solidFill>
              <a:latin typeface="Consolas" pitchFamily="34" charset="0"/>
            </a:endParaRPr>
          </a:p>
        </p:txBody>
      </p:sp>
      <p:sp>
        <p:nvSpPr>
          <p:cNvPr id="98" name="Shape F1"/>
          <p:cNvSpPr/>
          <p:nvPr/>
        </p:nvSpPr>
        <p:spPr>
          <a:xfrm>
            <a:off x="457200" y="4206240"/>
            <a:ext cx="8229600" cy="640080"/>
          </a:xfrm>
          <a:prstGeom prst="rect">
            <a:avLst/>
          </a:prstGeom>
          <a:solidFill>
            <a:srgbClr val="1E293B"/>
          </a:solidFill>
          <a:ln/>
        </p:spPr>
        <p:txBody>
          <a:bodyPr/>
          <a:lstStyle/>
          <a:p>
            <a:endParaRPr lang="en-US"/>
          </a:p>
        </p:txBody>
      </p:sp>
      <p:sp>
        <p:nvSpPr>
          <p:cNvPr id="99" name="Shape F2"/>
          <p:cNvSpPr/>
          <p:nvPr/>
        </p:nvSpPr>
        <p:spPr>
          <a:xfrm>
            <a:off x="457200" y="4206240"/>
            <a:ext cx="73152" cy="640080"/>
          </a:xfrm>
          <a:prstGeom prst="rect">
            <a:avLst/>
          </a:prstGeom>
          <a:solidFill>
            <a:srgbClr val="38BDF8"/>
          </a:solidFill>
          <a:ln/>
        </p:spPr>
        <p:txBody>
          <a:bodyPr/>
          <a:lstStyle/>
          <a:p>
            <a:endParaRPr lang="en-US"/>
          </a:p>
        </p:txBody>
      </p:sp>
      <p:sp>
        <p:nvSpPr>
          <p:cNvPr id="100" name="Text F3"/>
          <p:cNvSpPr/>
          <p:nvPr/>
        </p:nvSpPr>
        <p:spPr>
          <a:xfrm>
            <a:off x="777240" y="4206240"/>
            <a:ext cx="7772400" cy="640080"/>
          </a:xfrm>
          <a:prstGeom prst="rect">
            <a:avLst/>
          </a:prstGeom>
          <a:noFill/>
          <a:ln/>
        </p:spPr>
        <p:txBody>
          <a:bodyPr wrap="square" lIns="0" tIns="0" rIns="0" bIns="0" rtlCol="0" anchor="ctr"/>
          <a:lstStyle/>
          <a:p>
            <a:pPr marL="0" indent="0">
              <a:buNone/>
            </a:pPr>
            <a:r>
              <a:rPr lang="en-US" sz="1300" i="1" dirty="0">
                <a:solidFill>
                  <a:srgbClr val="F1F5F9"/>
                </a:solidFill>
                <a:latin typeface="Calibri" pitchFamily="34" charset="0"/>
              </a:rPr>
              <a:t>A Task is a data structure - a promise. TaskCompletionSource lets you create and resolve Tasks manually.</a:t>
            </a:r>
          </a:p>
        </p:txBody>
      </p:sp>
      <p:sp>
        <p:nvSpPr>
          <p:cNvPr id="101" name="Text F4"/>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rPr>
              <a:t>4</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1">
    <p:bg>
      <p:bgPr>
        <a:solidFill>
          <a:srgbClr val="0F172A"/>
        </a:solidFill>
        <a:effectLst/>
      </p:bgPr>
    </p:bg>
    <p:spTree>
      <p:nvGrpSpPr>
        <p:cNvPr id="1" name=""/>
        <p:cNvGrpSpPr/>
        <p:nvPr/>
      </p:nvGrpSpPr>
      <p:grpSpPr>
        <a:xfrm>
          <a:off x="0" y="0"/>
          <a:ext cx="0" cy="0"/>
          <a:chOff x="0" y="0"/>
          <a:chExt cx="0" cy="0"/>
        </a:xfrm>
      </p:grpSpPr>
      <p:sp>
        <p:nvSpPr>
          <p:cNvPr id="2" name="Text T"/>
          <p:cNvSpPr/>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F1F5F9"/>
                </a:solidFill>
                <a:latin typeface="Trebuchet MS" pitchFamily="34" charset="0"/>
              </a:rPr>
              <a:t>CancellationToken: Cooperative Cancellation</a:t>
            </a:r>
          </a:p>
        </p:txBody>
      </p:sp>
      <p:sp>
        <p:nvSpPr>
          <p:cNvPr id="30" name="CodeBg"/>
          <p:cNvSpPr/>
          <p:nvPr/>
        </p:nvSpPr>
        <p:spPr>
          <a:xfrm>
            <a:off x="457200" y="1005840"/>
            <a:ext cx="5486400" cy="3291840"/>
          </a:xfrm>
          <a:prstGeom prst="rect">
            <a:avLst/>
          </a:prstGeom>
          <a:solidFill>
            <a:srgbClr val="1E293B"/>
          </a:solidFill>
          <a:ln/>
          <a:effectLst>
            <a:outerShdw blurRad="101600" dist="38100" dir="8100000" algn="bl" rotWithShape="0">
              <a:srgbClr val="000000">
                <a:alpha val="30000"/>
              </a:srgbClr>
            </a:outerShdw>
          </a:effectLst>
        </p:spPr>
        <p:txBody>
          <a:bodyPr/>
          <a:lstStyle/>
          <a:p>
            <a:endParaRPr lang="en-US"/>
          </a:p>
        </p:txBody>
      </p:sp>
      <p:sp>
        <p:nvSpPr>
          <p:cNvPr id="3" name="Code"/>
          <p:cNvSpPr/>
          <p:nvPr/>
        </p:nvSpPr>
        <p:spPr>
          <a:xfrm>
            <a:off x="594360" y="1097280"/>
            <a:ext cx="5212080" cy="3108960"/>
          </a:xfrm>
          <a:prstGeom prst="rect">
            <a:avLst/>
          </a:prstGeom>
          <a:noFill/>
          <a:ln/>
        </p:spPr>
        <p:txBody>
          <a:bodyPr wrap="square" lIns="0" tIns="0" rIns="0" bIns="0" rtlCol="0" anchor="t"/>
          <a:lstStyle/>
          <a:p>
            <a:pPr marL="0" indent="0">
              <a:spcAft>
                <a:spcPts val="200"/>
              </a:spcAft>
              <a:buNone/>
            </a:pPr>
            <a:r>
              <a:rPr lang="en-US" sz="1100" dirty="0">
                <a:solidFill>
                  <a:srgbClr val="E2E8F0"/>
                </a:solidFill>
                <a:latin typeface="Consolas" pitchFamily="34" charset="0"/>
              </a:rPr>
              <a:t>var cts = new CancellationTokenSource();</a:t>
            </a:r>
          </a:p>
          <a:p>
            <a:pPr marL="0" indent="0">
              <a:spcAft>
                <a:spcPts val="200"/>
              </a:spcAft>
              <a:buNone/>
            </a:pPr>
            <a:r>
              <a:rPr lang="en-US" sz="1100" dirty="0">
                <a:solidFill>
                  <a:srgbClr val="E2E8F0"/>
                </a:solidFill>
                <a:latin typeface="Consolas" pitchFamily="34" charset="0"/>
              </a:rPr>
              <a:t>cts.CancelAfter(TimeSpan.FromSeconds(5));  // auto-cancel in 5s</a:t>
            </a:r>
          </a:p>
          <a:p>
            <a:pPr marL="0" indent="0">
              <a:spcAft>
                <a:spcPts val="200"/>
              </a:spcAft>
              <a:buNone/>
            </a:pPr>
            <a:endParaRPr lang="en-US" sz="1100" dirty="0">
              <a:solidFill>
                <a:srgbClr val="E2E8F0"/>
              </a:solidFill>
              <a:latin typeface="Consolas" pitchFamily="34" charset="0"/>
            </a:endParaRPr>
          </a:p>
          <a:p>
            <a:pPr marL="0" indent="0">
              <a:spcAft>
                <a:spcPts val="200"/>
              </a:spcAft>
              <a:buNone/>
            </a:pPr>
            <a:r>
              <a:rPr lang="en-US" sz="1100" dirty="0">
                <a:solidFill>
                  <a:srgbClr val="E2E8F0"/>
                </a:solidFill>
                <a:latin typeface="Consolas" pitchFamily="34" charset="0"/>
              </a:rPr>
              <a:t>try {</a:t>
            </a:r>
          </a:p>
          <a:p>
            <a:pPr marL="0" indent="0">
              <a:spcAft>
                <a:spcPts val="200"/>
              </a:spcAft>
              <a:buNone/>
            </a:pPr>
            <a:r>
              <a:rPr lang="en-US" sz="1100" dirty="0">
                <a:solidFill>
                  <a:srgbClr val="E2E8F0"/>
                </a:solidFill>
                <a:latin typeface="Consolas" pitchFamily="34" charset="0"/>
              </a:rPr>
              <a:t>    await DoLongWorkAsync(cts.Token);</a:t>
            </a:r>
          </a:p>
          <a:p>
            <a:pPr marL="0" indent="0">
              <a:spcAft>
                <a:spcPts val="200"/>
              </a:spcAft>
              <a:buNone/>
            </a:pPr>
            <a:r>
              <a:rPr lang="en-US" sz="1100" dirty="0">
                <a:solidFill>
                  <a:srgbClr val="E2E8F0"/>
                </a:solidFill>
                <a:latin typeface="Consolas" pitchFamily="34" charset="0"/>
              </a:rPr>
              <a:t>} catch (OperationCanceledException) {</a:t>
            </a:r>
          </a:p>
          <a:p>
            <a:pPr marL="0" indent="0">
              <a:spcAft>
                <a:spcPts val="200"/>
              </a:spcAft>
              <a:buNone/>
            </a:pPr>
            <a:r>
              <a:rPr lang="en-US" sz="1100" dirty="0">
                <a:solidFill>
                  <a:srgbClr val="E2E8F0"/>
                </a:solidFill>
                <a:latin typeface="Consolas" pitchFamily="34" charset="0"/>
              </a:rPr>
              <a:t>    Console.WriteLine("Work was cancelled");</a:t>
            </a:r>
          </a:p>
          <a:p>
            <a:pPr marL="0" indent="0">
              <a:spcAft>
                <a:spcPts val="200"/>
              </a:spcAft>
              <a:buNone/>
            </a:pPr>
            <a:r>
              <a:rPr lang="en-US" sz="1100" dirty="0">
                <a:solidFill>
                  <a:srgbClr val="E2E8F0"/>
                </a:solidFill>
                <a:latin typeface="Consolas" pitchFamily="34" charset="0"/>
              </a:rPr>
              <a:t>}</a:t>
            </a:r>
          </a:p>
          <a:p>
            <a:pPr marL="0" indent="0">
              <a:spcAft>
                <a:spcPts val="200"/>
              </a:spcAft>
              <a:buNone/>
            </a:pPr>
            <a:endParaRPr lang="en-US" sz="1100" dirty="0">
              <a:solidFill>
                <a:srgbClr val="E2E8F0"/>
              </a:solidFill>
              <a:latin typeface="Consolas" pitchFamily="34" charset="0"/>
            </a:endParaRPr>
          </a:p>
          <a:p>
            <a:pPr marL="0" indent="0">
              <a:spcAft>
                <a:spcPts val="200"/>
              </a:spcAft>
              <a:buNone/>
            </a:pPr>
            <a:r>
              <a:rPr lang="en-US" sz="1100" dirty="0">
                <a:solidFill>
                  <a:srgbClr val="E2E8F0"/>
                </a:solidFill>
                <a:latin typeface="Consolas" pitchFamily="34" charset="0"/>
              </a:rPr>
              <a:t>async Task DoLongWorkAsync(CancellationToken ct) {</a:t>
            </a:r>
          </a:p>
          <a:p>
            <a:pPr marL="0" indent="0">
              <a:spcAft>
                <a:spcPts val="200"/>
              </a:spcAft>
              <a:buNone/>
            </a:pPr>
            <a:r>
              <a:rPr lang="en-US" sz="1100" dirty="0">
                <a:solidFill>
                  <a:srgbClr val="E2E8F0"/>
                </a:solidFill>
                <a:latin typeface="Consolas" pitchFamily="34" charset="0"/>
              </a:rPr>
              <a:t>    await Task.Delay(10_000, ct);     // Delay respects cancellation</a:t>
            </a:r>
          </a:p>
          <a:p>
            <a:pPr marL="0" indent="0">
              <a:spcAft>
                <a:spcPts val="200"/>
              </a:spcAft>
              <a:buNone/>
            </a:pPr>
            <a:r>
              <a:rPr lang="en-US" sz="1100" dirty="0">
                <a:solidFill>
                  <a:srgbClr val="E2E8F0"/>
                </a:solidFill>
                <a:latin typeface="Consolas" pitchFamily="34" charset="0"/>
              </a:rPr>
              <a:t>    ct.ThrowIfCancellationRequested(); // Manual checkpoint</a:t>
            </a:r>
          </a:p>
          <a:p>
            <a:pPr marL="0" indent="0">
              <a:spcAft>
                <a:spcPts val="200"/>
              </a:spcAft>
              <a:buNone/>
            </a:pPr>
            <a:r>
              <a:rPr lang="en-US" sz="1100" dirty="0">
                <a:solidFill>
                  <a:srgbClr val="E2E8F0"/>
                </a:solidFill>
                <a:latin typeface="Consolas" pitchFamily="34" charset="0"/>
              </a:rPr>
              <a:t>    await SomethingElseAsync(ct);      // Pass token downstream</a:t>
            </a:r>
          </a:p>
          <a:p>
            <a:pPr marL="0" indent="0">
              <a:spcAft>
                <a:spcPts val="200"/>
              </a:spcAft>
              <a:buNone/>
            </a:pPr>
            <a:r>
              <a:rPr lang="en-US" sz="1100" dirty="0">
                <a:solidFill>
                  <a:srgbClr val="E2E8F0"/>
                </a:solidFill>
                <a:latin typeface="Consolas" pitchFamily="34" charset="0"/>
              </a:rPr>
              <a:t>}</a:t>
            </a:r>
          </a:p>
        </p:txBody>
      </p:sp>
      <p:sp>
        <p:nvSpPr>
          <p:cNvPr id="5" name="Bullets"/>
          <p:cNvSpPr/>
          <p:nvPr/>
        </p:nvSpPr>
        <p:spPr>
          <a:xfrm>
            <a:off x="6126480" y="1005840"/>
            <a:ext cx="2743200" cy="32918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E2E8F0"/>
                </a:solidFill>
                <a:latin typeface="Calibri" pitchFamily="34" charset="0"/>
              </a:rPr>
              <a:t>CancellationTokenSource: creates the token, controls cancellation</a:t>
            </a:r>
          </a:p>
          <a:p>
            <a:pPr marL="342900" indent="-342900">
              <a:spcAft>
                <a:spcPts val="600"/>
              </a:spcAft>
              <a:buSzPct val="100000"/>
              <a:buChar char="•"/>
            </a:pPr>
            <a:r>
              <a:rPr lang="en-US" sz="1200" dirty="0">
                <a:solidFill>
                  <a:srgbClr val="E2E8F0"/>
                </a:solidFill>
                <a:latin typeface="Calibri" pitchFamily="34" charset="0"/>
              </a:rPr>
              <a:t>CancellationToken: read-only handle passed into async methods</a:t>
            </a:r>
          </a:p>
          <a:p>
            <a:pPr marL="342900" indent="-342900">
              <a:spcAft>
                <a:spcPts val="600"/>
              </a:spcAft>
              <a:buSzPct val="100000"/>
              <a:buChar char="•"/>
            </a:pPr>
            <a:r>
              <a:rPr lang="en-US" sz="1200" dirty="0">
                <a:solidFill>
                  <a:srgbClr val="E2E8F0"/>
                </a:solidFill>
                <a:latin typeface="Calibri" pitchFamily="34" charset="0"/>
              </a:rPr>
              <a:t>Cooperative: methods must actively observe the token</a:t>
            </a:r>
          </a:p>
          <a:p>
            <a:pPr marL="342900" indent="-342900">
              <a:spcAft>
                <a:spcPts val="600"/>
              </a:spcAft>
              <a:buSzPct val="100000"/>
              <a:buChar char="•"/>
            </a:pPr>
            <a:r>
              <a:rPr lang="en-US" sz="1200" dirty="0">
                <a:solidFill>
                  <a:srgbClr val="E2E8F0"/>
                </a:solidFill>
                <a:latin typeface="Calibri" pitchFamily="34" charset="0"/>
              </a:rPr>
              <a:t>ct.ThrowIfCancellationRequested() - manual check in CPU loops</a:t>
            </a:r>
          </a:p>
          <a:p>
            <a:pPr marL="342900" indent="-342900">
              <a:spcAft>
                <a:spcPts val="600"/>
              </a:spcAft>
              <a:buSzPct val="100000"/>
              <a:buChar char="•"/>
            </a:pPr>
            <a:r>
              <a:rPr lang="en-US" sz="1200" dirty="0">
                <a:solidFill>
                  <a:srgbClr val="E2E8F0"/>
                </a:solidFill>
                <a:latin typeface="Calibri" pitchFamily="34" charset="0"/>
              </a:rPr>
              <a:t>Most BCL async methods accept a token (HttpClient, Stream, etc.)</a:t>
            </a:r>
          </a:p>
          <a:p>
            <a:pPr marL="342900" indent="-342900">
              <a:spcAft>
                <a:spcPts val="600"/>
              </a:spcAft>
              <a:buSzPct val="100000"/>
              <a:buChar char="•"/>
            </a:pPr>
            <a:r>
              <a:rPr lang="en-US" sz="1200" dirty="0">
                <a:solidFill>
                  <a:srgbClr val="E2E8F0"/>
                </a:solidFill>
                <a:latin typeface="Calibri" pitchFamily="34" charset="0"/>
              </a:rPr>
              <a:t>Throws OperationCanceledException - catch at top level</a:t>
            </a:r>
          </a:p>
          <a:p>
            <a:pPr marL="342900" indent="-342900">
              <a:spcAft>
                <a:spcPts val="600"/>
              </a:spcAft>
              <a:buSzPct val="100000"/>
              <a:buChar char="•"/>
            </a:pPr>
            <a:r>
              <a:rPr lang="en-US" sz="1200" dirty="0">
                <a:solidFill>
                  <a:srgbClr val="E2E8F0"/>
                </a:solidFill>
                <a:latin typeface="Calibri" pitchFamily="34" charset="0"/>
              </a:rPr>
              <a:t>Always pass tokens downstream - don't ignore them</a:t>
            </a:r>
          </a:p>
        </p:txBody>
      </p:sp>
      <p:sp>
        <p:nvSpPr>
          <p:cNvPr id="98" name="Shape F1"/>
          <p:cNvSpPr/>
          <p:nvPr/>
        </p:nvSpPr>
        <p:spPr>
          <a:xfrm>
            <a:off x="457200" y="4206240"/>
            <a:ext cx="8229600" cy="640080"/>
          </a:xfrm>
          <a:prstGeom prst="rect">
            <a:avLst/>
          </a:prstGeom>
          <a:solidFill>
            <a:srgbClr val="1E293B"/>
          </a:solidFill>
          <a:ln/>
        </p:spPr>
        <p:txBody>
          <a:bodyPr/>
          <a:lstStyle/>
          <a:p>
            <a:endParaRPr lang="en-US"/>
          </a:p>
        </p:txBody>
      </p:sp>
      <p:sp>
        <p:nvSpPr>
          <p:cNvPr id="99" name="Shape F2"/>
          <p:cNvSpPr/>
          <p:nvPr/>
        </p:nvSpPr>
        <p:spPr>
          <a:xfrm>
            <a:off x="457200" y="4206240"/>
            <a:ext cx="73152" cy="640080"/>
          </a:xfrm>
          <a:prstGeom prst="rect">
            <a:avLst/>
          </a:prstGeom>
          <a:solidFill>
            <a:srgbClr val="38BDF8"/>
          </a:solidFill>
          <a:ln/>
        </p:spPr>
        <p:txBody>
          <a:bodyPr/>
          <a:lstStyle/>
          <a:p>
            <a:endParaRPr lang="en-US"/>
          </a:p>
        </p:txBody>
      </p:sp>
      <p:sp>
        <p:nvSpPr>
          <p:cNvPr id="100" name="Text F3"/>
          <p:cNvSpPr/>
          <p:nvPr/>
        </p:nvSpPr>
        <p:spPr>
          <a:xfrm>
            <a:off x="777240" y="4206240"/>
            <a:ext cx="7772400" cy="640080"/>
          </a:xfrm>
          <a:prstGeom prst="rect">
            <a:avLst/>
          </a:prstGeom>
          <a:noFill/>
          <a:ln/>
        </p:spPr>
        <p:txBody>
          <a:bodyPr wrap="square" lIns="0" tIns="0" rIns="0" bIns="0" rtlCol="0" anchor="ctr"/>
          <a:lstStyle/>
          <a:p>
            <a:pPr marL="0" indent="0">
              <a:buNone/>
            </a:pPr>
            <a:r>
              <a:rPr lang="en-US" sz="1300" i="1" dirty="0">
                <a:solidFill>
                  <a:srgbClr val="F1F5F9"/>
                </a:solidFill>
                <a:latin typeface="Calibri" pitchFamily="34" charset="0"/>
              </a:rPr>
              <a:t>Cancellation is cooperative: pass the token everywhere and check it at every async boundary.</a:t>
            </a:r>
          </a:p>
        </p:txBody>
      </p:sp>
      <p:sp>
        <p:nvSpPr>
          <p:cNvPr id="101" name="Text F4"/>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rPr>
              <a:t>5</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42">
    <p:bg>
      <p:bgPr>
        <a:solidFill>
          <a:srgbClr val="0F172A"/>
        </a:solidFill>
        <a:effectLst/>
      </p:bgPr>
    </p:bg>
    <p:spTree>
      <p:nvGrpSpPr>
        <p:cNvPr id="1" name=""/>
        <p:cNvGrpSpPr/>
        <p:nvPr/>
      </p:nvGrpSpPr>
      <p:grpSpPr>
        <a:xfrm>
          <a:off x="0" y="0"/>
          <a:ext cx="0" cy="0"/>
          <a:chOff x="0" y="0"/>
          <a:chExt cx="0" cy="0"/>
        </a:xfrm>
      </p:grpSpPr>
      <p:sp>
        <p:nvSpPr>
          <p:cNvPr id="8" name="CodeBg">
            <a:extLst>
              <a:ext uri="{FF2B5EF4-FFF2-40B4-BE49-F238E27FC236}">
                <a16:creationId xmlns:a16="http://schemas.microsoft.com/office/drawing/2014/main" id="{7BB6D4DE-A5D0-432D-4F67-A20C07782F0D}"/>
              </a:ext>
            </a:extLst>
          </p:cNvPr>
          <p:cNvSpPr/>
          <p:nvPr/>
        </p:nvSpPr>
        <p:spPr>
          <a:xfrm>
            <a:off x="328067" y="880198"/>
            <a:ext cx="8358733" cy="3200400"/>
          </a:xfrm>
          <a:prstGeom prst="rect">
            <a:avLst/>
          </a:prstGeom>
          <a:solidFill>
            <a:srgbClr val="1E293B"/>
          </a:solidFill>
          <a:ln/>
          <a:effectLst>
            <a:outerShdw blurRad="101600" dist="38100" dir="8100000" algn="bl" rotWithShape="0">
              <a:srgbClr val="000000">
                <a:alpha val="30000"/>
              </a:srgbClr>
            </a:outerShdw>
          </a:effectLst>
        </p:spPr>
        <p:txBody>
          <a:bodyPr/>
          <a:lstStyle/>
          <a:p>
            <a:endParaRPr lang="en-US"/>
          </a:p>
        </p:txBody>
      </p:sp>
      <p:sp>
        <p:nvSpPr>
          <p:cNvPr id="2" name="Text T"/>
          <p:cNvSpPr/>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F1F5F9"/>
                </a:solidFill>
                <a:latin typeface="Trebuchet MS" pitchFamily="34" charset="0"/>
              </a:rPr>
              <a:t>ThreadPool, SynchronizationContext and the Classic Deadlock</a:t>
            </a:r>
          </a:p>
        </p:txBody>
      </p:sp>
      <p:sp>
        <p:nvSpPr>
          <p:cNvPr id="3" name="Label"/>
          <p:cNvSpPr/>
          <p:nvPr/>
        </p:nvSpPr>
        <p:spPr>
          <a:xfrm>
            <a:off x="457200" y="960120"/>
            <a:ext cx="4023360" cy="365760"/>
          </a:xfrm>
          <a:prstGeom prst="rect">
            <a:avLst/>
          </a:prstGeom>
          <a:noFill/>
          <a:ln/>
        </p:spPr>
        <p:txBody>
          <a:bodyPr wrap="square" lIns="0" tIns="0" rIns="0" bIns="0" rtlCol="0" anchor="ctr"/>
          <a:lstStyle/>
          <a:p>
            <a:pPr marL="0" indent="0">
              <a:buNone/>
            </a:pPr>
            <a:r>
              <a:rPr lang="en-US" sz="1600" b="1" dirty="0">
                <a:solidFill>
                  <a:srgbClr val="38BDF8"/>
                </a:solidFill>
                <a:latin typeface="Calibri" pitchFamily="34" charset="0"/>
              </a:rPr>
              <a:t>ThreadPool</a:t>
            </a:r>
          </a:p>
        </p:txBody>
      </p:sp>
      <p:sp>
        <p:nvSpPr>
          <p:cNvPr id="4" name="Bullets"/>
          <p:cNvSpPr/>
          <p:nvPr/>
        </p:nvSpPr>
        <p:spPr>
          <a:xfrm>
            <a:off x="457200" y="1280160"/>
            <a:ext cx="4023360" cy="19202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E2E8F0"/>
                </a:solidFill>
                <a:latin typeface="Calibri" pitchFamily="34" charset="0"/>
              </a:rPr>
              <a:t>Pool of pre-created worker threads - reuse avoids per-thread allocation</a:t>
            </a:r>
          </a:p>
          <a:p>
            <a:pPr marL="342900" indent="-342900">
              <a:spcAft>
                <a:spcPts val="600"/>
              </a:spcAft>
              <a:buSzPct val="100000"/>
              <a:buChar char="•"/>
            </a:pPr>
            <a:r>
              <a:rPr lang="en-US" sz="1200" dirty="0">
                <a:solidFill>
                  <a:srgbClr val="E2E8F0"/>
                </a:solidFill>
                <a:latin typeface="Calibri" pitchFamily="34" charset="0"/>
              </a:rPr>
              <a:t>Task.Run() and async continuations queue work here by default</a:t>
            </a:r>
          </a:p>
          <a:p>
            <a:pPr marL="342900" indent="-342900">
              <a:spcAft>
                <a:spcPts val="600"/>
              </a:spcAft>
              <a:buSzPct val="100000"/>
              <a:buChar char="•"/>
            </a:pPr>
            <a:r>
              <a:rPr lang="en-US" sz="1200" dirty="0">
                <a:solidFill>
                  <a:srgbClr val="E2E8F0"/>
                </a:solidFill>
                <a:latin typeface="Calibri" pitchFamily="34" charset="0"/>
              </a:rPr>
              <a:t>Starts ~1 thread/CPU core; slowly grows under load (~1 per 500ms)</a:t>
            </a:r>
          </a:p>
          <a:p>
            <a:pPr marL="342900" indent="-342900">
              <a:spcAft>
                <a:spcPts val="600"/>
              </a:spcAft>
              <a:buSzPct val="100000"/>
              <a:buChar char="•"/>
            </a:pPr>
            <a:r>
              <a:rPr lang="en-US" sz="1200" dirty="0">
                <a:solidFill>
                  <a:srgbClr val="E2E8F0"/>
                </a:solidFill>
                <a:latin typeface="Calibri" pitchFamily="34" charset="0"/>
              </a:rPr>
              <a:t>DANGER: blocking threads with .Result/.Wait() starves the pool</a:t>
            </a:r>
          </a:p>
        </p:txBody>
      </p:sp>
      <p:sp>
        <p:nvSpPr>
          <p:cNvPr id="5" name="Label"/>
          <p:cNvSpPr/>
          <p:nvPr/>
        </p:nvSpPr>
        <p:spPr>
          <a:xfrm>
            <a:off x="4663040" y="960120"/>
            <a:ext cx="4023360" cy="365760"/>
          </a:xfrm>
          <a:prstGeom prst="rect">
            <a:avLst/>
          </a:prstGeom>
          <a:noFill/>
          <a:ln/>
        </p:spPr>
        <p:txBody>
          <a:bodyPr wrap="square" lIns="0" tIns="0" rIns="0" bIns="0" rtlCol="0" anchor="ctr"/>
          <a:lstStyle/>
          <a:p>
            <a:pPr marL="0" indent="0">
              <a:buNone/>
            </a:pPr>
            <a:r>
              <a:rPr lang="en-US" sz="1600" b="1" dirty="0">
                <a:solidFill>
                  <a:srgbClr val="38BDF8"/>
                </a:solidFill>
                <a:latin typeface="Calibri" pitchFamily="34" charset="0"/>
              </a:rPr>
              <a:t>SynchronizationContext</a:t>
            </a:r>
          </a:p>
        </p:txBody>
      </p:sp>
      <p:sp>
        <p:nvSpPr>
          <p:cNvPr id="6" name="Bullets"/>
          <p:cNvSpPr/>
          <p:nvPr/>
        </p:nvSpPr>
        <p:spPr>
          <a:xfrm>
            <a:off x="4663040" y="1280160"/>
            <a:ext cx="4023360" cy="19202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E2E8F0"/>
                </a:solidFill>
                <a:latin typeface="Calibri" pitchFamily="34" charset="0"/>
              </a:rPr>
              <a:t>Decides WHERE continuations run after an await</a:t>
            </a:r>
          </a:p>
          <a:p>
            <a:pPr marL="342900" indent="-342900">
              <a:spcAft>
                <a:spcPts val="600"/>
              </a:spcAft>
              <a:buSzPct val="100000"/>
              <a:buChar char="•"/>
            </a:pPr>
            <a:r>
              <a:rPr lang="en-US" sz="1200" dirty="0">
                <a:solidFill>
                  <a:srgbClr val="E2E8F0"/>
                </a:solidFill>
                <a:latin typeface="Calibri" pitchFamily="34" charset="0"/>
              </a:rPr>
              <a:t>WinForms/WPF: posts to the UI thread message loop</a:t>
            </a:r>
          </a:p>
          <a:p>
            <a:pPr marL="342900" indent="-342900">
              <a:spcAft>
                <a:spcPts val="600"/>
              </a:spcAft>
              <a:buSzPct val="100000"/>
              <a:buChar char="•"/>
            </a:pPr>
            <a:r>
              <a:rPr lang="en-US" sz="1200" dirty="0">
                <a:solidFill>
                  <a:srgbClr val="E2E8F0"/>
                </a:solidFill>
                <a:latin typeface="Calibri" pitchFamily="34" charset="0"/>
              </a:rPr>
              <a:t>ASP.NET Core / Console: null - continuations go to ThreadPool</a:t>
            </a:r>
          </a:p>
          <a:p>
            <a:pPr marL="342900" indent="-342900">
              <a:spcAft>
                <a:spcPts val="600"/>
              </a:spcAft>
              <a:buSzPct val="100000"/>
              <a:buChar char="•"/>
            </a:pPr>
            <a:r>
              <a:rPr lang="en-US" sz="1200" dirty="0">
                <a:solidFill>
                  <a:srgbClr val="E2E8F0"/>
                </a:solidFill>
                <a:latin typeface="Calibri" pitchFamily="34" charset="0"/>
              </a:rPr>
              <a:t>Priority: SynchCtx.Current -&gt; TaskScheduler.Default -&gt; ThreadPool</a:t>
            </a:r>
          </a:p>
        </p:txBody>
      </p:sp>
      <p:sp>
        <p:nvSpPr>
          <p:cNvPr id="98" name="Shape F1"/>
          <p:cNvSpPr/>
          <p:nvPr/>
        </p:nvSpPr>
        <p:spPr>
          <a:xfrm>
            <a:off x="457200" y="4503420"/>
            <a:ext cx="8229600" cy="640080"/>
          </a:xfrm>
          <a:prstGeom prst="rect">
            <a:avLst/>
          </a:prstGeom>
          <a:solidFill>
            <a:srgbClr val="1E293B"/>
          </a:solidFill>
          <a:ln/>
        </p:spPr>
        <p:txBody>
          <a:bodyPr/>
          <a:lstStyle/>
          <a:p>
            <a:endParaRPr lang="en-US"/>
          </a:p>
        </p:txBody>
      </p:sp>
      <p:sp>
        <p:nvSpPr>
          <p:cNvPr id="99" name="Shape F2"/>
          <p:cNvSpPr/>
          <p:nvPr/>
        </p:nvSpPr>
        <p:spPr>
          <a:xfrm>
            <a:off x="457200" y="4503420"/>
            <a:ext cx="73152" cy="640080"/>
          </a:xfrm>
          <a:prstGeom prst="rect">
            <a:avLst/>
          </a:prstGeom>
          <a:solidFill>
            <a:srgbClr val="38BDF8"/>
          </a:solidFill>
          <a:ln/>
        </p:spPr>
        <p:txBody>
          <a:bodyPr/>
          <a:lstStyle/>
          <a:p>
            <a:endParaRPr lang="en-US"/>
          </a:p>
        </p:txBody>
      </p:sp>
      <p:sp>
        <p:nvSpPr>
          <p:cNvPr id="100" name="Text F3"/>
          <p:cNvSpPr/>
          <p:nvPr/>
        </p:nvSpPr>
        <p:spPr>
          <a:xfrm>
            <a:off x="777240" y="4503420"/>
            <a:ext cx="7772400" cy="640080"/>
          </a:xfrm>
          <a:prstGeom prst="rect">
            <a:avLst/>
          </a:prstGeom>
          <a:noFill/>
          <a:ln/>
        </p:spPr>
        <p:txBody>
          <a:bodyPr wrap="square" lIns="0" tIns="0" rIns="0" bIns="0" rtlCol="0" anchor="ctr"/>
          <a:lstStyle/>
          <a:p>
            <a:pPr marL="0" indent="0">
              <a:buNone/>
            </a:pPr>
            <a:r>
              <a:rPr lang="en-US" sz="1300" i="1" dirty="0">
                <a:solidFill>
                  <a:srgbClr val="F1F5F9"/>
                </a:solidFill>
                <a:latin typeface="Calibri" pitchFamily="34" charset="0"/>
              </a:rPr>
              <a:t>SynchronizationContext explains why UI code works after await - and why blocking on async causes deadlocks.</a:t>
            </a:r>
          </a:p>
        </p:txBody>
      </p:sp>
      <p:sp>
        <p:nvSpPr>
          <p:cNvPr id="101" name="Text F4"/>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rPr>
              <a:t>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43">
    <p:bg>
      <p:bgPr>
        <a:solidFill>
          <a:srgbClr val="0F172A"/>
        </a:solidFill>
        <a:effectLst/>
      </p:bgPr>
    </p:bg>
    <p:spTree>
      <p:nvGrpSpPr>
        <p:cNvPr id="1" name=""/>
        <p:cNvGrpSpPr/>
        <p:nvPr/>
      </p:nvGrpSpPr>
      <p:grpSpPr>
        <a:xfrm>
          <a:off x="0" y="0"/>
          <a:ext cx="0" cy="0"/>
          <a:chOff x="0" y="0"/>
          <a:chExt cx="0" cy="0"/>
        </a:xfrm>
      </p:grpSpPr>
      <p:sp>
        <p:nvSpPr>
          <p:cNvPr id="2" name="Text T"/>
          <p:cNvSpPr/>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F1F5F9"/>
                </a:solidFill>
                <a:latin typeface="Trebuchet MS" pitchFamily="34" charset="0"/>
              </a:rPr>
              <a:t>ExecutionContext and AsyncLocal</a:t>
            </a:r>
          </a:p>
        </p:txBody>
      </p:sp>
      <p:sp>
        <p:nvSpPr>
          <p:cNvPr id="30" name="CodeBg"/>
          <p:cNvSpPr/>
          <p:nvPr/>
        </p:nvSpPr>
        <p:spPr>
          <a:xfrm>
            <a:off x="457198" y="1005840"/>
            <a:ext cx="3789823" cy="3303402"/>
          </a:xfrm>
          <a:prstGeom prst="rect">
            <a:avLst/>
          </a:prstGeom>
          <a:solidFill>
            <a:srgbClr val="1E293B"/>
          </a:solidFill>
          <a:ln/>
          <a:effectLst>
            <a:outerShdw blurRad="101600" dist="38100" dir="8100000" algn="bl" rotWithShape="0">
              <a:srgbClr val="000000">
                <a:alpha val="30000"/>
              </a:srgbClr>
            </a:outerShdw>
          </a:effectLst>
        </p:spPr>
        <p:txBody>
          <a:bodyPr/>
          <a:lstStyle/>
          <a:p>
            <a:endParaRPr lang="en-US" dirty="0"/>
          </a:p>
        </p:txBody>
      </p:sp>
      <p:sp>
        <p:nvSpPr>
          <p:cNvPr id="3" name="Code"/>
          <p:cNvSpPr/>
          <p:nvPr/>
        </p:nvSpPr>
        <p:spPr>
          <a:xfrm>
            <a:off x="594360" y="1097280"/>
            <a:ext cx="5212080" cy="3017520"/>
          </a:xfrm>
          <a:prstGeom prst="rect">
            <a:avLst/>
          </a:prstGeom>
          <a:noFill/>
          <a:ln/>
        </p:spPr>
        <p:txBody>
          <a:bodyPr wrap="square" lIns="0" tIns="0" rIns="0" bIns="0" rtlCol="0" anchor="t"/>
          <a:lstStyle/>
          <a:p>
            <a:pPr marL="0" indent="0">
              <a:spcAft>
                <a:spcPts val="200"/>
              </a:spcAft>
              <a:buNone/>
            </a:pPr>
            <a:endParaRPr lang="en-US" sz="1100" dirty="0">
              <a:solidFill>
                <a:srgbClr val="E2E8F0"/>
              </a:solidFill>
              <a:latin typeface="Consolas" pitchFamily="34" charset="0"/>
            </a:endParaRPr>
          </a:p>
        </p:txBody>
      </p:sp>
      <p:sp>
        <p:nvSpPr>
          <p:cNvPr id="5" name="Bullets"/>
          <p:cNvSpPr/>
          <p:nvPr/>
        </p:nvSpPr>
        <p:spPr>
          <a:xfrm>
            <a:off x="640080" y="1250669"/>
            <a:ext cx="2743200" cy="2795551"/>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E2E8F0"/>
                </a:solidFill>
                <a:latin typeface="Calibri" pitchFamily="34" charset="0"/>
              </a:rPr>
              <a:t>ExecutionContext: captured at every await, restored on resume</a:t>
            </a:r>
          </a:p>
          <a:p>
            <a:pPr marL="342900" indent="-342900">
              <a:spcAft>
                <a:spcPts val="600"/>
              </a:spcAft>
              <a:buSzPct val="100000"/>
              <a:buChar char="•"/>
            </a:pPr>
            <a:r>
              <a:rPr lang="en-US" sz="1200" dirty="0">
                <a:solidFill>
                  <a:srgbClr val="E2E8F0"/>
                </a:solidFill>
                <a:latin typeface="Calibri" pitchFamily="34" charset="0"/>
              </a:rPr>
              <a:t>Preserves ambient state even when the thread changes</a:t>
            </a:r>
          </a:p>
          <a:p>
            <a:pPr marL="342900" indent="-342900">
              <a:spcAft>
                <a:spcPts val="600"/>
              </a:spcAft>
              <a:buSzPct val="100000"/>
              <a:buChar char="•"/>
            </a:pPr>
            <a:r>
              <a:rPr lang="en-US" sz="1200" dirty="0">
                <a:solidFill>
                  <a:srgbClr val="E2E8F0"/>
                </a:solidFill>
                <a:latin typeface="Calibri" pitchFamily="34" charset="0"/>
              </a:rPr>
              <a:t>AsyncLocal&lt;T&gt;: value tied to the async flow, not the physical thread</a:t>
            </a:r>
          </a:p>
          <a:p>
            <a:pPr marL="342900" indent="-342900">
              <a:spcAft>
                <a:spcPts val="600"/>
              </a:spcAft>
              <a:buSzPct val="100000"/>
              <a:buChar char="•"/>
            </a:pPr>
            <a:r>
              <a:rPr lang="en-US" sz="1200" dirty="0">
                <a:solidFill>
                  <a:srgbClr val="E2E8F0"/>
                </a:solidFill>
                <a:latin typeface="Calibri" pitchFamily="34" charset="0"/>
              </a:rPr>
              <a:t>Copy-on-write: child flows inherit parent context; changes don't propagate back</a:t>
            </a:r>
          </a:p>
          <a:p>
            <a:pPr marL="342900" indent="-342900">
              <a:spcAft>
                <a:spcPts val="600"/>
              </a:spcAft>
              <a:buSzPct val="100000"/>
              <a:buChar char="•"/>
            </a:pPr>
            <a:r>
              <a:rPr lang="en-US" sz="1200" dirty="0">
                <a:solidFill>
                  <a:srgbClr val="E2E8F0"/>
                </a:solidFill>
                <a:latin typeface="Calibri" pitchFamily="34" charset="0"/>
              </a:rPr>
              <a:t>Practical use: per-request correlation IDs, user identity, culture</a:t>
            </a:r>
          </a:p>
          <a:p>
            <a:pPr marL="342900" indent="-342900">
              <a:spcAft>
                <a:spcPts val="600"/>
              </a:spcAft>
              <a:buSzPct val="100000"/>
              <a:buFontTx/>
              <a:buChar char="•"/>
            </a:pPr>
            <a:endParaRPr lang="en-US" sz="1200" dirty="0">
              <a:solidFill>
                <a:srgbClr val="E2E8F0"/>
              </a:solidFill>
              <a:latin typeface="Calibri" pitchFamily="34" charset="0"/>
            </a:endParaRPr>
          </a:p>
          <a:p>
            <a:pPr marL="342900" indent="-342900">
              <a:spcAft>
                <a:spcPts val="600"/>
              </a:spcAft>
              <a:buSzPct val="100000"/>
              <a:buFontTx/>
              <a:buChar char="•"/>
            </a:pPr>
            <a:r>
              <a:rPr lang="en-US" sz="1200" dirty="0">
                <a:solidFill>
                  <a:srgbClr val="E2E8F0"/>
                </a:solidFill>
                <a:latin typeface="Calibri" pitchFamily="34" charset="0"/>
              </a:rPr>
              <a:t>Never use </a:t>
            </a:r>
            <a:r>
              <a:rPr lang="en-US" sz="1200" dirty="0" err="1">
                <a:solidFill>
                  <a:srgbClr val="E2E8F0"/>
                </a:solidFill>
                <a:latin typeface="Calibri" pitchFamily="34" charset="0"/>
              </a:rPr>
              <a:t>ThreadLocal</a:t>
            </a:r>
            <a:r>
              <a:rPr lang="en-US" sz="1200" dirty="0">
                <a:solidFill>
                  <a:srgbClr val="E2E8F0"/>
                </a:solidFill>
                <a:latin typeface="Calibri" pitchFamily="34" charset="0"/>
              </a:rPr>
              <a:t>&lt;T&gt; in async code - breaks after any await</a:t>
            </a:r>
          </a:p>
          <a:p>
            <a:pPr marL="342900" indent="-342900">
              <a:spcAft>
                <a:spcPts val="600"/>
              </a:spcAft>
              <a:buSzPct val="100000"/>
              <a:buChar char="•"/>
            </a:pPr>
            <a:endParaRPr lang="en-US" sz="1200" dirty="0">
              <a:solidFill>
                <a:srgbClr val="E2E8F0"/>
              </a:solidFill>
              <a:latin typeface="Calibri" pitchFamily="34" charset="0"/>
            </a:endParaRPr>
          </a:p>
        </p:txBody>
      </p:sp>
      <p:sp>
        <p:nvSpPr>
          <p:cNvPr id="98" name="Shape F1"/>
          <p:cNvSpPr/>
          <p:nvPr/>
        </p:nvSpPr>
        <p:spPr>
          <a:xfrm>
            <a:off x="457200" y="4349181"/>
            <a:ext cx="8229600" cy="640080"/>
          </a:xfrm>
          <a:prstGeom prst="rect">
            <a:avLst/>
          </a:prstGeom>
          <a:solidFill>
            <a:srgbClr val="1E293B"/>
          </a:solidFill>
          <a:ln/>
        </p:spPr>
        <p:txBody>
          <a:bodyPr/>
          <a:lstStyle/>
          <a:p>
            <a:endParaRPr lang="en-US"/>
          </a:p>
        </p:txBody>
      </p:sp>
      <p:sp>
        <p:nvSpPr>
          <p:cNvPr id="99" name="Shape F2"/>
          <p:cNvSpPr/>
          <p:nvPr/>
        </p:nvSpPr>
        <p:spPr>
          <a:xfrm>
            <a:off x="457200" y="4349181"/>
            <a:ext cx="73152" cy="640080"/>
          </a:xfrm>
          <a:prstGeom prst="rect">
            <a:avLst/>
          </a:prstGeom>
          <a:solidFill>
            <a:srgbClr val="38BDF8"/>
          </a:solidFill>
          <a:ln/>
        </p:spPr>
        <p:txBody>
          <a:bodyPr/>
          <a:lstStyle/>
          <a:p>
            <a:endParaRPr lang="en-US"/>
          </a:p>
        </p:txBody>
      </p:sp>
      <p:sp>
        <p:nvSpPr>
          <p:cNvPr id="100" name="Text F3"/>
          <p:cNvSpPr/>
          <p:nvPr/>
        </p:nvSpPr>
        <p:spPr>
          <a:xfrm>
            <a:off x="777240" y="4349181"/>
            <a:ext cx="7772400" cy="640080"/>
          </a:xfrm>
          <a:prstGeom prst="rect">
            <a:avLst/>
          </a:prstGeom>
          <a:noFill/>
          <a:ln/>
        </p:spPr>
        <p:txBody>
          <a:bodyPr wrap="square" lIns="0" tIns="0" rIns="0" bIns="0" rtlCol="0" anchor="ctr"/>
          <a:lstStyle/>
          <a:p>
            <a:pPr marL="0" indent="0">
              <a:buNone/>
            </a:pPr>
            <a:r>
              <a:rPr lang="en-US" sz="1300" i="1" dirty="0">
                <a:solidFill>
                  <a:srgbClr val="F1F5F9"/>
                </a:solidFill>
                <a:latin typeface="Calibri" pitchFamily="34" charset="0"/>
              </a:rPr>
              <a:t>ExecutionContext flows automatically. Use AsyncLocal&lt;T&gt; for ambient state; never ThreadLocal&lt;T&gt; in async code.</a:t>
            </a:r>
          </a:p>
        </p:txBody>
      </p:sp>
      <p:sp>
        <p:nvSpPr>
          <p:cNvPr id="101" name="Text F4"/>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rPr>
              <a:t>7</a:t>
            </a:r>
          </a:p>
        </p:txBody>
      </p:sp>
      <p:pic>
        <p:nvPicPr>
          <p:cNvPr id="6" name="Imagine 5">
            <a:extLst>
              <a:ext uri="{FF2B5EF4-FFF2-40B4-BE49-F238E27FC236}">
                <a16:creationId xmlns:a16="http://schemas.microsoft.com/office/drawing/2014/main" id="{FCCB1F3E-E9F0-A031-89E5-8177DED93A07}"/>
              </a:ext>
            </a:extLst>
          </p:cNvPr>
          <p:cNvPicPr>
            <a:picLocks noChangeAspect="1"/>
          </p:cNvPicPr>
          <p:nvPr/>
        </p:nvPicPr>
        <p:blipFill>
          <a:blip r:embed="rId3"/>
          <a:stretch>
            <a:fillRect/>
          </a:stretch>
        </p:blipFill>
        <p:spPr>
          <a:xfrm>
            <a:off x="4278961" y="1005840"/>
            <a:ext cx="4407839" cy="330340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8">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F1F5F9"/>
                </a:solidFill>
                <a:latin typeface="Trebuchet MS" pitchFamily="34" charset="0"/>
                <a:ea typeface="Trebuchet MS" pitchFamily="34" charset="-122"/>
                <a:cs typeface="Trebuchet MS" pitchFamily="34" charset="-120"/>
              </a:rPr>
              <a:t>State Flows Across Awaits</a:t>
            </a:r>
            <a:endParaRPr lang="en-US" sz="2800" dirty="0"/>
          </a:p>
        </p:txBody>
      </p:sp>
      <p:sp>
        <p:nvSpPr>
          <p:cNvPr id="3" name="Text 1"/>
          <p:cNvSpPr/>
          <p:nvPr/>
        </p:nvSpPr>
        <p:spPr>
          <a:xfrm>
            <a:off x="457200" y="914400"/>
            <a:ext cx="8229600" cy="548640"/>
          </a:xfrm>
          <a:prstGeom prst="rect">
            <a:avLst/>
          </a:prstGeom>
          <a:noFill/>
          <a:ln/>
        </p:spPr>
        <p:txBody>
          <a:bodyPr wrap="square" lIns="0" tIns="0" rIns="0" bIns="0" rtlCol="0" anchor="ctr"/>
          <a:lstStyle/>
          <a:p>
            <a:pPr marL="0" indent="0">
              <a:buNone/>
            </a:pPr>
            <a:r>
              <a:rPr lang="en-US" sz="1300" dirty="0">
                <a:solidFill>
                  <a:srgbClr val="F1F5F9"/>
                </a:solidFill>
                <a:latin typeface="Calibri" pitchFamily="34" charset="0"/>
                <a:ea typeface="Calibri" pitchFamily="34" charset="-122"/>
                <a:cs typeface="Calibri" pitchFamily="34" charset="-120"/>
              </a:rPr>
              <a:t>ExecutionContext is captured at each await and restored when the continuation runs.</a:t>
            </a:r>
            <a:endParaRPr lang="en-US" sz="1300" dirty="0"/>
          </a:p>
          <a:p>
            <a:pPr marL="0" indent="0">
              <a:buNone/>
            </a:pPr>
            <a:r>
              <a:rPr lang="en-US" sz="1300" dirty="0">
                <a:solidFill>
                  <a:srgbClr val="F1F5F9"/>
                </a:solidFill>
                <a:latin typeface="Calibri" pitchFamily="34" charset="0"/>
                <a:ea typeface="Calibri" pitchFamily="34" charset="-122"/>
                <a:cs typeface="Calibri" pitchFamily="34" charset="-120"/>
              </a:rPr>
              <a:t>AsyncLocal&lt;T&gt; stores per-async-flow data inside it.</a:t>
            </a:r>
            <a:endParaRPr lang="en-US" sz="1300" dirty="0"/>
          </a:p>
        </p:txBody>
      </p:sp>
      <p:sp>
        <p:nvSpPr>
          <p:cNvPr id="4" name="Shape 2"/>
          <p:cNvSpPr/>
          <p:nvPr/>
        </p:nvSpPr>
        <p:spPr>
          <a:xfrm>
            <a:off x="457200" y="1600200"/>
            <a:ext cx="6400800" cy="2377440"/>
          </a:xfrm>
          <a:prstGeom prst="rect">
            <a:avLst/>
          </a:prstGeom>
          <a:solidFill>
            <a:srgbClr val="1E293B"/>
          </a:solidFill>
          <a:ln/>
          <a:effectLst>
            <a:outerShdw blurRad="101600" dist="38100" dir="8100000" algn="bl" rotWithShape="0">
              <a:srgbClr val="000000">
                <a:alpha val="30000"/>
              </a:srgbClr>
            </a:outerShdw>
          </a:effectLst>
        </p:spPr>
        <p:txBody>
          <a:bodyPr/>
          <a:lstStyle/>
          <a:p>
            <a:endParaRPr lang="en-US"/>
          </a:p>
        </p:txBody>
      </p:sp>
      <p:sp>
        <p:nvSpPr>
          <p:cNvPr id="5" name="Text 3"/>
          <p:cNvSpPr/>
          <p:nvPr/>
        </p:nvSpPr>
        <p:spPr>
          <a:xfrm>
            <a:off x="594360" y="1691640"/>
            <a:ext cx="6126480" cy="2194560"/>
          </a:xfrm>
          <a:prstGeom prst="rect">
            <a:avLst/>
          </a:prstGeom>
          <a:noFill/>
          <a:ln/>
        </p:spPr>
        <p:txBody>
          <a:bodyPr wrap="square" lIns="0" tIns="0" rIns="0" bIns="0" rtlCol="0" anchor="t"/>
          <a:lstStyle/>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static AsyncLocal&lt;string&gt; _user = new AsyncLocal&lt;string&gt;();</a:t>
            </a:r>
            <a:endParaRPr lang="en-US" sz="1200" dirty="0"/>
          </a:p>
          <a:p>
            <a:pPr marL="0" indent="0">
              <a:spcAft>
                <a:spcPts val="200"/>
              </a:spcAft>
              <a:buNone/>
            </a:pP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async Task DemoAsyncLocal()</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    _user.Value = "Alice";</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    Console.WriteLine($"Before: {_user.Value}");  // Alice</a:t>
            </a:r>
            <a:endParaRPr lang="en-US" sz="1200" dirty="0"/>
          </a:p>
          <a:p>
            <a:pPr marL="0" indent="0">
              <a:spcAft>
                <a:spcPts val="200"/>
              </a:spcAft>
              <a:buNone/>
            </a:pP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    await Task.Delay(500);</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    // Possibly on a different thread now, but:</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    Console.WriteLine($"After:  {_user.Value}");  // Alice!</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a:t>
            </a:r>
            <a:endParaRPr lang="en-US" sz="1200" dirty="0"/>
          </a:p>
        </p:txBody>
      </p:sp>
      <p:sp>
        <p:nvSpPr>
          <p:cNvPr id="6" name="Shape 4"/>
          <p:cNvSpPr/>
          <p:nvPr/>
        </p:nvSpPr>
        <p:spPr>
          <a:xfrm>
            <a:off x="457200" y="4114800"/>
            <a:ext cx="3931920" cy="365760"/>
          </a:xfrm>
          <a:prstGeom prst="rect">
            <a:avLst/>
          </a:prstGeom>
          <a:solidFill>
            <a:srgbClr val="1E293B"/>
          </a:solidFill>
          <a:ln/>
        </p:spPr>
        <p:txBody>
          <a:bodyPr/>
          <a:lstStyle/>
          <a:p>
            <a:endParaRPr lang="en-US"/>
          </a:p>
        </p:txBody>
      </p:sp>
      <p:sp>
        <p:nvSpPr>
          <p:cNvPr id="7" name="Text 5"/>
          <p:cNvSpPr/>
          <p:nvPr/>
        </p:nvSpPr>
        <p:spPr>
          <a:xfrm>
            <a:off x="594360" y="4114800"/>
            <a:ext cx="3749040" cy="365760"/>
          </a:xfrm>
          <a:prstGeom prst="rect">
            <a:avLst/>
          </a:prstGeom>
          <a:noFill/>
          <a:ln/>
        </p:spPr>
        <p:txBody>
          <a:bodyPr wrap="square" lIns="0" tIns="0" rIns="0" bIns="0" rtlCol="0" anchor="ctr"/>
          <a:lstStyle/>
          <a:p>
            <a:pPr marL="0" indent="0">
              <a:buNone/>
            </a:pPr>
            <a:r>
              <a:rPr lang="en-US" sz="1200" dirty="0">
                <a:solidFill>
                  <a:srgbClr val="4ADE80"/>
                </a:solidFill>
                <a:latin typeface="Calibri" pitchFamily="34" charset="0"/>
                <a:ea typeface="Calibri" pitchFamily="34" charset="-122"/>
                <a:cs typeface="Calibri" pitchFamily="34" charset="-120"/>
              </a:rPr>
              <a:t>✅  AsyncLocal&lt;T&gt; - follows the async flow</a:t>
            </a:r>
            <a:endParaRPr lang="en-US" sz="1200" dirty="0"/>
          </a:p>
        </p:txBody>
      </p:sp>
      <p:sp>
        <p:nvSpPr>
          <p:cNvPr id="8" name="Shape 6"/>
          <p:cNvSpPr/>
          <p:nvPr/>
        </p:nvSpPr>
        <p:spPr>
          <a:xfrm>
            <a:off x="4754880" y="4114800"/>
            <a:ext cx="3931920" cy="365760"/>
          </a:xfrm>
          <a:prstGeom prst="rect">
            <a:avLst/>
          </a:prstGeom>
          <a:solidFill>
            <a:srgbClr val="1E293B"/>
          </a:solidFill>
          <a:ln/>
        </p:spPr>
        <p:txBody>
          <a:bodyPr/>
          <a:lstStyle/>
          <a:p>
            <a:endParaRPr lang="en-US"/>
          </a:p>
        </p:txBody>
      </p:sp>
      <p:sp>
        <p:nvSpPr>
          <p:cNvPr id="9" name="Text 7"/>
          <p:cNvSpPr/>
          <p:nvPr/>
        </p:nvSpPr>
        <p:spPr>
          <a:xfrm>
            <a:off x="4892040" y="4114800"/>
            <a:ext cx="3749040" cy="365760"/>
          </a:xfrm>
          <a:prstGeom prst="rect">
            <a:avLst/>
          </a:prstGeom>
          <a:noFill/>
          <a:ln/>
        </p:spPr>
        <p:txBody>
          <a:bodyPr wrap="square" lIns="0" tIns="0" rIns="0" bIns="0" rtlCol="0" anchor="ctr"/>
          <a:lstStyle/>
          <a:p>
            <a:pPr marL="0" indent="0">
              <a:buNone/>
            </a:pPr>
            <a:r>
              <a:rPr lang="en-US" sz="1200" dirty="0">
                <a:solidFill>
                  <a:srgbClr val="F87171"/>
                </a:solidFill>
                <a:latin typeface="Calibri" pitchFamily="34" charset="0"/>
                <a:ea typeface="Calibri" pitchFamily="34" charset="-122"/>
                <a:cs typeface="Calibri" pitchFamily="34" charset="-120"/>
              </a:rPr>
              <a:t>❌  ThreadLocal&lt;T&gt; - tied to physical thread</a:t>
            </a:r>
            <a:endParaRPr lang="en-US" sz="1200" dirty="0"/>
          </a:p>
        </p:txBody>
      </p:sp>
      <p:sp>
        <p:nvSpPr>
          <p:cNvPr id="10" name="Text 8"/>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9">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F1F5F9"/>
                </a:solidFill>
                <a:latin typeface="Trebuchet MS" pitchFamily="34" charset="0"/>
                <a:ea typeface="Trebuchet MS" pitchFamily="34" charset="-122"/>
                <a:cs typeface="Trebuchet MS" pitchFamily="34" charset="-120"/>
              </a:rPr>
              <a:t>Copy-on-Write Isolation</a:t>
            </a:r>
            <a:endParaRPr lang="en-US" sz="2800" dirty="0"/>
          </a:p>
        </p:txBody>
      </p:sp>
      <p:sp>
        <p:nvSpPr>
          <p:cNvPr id="3" name="Text 1"/>
          <p:cNvSpPr/>
          <p:nvPr/>
        </p:nvSpPr>
        <p:spPr>
          <a:xfrm>
            <a:off x="457200" y="914400"/>
            <a:ext cx="8229600" cy="365760"/>
          </a:xfrm>
          <a:prstGeom prst="rect">
            <a:avLst/>
          </a:prstGeom>
          <a:noFill/>
          <a:ln/>
        </p:spPr>
        <p:txBody>
          <a:bodyPr wrap="square" lIns="0" tIns="0" rIns="0" bIns="0" rtlCol="0" anchor="ctr"/>
          <a:lstStyle/>
          <a:p>
            <a:pPr marL="0" indent="0">
              <a:buNone/>
            </a:pPr>
            <a:r>
              <a:rPr lang="en-US" sz="1400" dirty="0">
                <a:solidFill>
                  <a:srgbClr val="F1F5F9"/>
                </a:solidFill>
                <a:latin typeface="Calibri" pitchFamily="34" charset="0"/>
                <a:ea typeface="Calibri" pitchFamily="34" charset="-122"/>
                <a:cs typeface="Calibri" pitchFamily="34" charset="-120"/>
              </a:rPr>
              <a:t>Child flows inherit the parent’s ExecutionContext, but changes stay in the child.</a:t>
            </a:r>
            <a:endParaRPr lang="en-US" sz="1400" dirty="0"/>
          </a:p>
        </p:txBody>
      </p:sp>
      <p:sp>
        <p:nvSpPr>
          <p:cNvPr id="4" name="Shape 2"/>
          <p:cNvSpPr/>
          <p:nvPr/>
        </p:nvSpPr>
        <p:spPr>
          <a:xfrm>
            <a:off x="457200" y="1463040"/>
            <a:ext cx="5943600" cy="2103120"/>
          </a:xfrm>
          <a:prstGeom prst="rect">
            <a:avLst/>
          </a:prstGeom>
          <a:solidFill>
            <a:srgbClr val="1E293B"/>
          </a:solidFill>
          <a:ln/>
          <a:effectLst>
            <a:outerShdw blurRad="101600" dist="38100" dir="8100000" algn="bl" rotWithShape="0">
              <a:srgbClr val="000000">
                <a:alpha val="30000"/>
              </a:srgbClr>
            </a:outerShdw>
          </a:effectLst>
        </p:spPr>
        <p:txBody>
          <a:bodyPr/>
          <a:lstStyle/>
          <a:p>
            <a:endParaRPr lang="en-US"/>
          </a:p>
        </p:txBody>
      </p:sp>
      <p:sp>
        <p:nvSpPr>
          <p:cNvPr id="5" name="Text 3"/>
          <p:cNvSpPr/>
          <p:nvPr/>
        </p:nvSpPr>
        <p:spPr>
          <a:xfrm>
            <a:off x="594360" y="1554480"/>
            <a:ext cx="5669280" cy="1920240"/>
          </a:xfrm>
          <a:prstGeom prst="rect">
            <a:avLst/>
          </a:prstGeom>
          <a:noFill/>
          <a:ln/>
        </p:spPr>
        <p:txBody>
          <a:bodyPr wrap="square" lIns="0" tIns="0" rIns="0" bIns="0" rtlCol="0" anchor="t"/>
          <a:lstStyle/>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_user.Value = "Alice";</a:t>
            </a:r>
            <a:endParaRPr lang="en-US" sz="1200" dirty="0"/>
          </a:p>
          <a:p>
            <a:pPr marL="0" indent="0">
              <a:spcAft>
                <a:spcPts val="200"/>
              </a:spcAft>
              <a:buNone/>
            </a:pP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await Task.Run(() =&gt;</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    Console.WriteLine(_user.Value);  // Alice (inherited)</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    _user.Value = "Bob";             // Only affects child</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a:t>
            </a:r>
            <a:endParaRPr lang="en-US" sz="1200" dirty="0"/>
          </a:p>
          <a:p>
            <a:pPr marL="0" indent="0">
              <a:spcAft>
                <a:spcPts val="200"/>
              </a:spcAft>
              <a:buNone/>
            </a:pP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Console.WriteLine(_user.Value);      // Alice (unchanged!)</a:t>
            </a:r>
            <a:endParaRPr lang="en-US" sz="1200" dirty="0"/>
          </a:p>
        </p:txBody>
      </p:sp>
      <p:sp>
        <p:nvSpPr>
          <p:cNvPr id="6" name="Shape 4"/>
          <p:cNvSpPr/>
          <p:nvPr/>
        </p:nvSpPr>
        <p:spPr>
          <a:xfrm>
            <a:off x="457200" y="4206240"/>
            <a:ext cx="8229600" cy="640080"/>
          </a:xfrm>
          <a:prstGeom prst="rect">
            <a:avLst/>
          </a:prstGeom>
          <a:solidFill>
            <a:srgbClr val="1E293B"/>
          </a:solidFill>
          <a:ln/>
        </p:spPr>
        <p:txBody>
          <a:bodyPr/>
          <a:lstStyle/>
          <a:p>
            <a:endParaRPr lang="en-US"/>
          </a:p>
        </p:txBody>
      </p:sp>
      <p:sp>
        <p:nvSpPr>
          <p:cNvPr id="7" name="Shape 5"/>
          <p:cNvSpPr/>
          <p:nvPr/>
        </p:nvSpPr>
        <p:spPr>
          <a:xfrm>
            <a:off x="457200" y="4206240"/>
            <a:ext cx="73152" cy="640080"/>
          </a:xfrm>
          <a:prstGeom prst="rect">
            <a:avLst/>
          </a:prstGeom>
          <a:solidFill>
            <a:srgbClr val="38BDF8"/>
          </a:solidFill>
          <a:ln/>
        </p:spPr>
        <p:txBody>
          <a:bodyPr/>
          <a:lstStyle/>
          <a:p>
            <a:endParaRPr lang="en-US"/>
          </a:p>
        </p:txBody>
      </p:sp>
      <p:sp>
        <p:nvSpPr>
          <p:cNvPr id="8" name="Text 6"/>
          <p:cNvSpPr/>
          <p:nvPr/>
        </p:nvSpPr>
        <p:spPr>
          <a:xfrm>
            <a:off x="777240" y="4206240"/>
            <a:ext cx="7772400" cy="640080"/>
          </a:xfrm>
          <a:prstGeom prst="rect">
            <a:avLst/>
          </a:prstGeom>
          <a:noFill/>
          <a:ln/>
        </p:spPr>
        <p:txBody>
          <a:bodyPr wrap="square" lIns="0" tIns="0" rIns="0" bIns="0" rtlCol="0" anchor="ctr"/>
          <a:lstStyle/>
          <a:p>
            <a:pPr marL="0" indent="0">
              <a:buNone/>
            </a:pPr>
            <a:r>
              <a:rPr lang="en-US" sz="1300" i="1" dirty="0">
                <a:solidFill>
                  <a:srgbClr val="F1F5F9"/>
                </a:solidFill>
                <a:latin typeface="Calibri" pitchFamily="34" charset="0"/>
                <a:ea typeface="Calibri" pitchFamily="34" charset="-122"/>
                <a:cs typeface="Calibri" pitchFamily="34" charset="-120"/>
              </a:rPr>
              <a:t>ExecutionContext flows automatically. Use AsyncLocal&lt;T&gt; for ambient state; never ThreadLocal&lt;T&gt;.</a:t>
            </a:r>
            <a:endParaRPr lang="en-US" sz="1300" dirty="0"/>
          </a:p>
        </p:txBody>
      </p:sp>
      <p:sp>
        <p:nvSpPr>
          <p:cNvPr id="9" name="Text 7"/>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20">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38BDF8"/>
          </a:solidFill>
          <a:ln/>
        </p:spPr>
        <p:txBody>
          <a:bodyPr/>
          <a:lstStyle/>
          <a:p>
            <a:endParaRPr lang="en-US"/>
          </a:p>
        </p:txBody>
      </p:sp>
      <p:sp>
        <p:nvSpPr>
          <p:cNvPr id="3" name="Text 1"/>
          <p:cNvSpPr/>
          <p:nvPr/>
        </p:nvSpPr>
        <p:spPr>
          <a:xfrm>
            <a:off x="548640" y="914400"/>
            <a:ext cx="1828800" cy="1097280"/>
          </a:xfrm>
          <a:prstGeom prst="rect">
            <a:avLst/>
          </a:prstGeom>
          <a:noFill/>
          <a:ln/>
        </p:spPr>
        <p:txBody>
          <a:bodyPr wrap="square" lIns="0" tIns="0" rIns="0" bIns="0" rtlCol="0" anchor="ctr"/>
          <a:lstStyle/>
          <a:p>
            <a:pPr marL="0" indent="0">
              <a:buNone/>
            </a:pPr>
            <a:r>
              <a:rPr lang="en-US" sz="6000" b="1" dirty="0">
                <a:solidFill>
                  <a:srgbClr val="38BDF8"/>
                </a:solidFill>
                <a:latin typeface="Trebuchet MS" pitchFamily="34" charset="0"/>
                <a:ea typeface="Trebuchet MS" pitchFamily="34" charset="-122"/>
                <a:cs typeface="Trebuchet MS" pitchFamily="34" charset="-120"/>
              </a:rPr>
              <a:t>08</a:t>
            </a:r>
            <a:endParaRPr lang="en-US" sz="6000" dirty="0"/>
          </a:p>
        </p:txBody>
      </p:sp>
      <p:sp>
        <p:nvSpPr>
          <p:cNvPr id="4" name="Text 2"/>
          <p:cNvSpPr/>
          <p:nvPr/>
        </p:nvSpPr>
        <p:spPr>
          <a:xfrm>
            <a:off x="548640" y="1920240"/>
            <a:ext cx="7772400" cy="1097280"/>
          </a:xfrm>
          <a:prstGeom prst="rect">
            <a:avLst/>
          </a:prstGeom>
          <a:noFill/>
          <a:ln/>
        </p:spPr>
        <p:txBody>
          <a:bodyPr wrap="square" lIns="0" tIns="0" rIns="0" bIns="0" rtlCol="0" anchor="ctr"/>
          <a:lstStyle/>
          <a:p>
            <a:pPr marL="0" indent="0">
              <a:buNone/>
            </a:pPr>
            <a:r>
              <a:rPr lang="en-US" sz="3600" b="1" dirty="0">
                <a:solidFill>
                  <a:srgbClr val="F1F5F9"/>
                </a:solidFill>
                <a:latin typeface="Trebuchet MS" pitchFamily="34" charset="0"/>
                <a:ea typeface="Trebuchet MS" pitchFamily="34" charset="-122"/>
                <a:cs typeface="Trebuchet MS" pitchFamily="34" charset="-120"/>
              </a:rPr>
              <a:t>The Awaitable Pattern</a:t>
            </a:r>
            <a:endParaRPr lang="en-US" sz="3600" dirty="0"/>
          </a:p>
        </p:txBody>
      </p:sp>
      <p:sp>
        <p:nvSpPr>
          <p:cNvPr id="5" name="Text 3"/>
          <p:cNvSpPr/>
          <p:nvPr/>
        </p:nvSpPr>
        <p:spPr>
          <a:xfrm>
            <a:off x="548640" y="2926080"/>
            <a:ext cx="7315200" cy="731520"/>
          </a:xfrm>
          <a:prstGeom prst="rect">
            <a:avLst/>
          </a:prstGeom>
          <a:noFill/>
          <a:ln/>
        </p:spPr>
        <p:txBody>
          <a:bodyPr wrap="square" lIns="0" tIns="0" rIns="0" bIns="0" rtlCol="0" anchor="ctr"/>
          <a:lstStyle/>
          <a:p>
            <a:pPr marL="0" indent="0">
              <a:buNone/>
            </a:pPr>
            <a:r>
              <a:rPr lang="en-US" sz="1600" dirty="0">
                <a:solidFill>
                  <a:srgbClr val="94A3B8"/>
                </a:solidFill>
                <a:latin typeface="Calibri" pitchFamily="34" charset="0"/>
                <a:ea typeface="Calibri" pitchFamily="34" charset="-122"/>
                <a:cs typeface="Calibri" pitchFamily="34" charset="-120"/>
              </a:rPr>
              <a:t>await is pattern-based, not type-based</a:t>
            </a:r>
            <a:endParaRPr lang="en-US" sz="1600" dirty="0"/>
          </a:p>
        </p:txBody>
      </p:sp>
      <p:sp>
        <p:nvSpPr>
          <p:cNvPr id="6" name="Text 4"/>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21">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F1F5F9"/>
                </a:solidFill>
                <a:latin typeface="Trebuchet MS" pitchFamily="34" charset="0"/>
                <a:ea typeface="Trebuchet MS" pitchFamily="34" charset="-122"/>
                <a:cs typeface="Trebuchet MS" pitchFamily="34" charset="-120"/>
              </a:rPr>
              <a:t>What Makes Something Awaitable?</a:t>
            </a:r>
            <a:endParaRPr lang="en-US" sz="2800" dirty="0"/>
          </a:p>
        </p:txBody>
      </p:sp>
      <p:sp>
        <p:nvSpPr>
          <p:cNvPr id="3" name="Text 1"/>
          <p:cNvSpPr/>
          <p:nvPr/>
        </p:nvSpPr>
        <p:spPr>
          <a:xfrm>
            <a:off x="457200" y="914400"/>
            <a:ext cx="8229600" cy="365760"/>
          </a:xfrm>
          <a:prstGeom prst="rect">
            <a:avLst/>
          </a:prstGeom>
          <a:noFill/>
          <a:ln/>
        </p:spPr>
        <p:txBody>
          <a:bodyPr wrap="square" lIns="0" tIns="0" rIns="0" bIns="0" rtlCol="0" anchor="ctr"/>
          <a:lstStyle/>
          <a:p>
            <a:pPr marL="0" indent="0">
              <a:buNone/>
            </a:pPr>
            <a:r>
              <a:rPr lang="en-US" sz="1500" dirty="0">
                <a:solidFill>
                  <a:srgbClr val="F1F5F9"/>
                </a:solidFill>
                <a:latin typeface="Calibri" pitchFamily="34" charset="0"/>
                <a:ea typeface="Calibri" pitchFamily="34" charset="-122"/>
                <a:cs typeface="Calibri" pitchFamily="34" charset="-120"/>
              </a:rPr>
              <a:t>await doesn’t require Task. It requires the awaitable pattern:</a:t>
            </a:r>
            <a:endParaRPr lang="en-US" sz="1500" dirty="0"/>
          </a:p>
        </p:txBody>
      </p:sp>
      <p:sp>
        <p:nvSpPr>
          <p:cNvPr id="4" name="Shape 2"/>
          <p:cNvSpPr/>
          <p:nvPr/>
        </p:nvSpPr>
        <p:spPr>
          <a:xfrm>
            <a:off x="457200" y="1508760"/>
            <a:ext cx="8229600" cy="502920"/>
          </a:xfrm>
          <a:prstGeom prst="rect">
            <a:avLst/>
          </a:prstGeom>
          <a:solidFill>
            <a:srgbClr val="1E293B"/>
          </a:solidFill>
          <a:ln/>
        </p:spPr>
        <p:txBody>
          <a:bodyPr/>
          <a:lstStyle/>
          <a:p>
            <a:endParaRPr lang="en-US"/>
          </a:p>
        </p:txBody>
      </p:sp>
      <p:sp>
        <p:nvSpPr>
          <p:cNvPr id="5" name="Text 3"/>
          <p:cNvSpPr/>
          <p:nvPr/>
        </p:nvSpPr>
        <p:spPr>
          <a:xfrm>
            <a:off x="640080" y="1508760"/>
            <a:ext cx="2743200" cy="502920"/>
          </a:xfrm>
          <a:prstGeom prst="rect">
            <a:avLst/>
          </a:prstGeom>
          <a:noFill/>
          <a:ln/>
        </p:spPr>
        <p:txBody>
          <a:bodyPr wrap="square" lIns="0" tIns="0" rIns="0" bIns="0" rtlCol="0" anchor="ctr"/>
          <a:lstStyle/>
          <a:p>
            <a:pPr marL="0" indent="0">
              <a:buNone/>
            </a:pPr>
            <a:r>
              <a:rPr lang="en-US" sz="1400" dirty="0">
                <a:solidFill>
                  <a:srgbClr val="38BDF8"/>
                </a:solidFill>
                <a:latin typeface="Consolas" pitchFamily="34" charset="0"/>
                <a:ea typeface="Consolas" pitchFamily="34" charset="-122"/>
                <a:cs typeface="Consolas" pitchFamily="34" charset="-120"/>
              </a:rPr>
              <a:t>GetAwaiter()</a:t>
            </a:r>
            <a:endParaRPr lang="en-US" sz="1400" dirty="0"/>
          </a:p>
        </p:txBody>
      </p:sp>
      <p:sp>
        <p:nvSpPr>
          <p:cNvPr id="6" name="Text 4"/>
          <p:cNvSpPr/>
          <p:nvPr/>
        </p:nvSpPr>
        <p:spPr>
          <a:xfrm>
            <a:off x="3474720" y="1508760"/>
            <a:ext cx="5029200" cy="502920"/>
          </a:xfrm>
          <a:prstGeom prst="rect">
            <a:avLst/>
          </a:prstGeom>
          <a:noFill/>
          <a:ln/>
        </p:spPr>
        <p:txBody>
          <a:bodyPr wrap="square" lIns="0" tIns="0" rIns="0" bIns="0" rtlCol="0" anchor="ctr"/>
          <a:lstStyle/>
          <a:p>
            <a:pPr marL="0" indent="0">
              <a:buNone/>
            </a:pPr>
            <a:r>
              <a:rPr lang="en-US" sz="1300" dirty="0">
                <a:solidFill>
                  <a:srgbClr val="F1F5F9"/>
                </a:solidFill>
                <a:latin typeface="Calibri" pitchFamily="34" charset="0"/>
                <a:ea typeface="Calibri" pitchFamily="34" charset="-122"/>
                <a:cs typeface="Calibri" pitchFamily="34" charset="-120"/>
              </a:rPr>
              <a:t>Return an awaiter object</a:t>
            </a:r>
            <a:endParaRPr lang="en-US" sz="1300" dirty="0"/>
          </a:p>
        </p:txBody>
      </p:sp>
      <p:sp>
        <p:nvSpPr>
          <p:cNvPr id="7" name="Shape 5"/>
          <p:cNvSpPr/>
          <p:nvPr/>
        </p:nvSpPr>
        <p:spPr>
          <a:xfrm>
            <a:off x="457200" y="2148840"/>
            <a:ext cx="8229600" cy="502920"/>
          </a:xfrm>
          <a:prstGeom prst="rect">
            <a:avLst/>
          </a:prstGeom>
          <a:solidFill>
            <a:srgbClr val="1E293B"/>
          </a:solidFill>
          <a:ln/>
        </p:spPr>
        <p:txBody>
          <a:bodyPr/>
          <a:lstStyle/>
          <a:p>
            <a:endParaRPr lang="en-US"/>
          </a:p>
        </p:txBody>
      </p:sp>
      <p:sp>
        <p:nvSpPr>
          <p:cNvPr id="8" name="Text 6"/>
          <p:cNvSpPr/>
          <p:nvPr/>
        </p:nvSpPr>
        <p:spPr>
          <a:xfrm>
            <a:off x="640080" y="2148840"/>
            <a:ext cx="2743200" cy="502920"/>
          </a:xfrm>
          <a:prstGeom prst="rect">
            <a:avLst/>
          </a:prstGeom>
          <a:noFill/>
          <a:ln/>
        </p:spPr>
        <p:txBody>
          <a:bodyPr wrap="square" lIns="0" tIns="0" rIns="0" bIns="0" rtlCol="0" anchor="ctr"/>
          <a:lstStyle/>
          <a:p>
            <a:pPr marL="0" indent="0">
              <a:buNone/>
            </a:pPr>
            <a:r>
              <a:rPr lang="en-US" sz="1400" dirty="0">
                <a:solidFill>
                  <a:srgbClr val="4ADE80"/>
                </a:solidFill>
                <a:latin typeface="Consolas" pitchFamily="34" charset="0"/>
                <a:ea typeface="Consolas" pitchFamily="34" charset="-122"/>
                <a:cs typeface="Consolas" pitchFamily="34" charset="-120"/>
              </a:rPr>
              <a:t>IsCompleted</a:t>
            </a:r>
            <a:endParaRPr lang="en-US" sz="1400" dirty="0"/>
          </a:p>
        </p:txBody>
      </p:sp>
      <p:sp>
        <p:nvSpPr>
          <p:cNvPr id="9" name="Text 7"/>
          <p:cNvSpPr/>
          <p:nvPr/>
        </p:nvSpPr>
        <p:spPr>
          <a:xfrm>
            <a:off x="3474720" y="2148840"/>
            <a:ext cx="5029200" cy="502920"/>
          </a:xfrm>
          <a:prstGeom prst="rect">
            <a:avLst/>
          </a:prstGeom>
          <a:noFill/>
          <a:ln/>
        </p:spPr>
        <p:txBody>
          <a:bodyPr wrap="square" lIns="0" tIns="0" rIns="0" bIns="0" rtlCol="0" anchor="ctr"/>
          <a:lstStyle/>
          <a:p>
            <a:pPr marL="0" indent="0">
              <a:buNone/>
            </a:pPr>
            <a:r>
              <a:rPr lang="en-US" sz="1300" dirty="0">
                <a:solidFill>
                  <a:srgbClr val="F1F5F9"/>
                </a:solidFill>
                <a:latin typeface="Calibri" pitchFamily="34" charset="0"/>
                <a:ea typeface="Calibri" pitchFamily="34" charset="-122"/>
                <a:cs typeface="Calibri" pitchFamily="34" charset="-120"/>
              </a:rPr>
              <a:t>Bool - has it already finished? (fast path)</a:t>
            </a:r>
            <a:endParaRPr lang="en-US" sz="1300" dirty="0"/>
          </a:p>
        </p:txBody>
      </p:sp>
      <p:sp>
        <p:nvSpPr>
          <p:cNvPr id="10" name="Shape 8"/>
          <p:cNvSpPr/>
          <p:nvPr/>
        </p:nvSpPr>
        <p:spPr>
          <a:xfrm>
            <a:off x="457200" y="2788920"/>
            <a:ext cx="8229600" cy="502920"/>
          </a:xfrm>
          <a:prstGeom prst="rect">
            <a:avLst/>
          </a:prstGeom>
          <a:solidFill>
            <a:srgbClr val="1E293B"/>
          </a:solidFill>
          <a:ln/>
        </p:spPr>
        <p:txBody>
          <a:bodyPr/>
          <a:lstStyle/>
          <a:p>
            <a:endParaRPr lang="en-US"/>
          </a:p>
        </p:txBody>
      </p:sp>
      <p:sp>
        <p:nvSpPr>
          <p:cNvPr id="11" name="Text 9"/>
          <p:cNvSpPr/>
          <p:nvPr/>
        </p:nvSpPr>
        <p:spPr>
          <a:xfrm>
            <a:off x="640080" y="2788920"/>
            <a:ext cx="2743200" cy="502920"/>
          </a:xfrm>
          <a:prstGeom prst="rect">
            <a:avLst/>
          </a:prstGeom>
          <a:noFill/>
          <a:ln/>
        </p:spPr>
        <p:txBody>
          <a:bodyPr wrap="square" lIns="0" tIns="0" rIns="0" bIns="0" rtlCol="0" anchor="ctr"/>
          <a:lstStyle/>
          <a:p>
            <a:pPr marL="0" indent="0">
              <a:buNone/>
            </a:pPr>
            <a:r>
              <a:rPr lang="en-US" sz="1400" dirty="0">
                <a:solidFill>
                  <a:srgbClr val="FBBF24"/>
                </a:solidFill>
                <a:latin typeface="Consolas" pitchFamily="34" charset="0"/>
                <a:ea typeface="Consolas" pitchFamily="34" charset="-122"/>
                <a:cs typeface="Consolas" pitchFamily="34" charset="-120"/>
              </a:rPr>
              <a:t>OnCompleted(Action)</a:t>
            </a:r>
            <a:endParaRPr lang="en-US" sz="1400" dirty="0"/>
          </a:p>
        </p:txBody>
      </p:sp>
      <p:sp>
        <p:nvSpPr>
          <p:cNvPr id="12" name="Text 10"/>
          <p:cNvSpPr/>
          <p:nvPr/>
        </p:nvSpPr>
        <p:spPr>
          <a:xfrm>
            <a:off x="3474720" y="2788920"/>
            <a:ext cx="5029200" cy="502920"/>
          </a:xfrm>
          <a:prstGeom prst="rect">
            <a:avLst/>
          </a:prstGeom>
          <a:noFill/>
          <a:ln/>
        </p:spPr>
        <p:txBody>
          <a:bodyPr wrap="square" lIns="0" tIns="0" rIns="0" bIns="0" rtlCol="0" anchor="ctr"/>
          <a:lstStyle/>
          <a:p>
            <a:pPr marL="0" indent="0">
              <a:buNone/>
            </a:pPr>
            <a:r>
              <a:rPr lang="en-US" sz="1300" dirty="0">
                <a:solidFill>
                  <a:srgbClr val="F1F5F9"/>
                </a:solidFill>
                <a:latin typeface="Calibri" pitchFamily="34" charset="0"/>
                <a:ea typeface="Calibri" pitchFamily="34" charset="-122"/>
                <a:cs typeface="Calibri" pitchFamily="34" charset="-120"/>
              </a:rPr>
              <a:t>Register the callback for when it’s done</a:t>
            </a:r>
            <a:endParaRPr lang="en-US" sz="1300" dirty="0"/>
          </a:p>
        </p:txBody>
      </p:sp>
      <p:sp>
        <p:nvSpPr>
          <p:cNvPr id="13" name="Shape 11"/>
          <p:cNvSpPr/>
          <p:nvPr/>
        </p:nvSpPr>
        <p:spPr>
          <a:xfrm>
            <a:off x="457200" y="3429000"/>
            <a:ext cx="8229600" cy="502920"/>
          </a:xfrm>
          <a:prstGeom prst="rect">
            <a:avLst/>
          </a:prstGeom>
          <a:solidFill>
            <a:srgbClr val="1E293B"/>
          </a:solidFill>
          <a:ln/>
        </p:spPr>
        <p:txBody>
          <a:bodyPr/>
          <a:lstStyle/>
          <a:p>
            <a:endParaRPr lang="en-US"/>
          </a:p>
        </p:txBody>
      </p:sp>
      <p:sp>
        <p:nvSpPr>
          <p:cNvPr id="14" name="Text 12"/>
          <p:cNvSpPr/>
          <p:nvPr/>
        </p:nvSpPr>
        <p:spPr>
          <a:xfrm>
            <a:off x="640080" y="3429000"/>
            <a:ext cx="2743200" cy="502920"/>
          </a:xfrm>
          <a:prstGeom prst="rect">
            <a:avLst/>
          </a:prstGeom>
          <a:noFill/>
          <a:ln/>
        </p:spPr>
        <p:txBody>
          <a:bodyPr wrap="square" lIns="0" tIns="0" rIns="0" bIns="0" rtlCol="0" anchor="ctr"/>
          <a:lstStyle/>
          <a:p>
            <a:pPr marL="0" indent="0">
              <a:buNone/>
            </a:pPr>
            <a:r>
              <a:rPr lang="en-US" sz="1400" dirty="0">
                <a:solidFill>
                  <a:srgbClr val="A78BFA"/>
                </a:solidFill>
                <a:latin typeface="Consolas" pitchFamily="34" charset="0"/>
                <a:ea typeface="Consolas" pitchFamily="34" charset="-122"/>
                <a:cs typeface="Consolas" pitchFamily="34" charset="-120"/>
              </a:rPr>
              <a:t>GetResult()</a:t>
            </a:r>
            <a:endParaRPr lang="en-US" sz="1400" dirty="0"/>
          </a:p>
        </p:txBody>
      </p:sp>
      <p:sp>
        <p:nvSpPr>
          <p:cNvPr id="15" name="Text 13"/>
          <p:cNvSpPr/>
          <p:nvPr/>
        </p:nvSpPr>
        <p:spPr>
          <a:xfrm>
            <a:off x="3474720" y="3429000"/>
            <a:ext cx="5029200" cy="502920"/>
          </a:xfrm>
          <a:prstGeom prst="rect">
            <a:avLst/>
          </a:prstGeom>
          <a:noFill/>
          <a:ln/>
        </p:spPr>
        <p:txBody>
          <a:bodyPr wrap="square" lIns="0" tIns="0" rIns="0" bIns="0" rtlCol="0" anchor="ctr"/>
          <a:lstStyle/>
          <a:p>
            <a:pPr marL="0" indent="0">
              <a:buNone/>
            </a:pPr>
            <a:r>
              <a:rPr lang="en-US" sz="1300" dirty="0">
                <a:solidFill>
                  <a:srgbClr val="F1F5F9"/>
                </a:solidFill>
                <a:latin typeface="Calibri" pitchFamily="34" charset="0"/>
                <a:ea typeface="Calibri" pitchFamily="34" charset="-122"/>
                <a:cs typeface="Calibri" pitchFamily="34" charset="-120"/>
              </a:rPr>
              <a:t>Return result or rethrow exception</a:t>
            </a:r>
            <a:endParaRPr lang="en-US" sz="1300" dirty="0"/>
          </a:p>
        </p:txBody>
      </p:sp>
      <p:sp>
        <p:nvSpPr>
          <p:cNvPr id="16" name="Shape 14"/>
          <p:cNvSpPr/>
          <p:nvPr/>
        </p:nvSpPr>
        <p:spPr>
          <a:xfrm>
            <a:off x="457200" y="4206240"/>
            <a:ext cx="8229600" cy="640080"/>
          </a:xfrm>
          <a:prstGeom prst="rect">
            <a:avLst/>
          </a:prstGeom>
          <a:solidFill>
            <a:srgbClr val="1E293B"/>
          </a:solidFill>
          <a:ln/>
        </p:spPr>
        <p:txBody>
          <a:bodyPr/>
          <a:lstStyle/>
          <a:p>
            <a:endParaRPr lang="en-US"/>
          </a:p>
        </p:txBody>
      </p:sp>
      <p:sp>
        <p:nvSpPr>
          <p:cNvPr id="17" name="Shape 15"/>
          <p:cNvSpPr/>
          <p:nvPr/>
        </p:nvSpPr>
        <p:spPr>
          <a:xfrm>
            <a:off x="457200" y="4206240"/>
            <a:ext cx="73152" cy="640080"/>
          </a:xfrm>
          <a:prstGeom prst="rect">
            <a:avLst/>
          </a:prstGeom>
          <a:solidFill>
            <a:srgbClr val="38BDF8"/>
          </a:solidFill>
          <a:ln/>
        </p:spPr>
        <p:txBody>
          <a:bodyPr/>
          <a:lstStyle/>
          <a:p>
            <a:endParaRPr lang="en-US"/>
          </a:p>
        </p:txBody>
      </p:sp>
      <p:sp>
        <p:nvSpPr>
          <p:cNvPr id="18" name="Text 16"/>
          <p:cNvSpPr/>
          <p:nvPr/>
        </p:nvSpPr>
        <p:spPr>
          <a:xfrm>
            <a:off x="777240" y="4206240"/>
            <a:ext cx="7772400" cy="640080"/>
          </a:xfrm>
          <a:prstGeom prst="rect">
            <a:avLst/>
          </a:prstGeom>
          <a:noFill/>
          <a:ln/>
        </p:spPr>
        <p:txBody>
          <a:bodyPr wrap="square" lIns="0" tIns="0" rIns="0" bIns="0" rtlCol="0" anchor="ctr"/>
          <a:lstStyle/>
          <a:p>
            <a:pPr marL="0" indent="0">
              <a:buNone/>
            </a:pPr>
            <a:r>
              <a:rPr lang="en-US" sz="1300" i="1" dirty="0">
                <a:solidFill>
                  <a:srgbClr val="F1F5F9"/>
                </a:solidFill>
                <a:latin typeface="Calibri" pitchFamily="34" charset="0"/>
                <a:ea typeface="Calibri" pitchFamily="34" charset="-122"/>
                <a:cs typeface="Calibri" pitchFamily="34" charset="-120"/>
              </a:rPr>
              <a:t>You can await anything with a </a:t>
            </a:r>
            <a:r>
              <a:rPr lang="en-US" sz="1300" i="1" dirty="0" err="1">
                <a:solidFill>
                  <a:srgbClr val="F1F5F9"/>
                </a:solidFill>
                <a:latin typeface="Calibri" pitchFamily="34" charset="0"/>
                <a:ea typeface="Calibri" pitchFamily="34" charset="-122"/>
                <a:cs typeface="Calibri" pitchFamily="34" charset="-120"/>
              </a:rPr>
              <a:t>GetAwaiter</a:t>
            </a:r>
            <a:r>
              <a:rPr lang="en-US" sz="1300" i="1" dirty="0">
                <a:solidFill>
                  <a:srgbClr val="F1F5F9"/>
                </a:solidFill>
                <a:latin typeface="Calibri" pitchFamily="34" charset="0"/>
                <a:ea typeface="Calibri" pitchFamily="34" charset="-122"/>
                <a:cs typeface="Calibri" pitchFamily="34" charset="-120"/>
              </a:rPr>
              <a:t>() method - Task is just the most common one.</a:t>
            </a:r>
            <a:endParaRPr lang="en-US" sz="1300" dirty="0"/>
          </a:p>
        </p:txBody>
      </p:sp>
      <p:sp>
        <p:nvSpPr>
          <p:cNvPr id="19" name="Text 17"/>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22">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F1F5F9"/>
                </a:solidFill>
                <a:latin typeface="Trebuchet MS" pitchFamily="34" charset="0"/>
                <a:ea typeface="Trebuchet MS" pitchFamily="34" charset="-122"/>
                <a:cs typeface="Trebuchet MS" pitchFamily="34" charset="-120"/>
              </a:rPr>
              <a:t>Custom Awaitable Example</a:t>
            </a:r>
            <a:endParaRPr lang="en-US" sz="2800" dirty="0"/>
          </a:p>
        </p:txBody>
      </p:sp>
      <p:sp>
        <p:nvSpPr>
          <p:cNvPr id="7" name="Text 5"/>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3">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38BDF8"/>
          </a:solidFill>
          <a:ln/>
        </p:spPr>
        <p:txBody>
          <a:bodyPr/>
          <a:lstStyle/>
          <a:p>
            <a:endParaRPr lang="en-US"/>
          </a:p>
        </p:txBody>
      </p:sp>
      <p:sp>
        <p:nvSpPr>
          <p:cNvPr id="3" name="Text 1"/>
          <p:cNvSpPr/>
          <p:nvPr/>
        </p:nvSpPr>
        <p:spPr>
          <a:xfrm>
            <a:off x="548640" y="914400"/>
            <a:ext cx="1828800" cy="1097280"/>
          </a:xfrm>
          <a:prstGeom prst="rect">
            <a:avLst/>
          </a:prstGeom>
          <a:noFill/>
          <a:ln/>
        </p:spPr>
        <p:txBody>
          <a:bodyPr wrap="square" lIns="0" tIns="0" rIns="0" bIns="0" rtlCol="0" anchor="ctr"/>
          <a:lstStyle/>
          <a:p>
            <a:pPr marL="0" indent="0">
              <a:buNone/>
            </a:pPr>
            <a:r>
              <a:rPr lang="en-US" sz="6000" b="1" dirty="0">
                <a:solidFill>
                  <a:srgbClr val="38BDF8"/>
                </a:solidFill>
                <a:latin typeface="Trebuchet MS" pitchFamily="34" charset="0"/>
                <a:ea typeface="Trebuchet MS" pitchFamily="34" charset="-122"/>
                <a:cs typeface="Trebuchet MS" pitchFamily="34" charset="-120"/>
              </a:rPr>
              <a:t>09</a:t>
            </a:r>
            <a:endParaRPr lang="en-US" sz="6000" dirty="0"/>
          </a:p>
        </p:txBody>
      </p:sp>
      <p:sp>
        <p:nvSpPr>
          <p:cNvPr id="4" name="Text 2"/>
          <p:cNvSpPr/>
          <p:nvPr/>
        </p:nvSpPr>
        <p:spPr>
          <a:xfrm>
            <a:off x="548640" y="1920240"/>
            <a:ext cx="7772400" cy="1097280"/>
          </a:xfrm>
          <a:prstGeom prst="rect">
            <a:avLst/>
          </a:prstGeom>
          <a:noFill/>
          <a:ln/>
        </p:spPr>
        <p:txBody>
          <a:bodyPr wrap="square" lIns="0" tIns="0" rIns="0" bIns="0" rtlCol="0" anchor="ctr"/>
          <a:lstStyle/>
          <a:p>
            <a:pPr marL="0" indent="0">
              <a:buNone/>
            </a:pPr>
            <a:r>
              <a:rPr lang="en-US" sz="3600" b="1" dirty="0">
                <a:solidFill>
                  <a:srgbClr val="F1F5F9"/>
                </a:solidFill>
                <a:latin typeface="Trebuchet MS" pitchFamily="34" charset="0"/>
                <a:ea typeface="Trebuchet MS" pitchFamily="34" charset="-122"/>
                <a:cs typeface="Trebuchet MS" pitchFamily="34" charset="-120"/>
              </a:rPr>
              <a:t>The State Machine</a:t>
            </a:r>
            <a:endParaRPr lang="en-US" sz="3600" dirty="0"/>
          </a:p>
          <a:p>
            <a:pPr marL="0" indent="0">
              <a:buNone/>
            </a:pPr>
            <a:r>
              <a:rPr lang="en-US" sz="3600" b="1" dirty="0">
                <a:solidFill>
                  <a:srgbClr val="F1F5F9"/>
                </a:solidFill>
                <a:latin typeface="Trebuchet MS" pitchFamily="34" charset="0"/>
                <a:ea typeface="Trebuchet MS" pitchFamily="34" charset="-122"/>
                <a:cs typeface="Trebuchet MS" pitchFamily="34" charset="-120"/>
              </a:rPr>
              <a:t>Deep Dive</a:t>
            </a:r>
            <a:endParaRPr lang="en-US" sz="3600" dirty="0"/>
          </a:p>
        </p:txBody>
      </p:sp>
      <p:sp>
        <p:nvSpPr>
          <p:cNvPr id="5" name="Text 3"/>
          <p:cNvSpPr/>
          <p:nvPr/>
        </p:nvSpPr>
        <p:spPr>
          <a:xfrm>
            <a:off x="548640" y="2926080"/>
            <a:ext cx="7315200" cy="731520"/>
          </a:xfrm>
          <a:prstGeom prst="rect">
            <a:avLst/>
          </a:prstGeom>
          <a:noFill/>
          <a:ln/>
        </p:spPr>
        <p:txBody>
          <a:bodyPr wrap="square" lIns="0" tIns="0" rIns="0" bIns="0" rtlCol="0" anchor="ctr"/>
          <a:lstStyle/>
          <a:p>
            <a:pPr marL="0" indent="0">
              <a:buNone/>
            </a:pPr>
            <a:r>
              <a:rPr lang="en-US" sz="1600" dirty="0">
                <a:solidFill>
                  <a:srgbClr val="94A3B8"/>
                </a:solidFill>
                <a:latin typeface="Calibri" pitchFamily="34" charset="0"/>
                <a:ea typeface="Calibri" pitchFamily="34" charset="-122"/>
                <a:cs typeface="Calibri" pitchFamily="34" charset="-120"/>
              </a:rPr>
              <a:t>What the compiler really does with your async method</a:t>
            </a:r>
            <a:endParaRPr lang="en-US" sz="1600" dirty="0"/>
          </a:p>
        </p:txBody>
      </p:sp>
      <p:sp>
        <p:nvSpPr>
          <p:cNvPr id="6" name="Text 4"/>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4">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F1F5F9"/>
                </a:solidFill>
                <a:latin typeface="Trebuchet MS" pitchFamily="34" charset="0"/>
                <a:ea typeface="Trebuchet MS" pitchFamily="34" charset="-122"/>
                <a:cs typeface="Trebuchet MS" pitchFamily="34" charset="-120"/>
              </a:rPr>
              <a:t>State Machine Warmup</a:t>
            </a:r>
            <a:endParaRPr lang="en-US" sz="2800" dirty="0"/>
          </a:p>
        </p:txBody>
      </p:sp>
      <p:sp>
        <p:nvSpPr>
          <p:cNvPr id="15" name="Text 13"/>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23</a:t>
            </a:r>
            <a:endParaRPr lang="en-US" sz="1000" dirty="0"/>
          </a:p>
        </p:txBody>
      </p:sp>
      <p:pic>
        <p:nvPicPr>
          <p:cNvPr id="17" name="Imagine 16">
            <a:extLst>
              <a:ext uri="{FF2B5EF4-FFF2-40B4-BE49-F238E27FC236}">
                <a16:creationId xmlns:a16="http://schemas.microsoft.com/office/drawing/2014/main" id="{4B9CD2DF-9F17-C3F7-04EF-18FD4962E92D}"/>
              </a:ext>
            </a:extLst>
          </p:cNvPr>
          <p:cNvPicPr>
            <a:picLocks noChangeAspect="1"/>
          </p:cNvPicPr>
          <p:nvPr/>
        </p:nvPicPr>
        <p:blipFill>
          <a:blip r:embed="rId3"/>
          <a:stretch>
            <a:fillRect/>
          </a:stretch>
        </p:blipFill>
        <p:spPr>
          <a:xfrm>
            <a:off x="457199" y="777240"/>
            <a:ext cx="4783065" cy="393192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a:extLst>
            <a:ext uri="{FF2B5EF4-FFF2-40B4-BE49-F238E27FC236}">
              <a16:creationId xmlns:a16="http://schemas.microsoft.com/office/drawing/2014/main" id="{97EDEB4F-40EF-E0B1-DA07-BE03EAB773C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EC0B8AC-4503-1846-3556-9CACCA57BD03}"/>
              </a:ext>
            </a:extLst>
          </p:cNvPr>
          <p:cNvSpPr/>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F1F5F9"/>
                </a:solidFill>
                <a:latin typeface="Trebuchet MS" pitchFamily="34" charset="0"/>
                <a:ea typeface="Trebuchet MS" pitchFamily="34" charset="-122"/>
                <a:cs typeface="Trebuchet MS" pitchFamily="34" charset="-120"/>
              </a:rPr>
              <a:t>Our Example Method</a:t>
            </a:r>
            <a:endParaRPr lang="en-US" sz="2800" dirty="0"/>
          </a:p>
        </p:txBody>
      </p:sp>
      <p:sp>
        <p:nvSpPr>
          <p:cNvPr id="3" name="Shape 1">
            <a:extLst>
              <a:ext uri="{FF2B5EF4-FFF2-40B4-BE49-F238E27FC236}">
                <a16:creationId xmlns:a16="http://schemas.microsoft.com/office/drawing/2014/main" id="{B0BCF389-3259-656D-33C1-171B6F214A66}"/>
              </a:ext>
            </a:extLst>
          </p:cNvPr>
          <p:cNvSpPr/>
          <p:nvPr/>
        </p:nvSpPr>
        <p:spPr>
          <a:xfrm>
            <a:off x="457200" y="1097280"/>
            <a:ext cx="5029200" cy="2011680"/>
          </a:xfrm>
          <a:prstGeom prst="rect">
            <a:avLst/>
          </a:prstGeom>
          <a:solidFill>
            <a:srgbClr val="1E293B"/>
          </a:solidFill>
          <a:ln/>
          <a:effectLst>
            <a:outerShdw blurRad="101600" dist="38100" dir="8100000" algn="bl" rotWithShape="0">
              <a:srgbClr val="000000">
                <a:alpha val="30000"/>
              </a:srgbClr>
            </a:outerShdw>
          </a:effectLst>
        </p:spPr>
        <p:txBody>
          <a:bodyPr/>
          <a:lstStyle/>
          <a:p>
            <a:endParaRPr lang="en-US"/>
          </a:p>
        </p:txBody>
      </p:sp>
      <p:sp>
        <p:nvSpPr>
          <p:cNvPr id="4" name="Text 2">
            <a:extLst>
              <a:ext uri="{FF2B5EF4-FFF2-40B4-BE49-F238E27FC236}">
                <a16:creationId xmlns:a16="http://schemas.microsoft.com/office/drawing/2014/main" id="{638B43CF-BCCC-FF3A-15F2-BA06B2FB9F45}"/>
              </a:ext>
            </a:extLst>
          </p:cNvPr>
          <p:cNvSpPr/>
          <p:nvPr/>
        </p:nvSpPr>
        <p:spPr>
          <a:xfrm>
            <a:off x="594360" y="1188720"/>
            <a:ext cx="4754880" cy="1828800"/>
          </a:xfrm>
          <a:prstGeom prst="rect">
            <a:avLst/>
          </a:prstGeom>
          <a:noFill/>
          <a:ln/>
        </p:spPr>
        <p:txBody>
          <a:bodyPr wrap="square" lIns="0" tIns="0" rIns="0" bIns="0" rtlCol="0" anchor="t"/>
          <a:lstStyle/>
          <a:p>
            <a:pPr marL="0" indent="0">
              <a:spcAft>
                <a:spcPts val="200"/>
              </a:spcAft>
              <a:buNone/>
            </a:pPr>
            <a:r>
              <a:rPr lang="en-US" sz="1400" dirty="0">
                <a:solidFill>
                  <a:srgbClr val="E2E8F0"/>
                </a:solidFill>
                <a:latin typeface="Consolas" pitchFamily="34" charset="0"/>
                <a:ea typeface="Consolas" pitchFamily="34" charset="-122"/>
                <a:cs typeface="Consolas" pitchFamily="34" charset="-120"/>
              </a:rPr>
              <a:t>async Task ExampleAsync()</a:t>
            </a:r>
            <a:endParaRPr lang="en-US" sz="1400" dirty="0"/>
          </a:p>
          <a:p>
            <a:pPr marL="0" indent="0">
              <a:spcAft>
                <a:spcPts val="200"/>
              </a:spcAft>
              <a:buNone/>
            </a:pPr>
            <a:r>
              <a:rPr lang="en-US" sz="1400" dirty="0">
                <a:solidFill>
                  <a:srgbClr val="E2E8F0"/>
                </a:solidFill>
                <a:latin typeface="Consolas" pitchFamily="34" charset="0"/>
                <a:ea typeface="Consolas" pitchFamily="34" charset="-122"/>
                <a:cs typeface="Consolas" pitchFamily="34" charset="-120"/>
              </a:rPr>
              <a:t>{</a:t>
            </a:r>
            <a:endParaRPr lang="en-US" sz="1400" dirty="0"/>
          </a:p>
          <a:p>
            <a:pPr marL="0" indent="0">
              <a:spcAft>
                <a:spcPts val="200"/>
              </a:spcAft>
              <a:buNone/>
            </a:pPr>
            <a:r>
              <a:rPr lang="en-US" sz="1400" dirty="0">
                <a:solidFill>
                  <a:srgbClr val="E2E8F0"/>
                </a:solidFill>
                <a:latin typeface="Consolas" pitchFamily="34" charset="0"/>
                <a:ea typeface="Consolas" pitchFamily="34" charset="-122"/>
                <a:cs typeface="Consolas" pitchFamily="34" charset="-120"/>
              </a:rPr>
              <a:t>    Console.WriteLine("Step 1");</a:t>
            </a:r>
            <a:endParaRPr lang="en-US" sz="1400" dirty="0"/>
          </a:p>
          <a:p>
            <a:pPr marL="0" indent="0">
              <a:spcAft>
                <a:spcPts val="200"/>
              </a:spcAft>
              <a:buNone/>
            </a:pPr>
            <a:r>
              <a:rPr lang="en-US" sz="1400" dirty="0">
                <a:solidFill>
                  <a:srgbClr val="E2E8F0"/>
                </a:solidFill>
                <a:latin typeface="Consolas" pitchFamily="34" charset="0"/>
                <a:ea typeface="Consolas" pitchFamily="34" charset="-122"/>
                <a:cs typeface="Consolas" pitchFamily="34" charset="-120"/>
              </a:rPr>
              <a:t>    await Task.Delay(1000);</a:t>
            </a:r>
            <a:endParaRPr lang="en-US" sz="1400" dirty="0"/>
          </a:p>
          <a:p>
            <a:pPr marL="0" indent="0">
              <a:spcAft>
                <a:spcPts val="200"/>
              </a:spcAft>
              <a:buNone/>
            </a:pPr>
            <a:r>
              <a:rPr lang="en-US" sz="1400" dirty="0">
                <a:solidFill>
                  <a:srgbClr val="E2E8F0"/>
                </a:solidFill>
                <a:latin typeface="Consolas" pitchFamily="34" charset="0"/>
                <a:ea typeface="Consolas" pitchFamily="34" charset="-122"/>
                <a:cs typeface="Consolas" pitchFamily="34" charset="-120"/>
              </a:rPr>
              <a:t>    Console.WriteLine("Step 2");</a:t>
            </a:r>
            <a:endParaRPr lang="en-US" sz="1400" dirty="0"/>
          </a:p>
          <a:p>
            <a:pPr marL="0" indent="0">
              <a:spcAft>
                <a:spcPts val="200"/>
              </a:spcAft>
              <a:buNone/>
            </a:pPr>
            <a:r>
              <a:rPr lang="en-US" sz="1400" dirty="0">
                <a:solidFill>
                  <a:srgbClr val="E2E8F0"/>
                </a:solidFill>
                <a:latin typeface="Consolas" pitchFamily="34" charset="0"/>
                <a:ea typeface="Consolas" pitchFamily="34" charset="-122"/>
                <a:cs typeface="Consolas" pitchFamily="34" charset="-120"/>
              </a:rPr>
              <a:t>    await Task.Delay(500);</a:t>
            </a:r>
            <a:endParaRPr lang="en-US" sz="1400" dirty="0"/>
          </a:p>
          <a:p>
            <a:pPr marL="0" indent="0">
              <a:spcAft>
                <a:spcPts val="200"/>
              </a:spcAft>
              <a:buNone/>
            </a:pPr>
            <a:r>
              <a:rPr lang="en-US" sz="1400" dirty="0">
                <a:solidFill>
                  <a:srgbClr val="E2E8F0"/>
                </a:solidFill>
                <a:latin typeface="Consolas" pitchFamily="34" charset="0"/>
                <a:ea typeface="Consolas" pitchFamily="34" charset="-122"/>
                <a:cs typeface="Consolas" pitchFamily="34" charset="-120"/>
              </a:rPr>
              <a:t>    Console.WriteLine("Step 3");</a:t>
            </a:r>
            <a:endParaRPr lang="en-US" sz="1400" dirty="0"/>
          </a:p>
          <a:p>
            <a:pPr marL="0" indent="0">
              <a:spcAft>
                <a:spcPts val="200"/>
              </a:spcAft>
              <a:buNone/>
            </a:pPr>
            <a:r>
              <a:rPr lang="en-US" sz="1400" dirty="0">
                <a:solidFill>
                  <a:srgbClr val="E2E8F0"/>
                </a:solidFill>
                <a:latin typeface="Consolas" pitchFamily="34" charset="0"/>
                <a:ea typeface="Consolas" pitchFamily="34" charset="-122"/>
                <a:cs typeface="Consolas" pitchFamily="34" charset="-120"/>
              </a:rPr>
              <a:t>}</a:t>
            </a:r>
            <a:endParaRPr lang="en-US" sz="1400" dirty="0"/>
          </a:p>
        </p:txBody>
      </p:sp>
      <p:sp>
        <p:nvSpPr>
          <p:cNvPr id="5" name="Text 3">
            <a:extLst>
              <a:ext uri="{FF2B5EF4-FFF2-40B4-BE49-F238E27FC236}">
                <a16:creationId xmlns:a16="http://schemas.microsoft.com/office/drawing/2014/main" id="{2BA03203-DC30-9503-C829-32C2F8CA3A65}"/>
              </a:ext>
            </a:extLst>
          </p:cNvPr>
          <p:cNvSpPr/>
          <p:nvPr/>
        </p:nvSpPr>
        <p:spPr>
          <a:xfrm>
            <a:off x="457200" y="3291840"/>
            <a:ext cx="8229600" cy="365760"/>
          </a:xfrm>
          <a:prstGeom prst="rect">
            <a:avLst/>
          </a:prstGeom>
          <a:noFill/>
          <a:ln/>
        </p:spPr>
        <p:txBody>
          <a:bodyPr wrap="square" lIns="0" tIns="0" rIns="0" bIns="0" rtlCol="0" anchor="ctr"/>
          <a:lstStyle/>
          <a:p>
            <a:pPr marL="0" indent="0">
              <a:buNone/>
            </a:pPr>
            <a:r>
              <a:rPr lang="en-US" sz="1400" dirty="0">
                <a:solidFill>
                  <a:srgbClr val="F1F5F9"/>
                </a:solidFill>
                <a:latin typeface="Calibri" pitchFamily="34" charset="0"/>
                <a:ea typeface="Calibri" pitchFamily="34" charset="-122"/>
                <a:cs typeface="Calibri" pitchFamily="34" charset="-120"/>
              </a:rPr>
              <a:t>The compiler splits this into 3 segments at the 2 await points:</a:t>
            </a:r>
            <a:endParaRPr lang="en-US" sz="1400" dirty="0"/>
          </a:p>
        </p:txBody>
      </p:sp>
      <p:sp>
        <p:nvSpPr>
          <p:cNvPr id="6" name="Shape 4">
            <a:extLst>
              <a:ext uri="{FF2B5EF4-FFF2-40B4-BE49-F238E27FC236}">
                <a16:creationId xmlns:a16="http://schemas.microsoft.com/office/drawing/2014/main" id="{0B23A514-1BD2-709A-3C3B-D2D29B12371E}"/>
              </a:ext>
            </a:extLst>
          </p:cNvPr>
          <p:cNvSpPr/>
          <p:nvPr/>
        </p:nvSpPr>
        <p:spPr>
          <a:xfrm>
            <a:off x="457200" y="3749040"/>
            <a:ext cx="2560320" cy="457200"/>
          </a:xfrm>
          <a:prstGeom prst="rect">
            <a:avLst/>
          </a:prstGeom>
          <a:solidFill>
            <a:srgbClr val="1E293B"/>
          </a:solidFill>
          <a:ln/>
        </p:spPr>
        <p:txBody>
          <a:bodyPr/>
          <a:lstStyle/>
          <a:p>
            <a:endParaRPr lang="en-US"/>
          </a:p>
        </p:txBody>
      </p:sp>
      <p:sp>
        <p:nvSpPr>
          <p:cNvPr id="7" name="Shape 5">
            <a:extLst>
              <a:ext uri="{FF2B5EF4-FFF2-40B4-BE49-F238E27FC236}">
                <a16:creationId xmlns:a16="http://schemas.microsoft.com/office/drawing/2014/main" id="{C0289ABE-8DD8-8EF5-5FCC-3024DE9F9241}"/>
              </a:ext>
            </a:extLst>
          </p:cNvPr>
          <p:cNvSpPr/>
          <p:nvPr/>
        </p:nvSpPr>
        <p:spPr>
          <a:xfrm>
            <a:off x="457200" y="3749040"/>
            <a:ext cx="64008" cy="457200"/>
          </a:xfrm>
          <a:prstGeom prst="rect">
            <a:avLst/>
          </a:prstGeom>
          <a:solidFill>
            <a:srgbClr val="38BDF8"/>
          </a:solidFill>
          <a:ln/>
        </p:spPr>
        <p:txBody>
          <a:bodyPr/>
          <a:lstStyle/>
          <a:p>
            <a:endParaRPr lang="en-US"/>
          </a:p>
        </p:txBody>
      </p:sp>
      <p:sp>
        <p:nvSpPr>
          <p:cNvPr id="8" name="Text 6">
            <a:extLst>
              <a:ext uri="{FF2B5EF4-FFF2-40B4-BE49-F238E27FC236}">
                <a16:creationId xmlns:a16="http://schemas.microsoft.com/office/drawing/2014/main" id="{19E453AC-CB83-D44D-B350-20C81D0B4B0F}"/>
              </a:ext>
            </a:extLst>
          </p:cNvPr>
          <p:cNvSpPr/>
          <p:nvPr/>
        </p:nvSpPr>
        <p:spPr>
          <a:xfrm>
            <a:off x="640080" y="3749040"/>
            <a:ext cx="2286000" cy="457200"/>
          </a:xfrm>
          <a:prstGeom prst="rect">
            <a:avLst/>
          </a:prstGeom>
          <a:noFill/>
          <a:ln/>
        </p:spPr>
        <p:txBody>
          <a:bodyPr wrap="square" lIns="0" tIns="0" rIns="0" bIns="0" rtlCol="0" anchor="ctr"/>
          <a:lstStyle/>
          <a:p>
            <a:pPr marL="0" indent="0">
              <a:buNone/>
            </a:pPr>
            <a:r>
              <a:rPr lang="en-US" sz="1200" dirty="0">
                <a:solidFill>
                  <a:srgbClr val="F1F5F9"/>
                </a:solidFill>
                <a:latin typeface="Calibri" pitchFamily="34" charset="0"/>
                <a:ea typeface="Calibri" pitchFamily="34" charset="-122"/>
                <a:cs typeface="Calibri" pitchFamily="34" charset="-120"/>
              </a:rPr>
              <a:t>Segment A:  Step 1 + start delay</a:t>
            </a:r>
            <a:endParaRPr lang="en-US" sz="1200" dirty="0"/>
          </a:p>
        </p:txBody>
      </p:sp>
      <p:sp>
        <p:nvSpPr>
          <p:cNvPr id="9" name="Shape 7">
            <a:extLst>
              <a:ext uri="{FF2B5EF4-FFF2-40B4-BE49-F238E27FC236}">
                <a16:creationId xmlns:a16="http://schemas.microsoft.com/office/drawing/2014/main" id="{0B6FF7A9-C868-A0C8-0BE0-49527F4A5F5E}"/>
              </a:ext>
            </a:extLst>
          </p:cNvPr>
          <p:cNvSpPr/>
          <p:nvPr/>
        </p:nvSpPr>
        <p:spPr>
          <a:xfrm>
            <a:off x="3291840" y="3749040"/>
            <a:ext cx="2560320" cy="457200"/>
          </a:xfrm>
          <a:prstGeom prst="rect">
            <a:avLst/>
          </a:prstGeom>
          <a:solidFill>
            <a:srgbClr val="1E293B"/>
          </a:solidFill>
          <a:ln/>
        </p:spPr>
        <p:txBody>
          <a:bodyPr/>
          <a:lstStyle/>
          <a:p>
            <a:endParaRPr lang="en-US"/>
          </a:p>
        </p:txBody>
      </p:sp>
      <p:sp>
        <p:nvSpPr>
          <p:cNvPr id="10" name="Shape 8">
            <a:extLst>
              <a:ext uri="{FF2B5EF4-FFF2-40B4-BE49-F238E27FC236}">
                <a16:creationId xmlns:a16="http://schemas.microsoft.com/office/drawing/2014/main" id="{30020574-7476-28C9-017F-58C2F6B28D0F}"/>
              </a:ext>
            </a:extLst>
          </p:cNvPr>
          <p:cNvSpPr/>
          <p:nvPr/>
        </p:nvSpPr>
        <p:spPr>
          <a:xfrm>
            <a:off x="3291840" y="3749040"/>
            <a:ext cx="64008" cy="457200"/>
          </a:xfrm>
          <a:prstGeom prst="rect">
            <a:avLst/>
          </a:prstGeom>
          <a:solidFill>
            <a:srgbClr val="A78BFA"/>
          </a:solidFill>
          <a:ln/>
        </p:spPr>
        <p:txBody>
          <a:bodyPr/>
          <a:lstStyle/>
          <a:p>
            <a:endParaRPr lang="en-US"/>
          </a:p>
        </p:txBody>
      </p:sp>
      <p:sp>
        <p:nvSpPr>
          <p:cNvPr id="11" name="Text 9">
            <a:extLst>
              <a:ext uri="{FF2B5EF4-FFF2-40B4-BE49-F238E27FC236}">
                <a16:creationId xmlns:a16="http://schemas.microsoft.com/office/drawing/2014/main" id="{FF624F25-E69E-1729-E2A0-2211A353F55C}"/>
              </a:ext>
            </a:extLst>
          </p:cNvPr>
          <p:cNvSpPr/>
          <p:nvPr/>
        </p:nvSpPr>
        <p:spPr>
          <a:xfrm>
            <a:off x="3474720" y="3749040"/>
            <a:ext cx="2286000" cy="457200"/>
          </a:xfrm>
          <a:prstGeom prst="rect">
            <a:avLst/>
          </a:prstGeom>
          <a:noFill/>
          <a:ln/>
        </p:spPr>
        <p:txBody>
          <a:bodyPr wrap="square" lIns="0" tIns="0" rIns="0" bIns="0" rtlCol="0" anchor="ctr"/>
          <a:lstStyle/>
          <a:p>
            <a:pPr marL="0" indent="0">
              <a:buNone/>
            </a:pPr>
            <a:r>
              <a:rPr lang="en-US" sz="1200" dirty="0">
                <a:solidFill>
                  <a:srgbClr val="F1F5F9"/>
                </a:solidFill>
                <a:latin typeface="Calibri" pitchFamily="34" charset="0"/>
                <a:ea typeface="Calibri" pitchFamily="34" charset="-122"/>
                <a:cs typeface="Calibri" pitchFamily="34" charset="-120"/>
              </a:rPr>
              <a:t>Segment B:  Step 2 + start delay</a:t>
            </a:r>
            <a:endParaRPr lang="en-US" sz="1200" dirty="0"/>
          </a:p>
        </p:txBody>
      </p:sp>
      <p:sp>
        <p:nvSpPr>
          <p:cNvPr id="12" name="Shape 10">
            <a:extLst>
              <a:ext uri="{FF2B5EF4-FFF2-40B4-BE49-F238E27FC236}">
                <a16:creationId xmlns:a16="http://schemas.microsoft.com/office/drawing/2014/main" id="{29FF4CE2-69FB-BA30-0D7F-C69BE3BF2961}"/>
              </a:ext>
            </a:extLst>
          </p:cNvPr>
          <p:cNvSpPr/>
          <p:nvPr/>
        </p:nvSpPr>
        <p:spPr>
          <a:xfrm>
            <a:off x="6126480" y="3749040"/>
            <a:ext cx="2560320" cy="457200"/>
          </a:xfrm>
          <a:prstGeom prst="rect">
            <a:avLst/>
          </a:prstGeom>
          <a:solidFill>
            <a:srgbClr val="1E293B"/>
          </a:solidFill>
          <a:ln/>
        </p:spPr>
        <p:txBody>
          <a:bodyPr/>
          <a:lstStyle/>
          <a:p>
            <a:endParaRPr lang="en-US"/>
          </a:p>
        </p:txBody>
      </p:sp>
      <p:sp>
        <p:nvSpPr>
          <p:cNvPr id="13" name="Shape 11">
            <a:extLst>
              <a:ext uri="{FF2B5EF4-FFF2-40B4-BE49-F238E27FC236}">
                <a16:creationId xmlns:a16="http://schemas.microsoft.com/office/drawing/2014/main" id="{17A466DC-C153-DF5A-20D8-D64905610EA1}"/>
              </a:ext>
            </a:extLst>
          </p:cNvPr>
          <p:cNvSpPr/>
          <p:nvPr/>
        </p:nvSpPr>
        <p:spPr>
          <a:xfrm>
            <a:off x="6126480" y="3749040"/>
            <a:ext cx="64008" cy="457200"/>
          </a:xfrm>
          <a:prstGeom prst="rect">
            <a:avLst/>
          </a:prstGeom>
          <a:solidFill>
            <a:srgbClr val="4ADE80"/>
          </a:solidFill>
          <a:ln/>
        </p:spPr>
        <p:txBody>
          <a:bodyPr/>
          <a:lstStyle/>
          <a:p>
            <a:endParaRPr lang="en-US"/>
          </a:p>
        </p:txBody>
      </p:sp>
      <p:sp>
        <p:nvSpPr>
          <p:cNvPr id="14" name="Text 12">
            <a:extLst>
              <a:ext uri="{FF2B5EF4-FFF2-40B4-BE49-F238E27FC236}">
                <a16:creationId xmlns:a16="http://schemas.microsoft.com/office/drawing/2014/main" id="{351321B9-8588-C4B9-F245-2D0EAD947DB0}"/>
              </a:ext>
            </a:extLst>
          </p:cNvPr>
          <p:cNvSpPr/>
          <p:nvPr/>
        </p:nvSpPr>
        <p:spPr>
          <a:xfrm>
            <a:off x="6309360" y="3749040"/>
            <a:ext cx="2286000" cy="457200"/>
          </a:xfrm>
          <a:prstGeom prst="rect">
            <a:avLst/>
          </a:prstGeom>
          <a:noFill/>
          <a:ln/>
        </p:spPr>
        <p:txBody>
          <a:bodyPr wrap="square" lIns="0" tIns="0" rIns="0" bIns="0" rtlCol="0" anchor="ctr"/>
          <a:lstStyle/>
          <a:p>
            <a:pPr marL="0" indent="0">
              <a:buNone/>
            </a:pPr>
            <a:r>
              <a:rPr lang="en-US" sz="1200" dirty="0">
                <a:solidFill>
                  <a:srgbClr val="F1F5F9"/>
                </a:solidFill>
                <a:latin typeface="Calibri" pitchFamily="34" charset="0"/>
                <a:ea typeface="Calibri" pitchFamily="34" charset="-122"/>
                <a:cs typeface="Calibri" pitchFamily="34" charset="-120"/>
              </a:rPr>
              <a:t>Segment C:  Step 3 + finish</a:t>
            </a:r>
            <a:endParaRPr lang="en-US" sz="1200" dirty="0"/>
          </a:p>
        </p:txBody>
      </p:sp>
      <p:sp>
        <p:nvSpPr>
          <p:cNvPr id="15" name="Text 13">
            <a:extLst>
              <a:ext uri="{FF2B5EF4-FFF2-40B4-BE49-F238E27FC236}">
                <a16:creationId xmlns:a16="http://schemas.microsoft.com/office/drawing/2014/main" id="{3F9E703A-D73F-4FA4-C912-714D63B65071}"/>
              </a:ext>
            </a:extLst>
          </p:cNvPr>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23</a:t>
            </a:r>
            <a:endParaRPr lang="en-US" sz="1000" dirty="0"/>
          </a:p>
        </p:txBody>
      </p:sp>
    </p:spTree>
    <p:extLst>
      <p:ext uri="{BB962C8B-B14F-4D97-AF65-F5344CB8AC3E}">
        <p14:creationId xmlns:p14="http://schemas.microsoft.com/office/powerpoint/2010/main" val="14707427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5">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F1F5F9"/>
                </a:solidFill>
                <a:latin typeface="Trebuchet MS" pitchFamily="34" charset="0"/>
                <a:ea typeface="Trebuchet MS" pitchFamily="34" charset="-122"/>
                <a:cs typeface="Trebuchet MS" pitchFamily="34" charset="-120"/>
              </a:rPr>
              <a:t>What the Compiler Generates</a:t>
            </a:r>
            <a:endParaRPr lang="en-US" sz="2800" dirty="0"/>
          </a:p>
        </p:txBody>
      </p:sp>
      <p:sp>
        <p:nvSpPr>
          <p:cNvPr id="3" name="Text 1"/>
          <p:cNvSpPr/>
          <p:nvPr/>
        </p:nvSpPr>
        <p:spPr>
          <a:xfrm>
            <a:off x="457200" y="914400"/>
            <a:ext cx="8229600" cy="365760"/>
          </a:xfrm>
          <a:prstGeom prst="rect">
            <a:avLst/>
          </a:prstGeom>
          <a:noFill/>
          <a:ln/>
        </p:spPr>
        <p:txBody>
          <a:bodyPr wrap="square" lIns="0" tIns="0" rIns="0" bIns="0" rtlCol="0" anchor="ctr"/>
          <a:lstStyle/>
          <a:p>
            <a:pPr marL="0" indent="0">
              <a:buNone/>
            </a:pPr>
            <a:r>
              <a:rPr lang="en-US" sz="1400" dirty="0">
                <a:solidFill>
                  <a:srgbClr val="F1F5F9"/>
                </a:solidFill>
                <a:latin typeface="Calibri" pitchFamily="34" charset="0"/>
                <a:ea typeface="Calibri" pitchFamily="34" charset="-122"/>
                <a:cs typeface="Calibri" pitchFamily="34" charset="-120"/>
              </a:rPr>
              <a:t>Your method becomes a struct with a MoveNext() method and a state field:</a:t>
            </a:r>
            <a:endParaRPr lang="en-US" sz="1400" dirty="0"/>
          </a:p>
        </p:txBody>
      </p:sp>
      <p:sp>
        <p:nvSpPr>
          <p:cNvPr id="4" name="Shape 2"/>
          <p:cNvSpPr/>
          <p:nvPr/>
        </p:nvSpPr>
        <p:spPr>
          <a:xfrm>
            <a:off x="457200" y="1463040"/>
            <a:ext cx="8229600" cy="502920"/>
          </a:xfrm>
          <a:prstGeom prst="rect">
            <a:avLst/>
          </a:prstGeom>
          <a:solidFill>
            <a:srgbClr val="1E293B"/>
          </a:solidFill>
          <a:ln/>
        </p:spPr>
        <p:txBody>
          <a:bodyPr/>
          <a:lstStyle/>
          <a:p>
            <a:endParaRPr lang="en-US"/>
          </a:p>
        </p:txBody>
      </p:sp>
      <p:sp>
        <p:nvSpPr>
          <p:cNvPr id="5" name="Text 3"/>
          <p:cNvSpPr/>
          <p:nvPr/>
        </p:nvSpPr>
        <p:spPr>
          <a:xfrm>
            <a:off x="640080" y="1463040"/>
            <a:ext cx="3017520" cy="502920"/>
          </a:xfrm>
          <a:prstGeom prst="rect">
            <a:avLst/>
          </a:prstGeom>
          <a:noFill/>
          <a:ln/>
        </p:spPr>
        <p:txBody>
          <a:bodyPr wrap="square" lIns="0" tIns="0" rIns="0" bIns="0" rtlCol="0" anchor="ctr"/>
          <a:lstStyle/>
          <a:p>
            <a:pPr marL="0" indent="0">
              <a:buNone/>
            </a:pPr>
            <a:r>
              <a:rPr lang="en-US" sz="1300" dirty="0">
                <a:solidFill>
                  <a:srgbClr val="38BDF8"/>
                </a:solidFill>
                <a:latin typeface="Consolas" pitchFamily="34" charset="0"/>
                <a:ea typeface="Consolas" pitchFamily="34" charset="-122"/>
                <a:cs typeface="Consolas" pitchFamily="34" charset="-120"/>
              </a:rPr>
              <a:t>IAsyncStateMachine struct</a:t>
            </a:r>
            <a:endParaRPr lang="en-US" sz="1300" dirty="0"/>
          </a:p>
        </p:txBody>
      </p:sp>
      <p:sp>
        <p:nvSpPr>
          <p:cNvPr id="6" name="Text 4"/>
          <p:cNvSpPr/>
          <p:nvPr/>
        </p:nvSpPr>
        <p:spPr>
          <a:xfrm>
            <a:off x="3749040" y="1463040"/>
            <a:ext cx="4754880" cy="502920"/>
          </a:xfrm>
          <a:prstGeom prst="rect">
            <a:avLst/>
          </a:prstGeom>
          <a:noFill/>
          <a:ln/>
        </p:spPr>
        <p:txBody>
          <a:bodyPr wrap="square" lIns="0" tIns="0" rIns="0" bIns="0" rtlCol="0" anchor="ctr"/>
          <a:lstStyle/>
          <a:p>
            <a:pPr marL="0" indent="0">
              <a:buNone/>
            </a:pPr>
            <a:r>
              <a:rPr lang="en-US" sz="1300" dirty="0">
                <a:solidFill>
                  <a:srgbClr val="F1F5F9"/>
                </a:solidFill>
                <a:latin typeface="Calibri" pitchFamily="34" charset="0"/>
                <a:ea typeface="Calibri" pitchFamily="34" charset="-122"/>
                <a:cs typeface="Calibri" pitchFamily="34" charset="-120"/>
              </a:rPr>
              <a:t>Holds your local variables as fields</a:t>
            </a:r>
            <a:endParaRPr lang="en-US" sz="1300" dirty="0"/>
          </a:p>
        </p:txBody>
      </p:sp>
      <p:sp>
        <p:nvSpPr>
          <p:cNvPr id="7" name="Shape 5"/>
          <p:cNvSpPr/>
          <p:nvPr/>
        </p:nvSpPr>
        <p:spPr>
          <a:xfrm>
            <a:off x="457200" y="2103120"/>
            <a:ext cx="8229600" cy="502920"/>
          </a:xfrm>
          <a:prstGeom prst="rect">
            <a:avLst/>
          </a:prstGeom>
          <a:solidFill>
            <a:srgbClr val="1E293B"/>
          </a:solidFill>
          <a:ln/>
        </p:spPr>
        <p:txBody>
          <a:bodyPr/>
          <a:lstStyle/>
          <a:p>
            <a:endParaRPr lang="en-US"/>
          </a:p>
        </p:txBody>
      </p:sp>
      <p:sp>
        <p:nvSpPr>
          <p:cNvPr id="8" name="Text 6"/>
          <p:cNvSpPr/>
          <p:nvPr/>
        </p:nvSpPr>
        <p:spPr>
          <a:xfrm>
            <a:off x="640080" y="2103120"/>
            <a:ext cx="3017520" cy="502920"/>
          </a:xfrm>
          <a:prstGeom prst="rect">
            <a:avLst/>
          </a:prstGeom>
          <a:noFill/>
          <a:ln/>
        </p:spPr>
        <p:txBody>
          <a:bodyPr wrap="square" lIns="0" tIns="0" rIns="0" bIns="0" rtlCol="0" anchor="ctr"/>
          <a:lstStyle/>
          <a:p>
            <a:pPr marL="0" indent="0">
              <a:buNone/>
            </a:pPr>
            <a:r>
              <a:rPr lang="en-US" sz="1300" dirty="0">
                <a:solidFill>
                  <a:srgbClr val="38BDF8"/>
                </a:solidFill>
                <a:latin typeface="Consolas" pitchFamily="34" charset="0"/>
                <a:ea typeface="Consolas" pitchFamily="34" charset="-122"/>
                <a:cs typeface="Consolas" pitchFamily="34" charset="-120"/>
              </a:rPr>
              <a:t>&lt;&gt;1__state field</a:t>
            </a:r>
            <a:endParaRPr lang="en-US" sz="1300" dirty="0"/>
          </a:p>
        </p:txBody>
      </p:sp>
      <p:sp>
        <p:nvSpPr>
          <p:cNvPr id="9" name="Text 7"/>
          <p:cNvSpPr/>
          <p:nvPr/>
        </p:nvSpPr>
        <p:spPr>
          <a:xfrm>
            <a:off x="3749040" y="2103120"/>
            <a:ext cx="4754880" cy="502920"/>
          </a:xfrm>
          <a:prstGeom prst="rect">
            <a:avLst/>
          </a:prstGeom>
          <a:noFill/>
          <a:ln/>
        </p:spPr>
        <p:txBody>
          <a:bodyPr wrap="square" lIns="0" tIns="0" rIns="0" bIns="0" rtlCol="0" anchor="ctr"/>
          <a:lstStyle/>
          <a:p>
            <a:pPr marL="0" indent="0">
              <a:buNone/>
            </a:pPr>
            <a:r>
              <a:rPr lang="en-US" sz="1300" dirty="0">
                <a:solidFill>
                  <a:srgbClr val="F1F5F9"/>
                </a:solidFill>
                <a:latin typeface="Calibri" pitchFamily="34" charset="0"/>
                <a:ea typeface="Calibri" pitchFamily="34" charset="-122"/>
                <a:cs typeface="Calibri" pitchFamily="34" charset="-120"/>
              </a:rPr>
              <a:t>-1=running, 0/1=suspended, -2=done</a:t>
            </a:r>
            <a:endParaRPr lang="en-US" sz="1300" dirty="0"/>
          </a:p>
        </p:txBody>
      </p:sp>
      <p:sp>
        <p:nvSpPr>
          <p:cNvPr id="10" name="Shape 8"/>
          <p:cNvSpPr/>
          <p:nvPr/>
        </p:nvSpPr>
        <p:spPr>
          <a:xfrm>
            <a:off x="457200" y="2743200"/>
            <a:ext cx="8229600" cy="502920"/>
          </a:xfrm>
          <a:prstGeom prst="rect">
            <a:avLst/>
          </a:prstGeom>
          <a:solidFill>
            <a:srgbClr val="1E293B"/>
          </a:solidFill>
          <a:ln/>
        </p:spPr>
        <p:txBody>
          <a:bodyPr/>
          <a:lstStyle/>
          <a:p>
            <a:endParaRPr lang="en-US"/>
          </a:p>
        </p:txBody>
      </p:sp>
      <p:sp>
        <p:nvSpPr>
          <p:cNvPr id="11" name="Text 9"/>
          <p:cNvSpPr/>
          <p:nvPr/>
        </p:nvSpPr>
        <p:spPr>
          <a:xfrm>
            <a:off x="640080" y="2743200"/>
            <a:ext cx="3017520" cy="502920"/>
          </a:xfrm>
          <a:prstGeom prst="rect">
            <a:avLst/>
          </a:prstGeom>
          <a:noFill/>
          <a:ln/>
        </p:spPr>
        <p:txBody>
          <a:bodyPr wrap="square" lIns="0" tIns="0" rIns="0" bIns="0" rtlCol="0" anchor="ctr"/>
          <a:lstStyle/>
          <a:p>
            <a:pPr marL="0" indent="0">
              <a:buNone/>
            </a:pPr>
            <a:r>
              <a:rPr lang="en-US" sz="1300" dirty="0">
                <a:solidFill>
                  <a:srgbClr val="38BDF8"/>
                </a:solidFill>
                <a:latin typeface="Consolas" pitchFamily="34" charset="0"/>
                <a:ea typeface="Consolas" pitchFamily="34" charset="-122"/>
                <a:cs typeface="Consolas" pitchFamily="34" charset="-120"/>
              </a:rPr>
              <a:t>AsyncTaskMethodBuilder</a:t>
            </a:r>
            <a:endParaRPr lang="en-US" sz="1300" dirty="0"/>
          </a:p>
        </p:txBody>
      </p:sp>
      <p:sp>
        <p:nvSpPr>
          <p:cNvPr id="12" name="Text 10"/>
          <p:cNvSpPr/>
          <p:nvPr/>
        </p:nvSpPr>
        <p:spPr>
          <a:xfrm>
            <a:off x="3749040" y="2743200"/>
            <a:ext cx="4754880" cy="502920"/>
          </a:xfrm>
          <a:prstGeom prst="rect">
            <a:avLst/>
          </a:prstGeom>
          <a:noFill/>
          <a:ln/>
        </p:spPr>
        <p:txBody>
          <a:bodyPr wrap="square" lIns="0" tIns="0" rIns="0" bIns="0" rtlCol="0" anchor="ctr"/>
          <a:lstStyle/>
          <a:p>
            <a:pPr marL="0" indent="0">
              <a:buNone/>
            </a:pPr>
            <a:r>
              <a:rPr lang="en-US" sz="1300" dirty="0">
                <a:solidFill>
                  <a:srgbClr val="F1F5F9"/>
                </a:solidFill>
                <a:latin typeface="Calibri" pitchFamily="34" charset="0"/>
                <a:ea typeface="Calibri" pitchFamily="34" charset="-122"/>
                <a:cs typeface="Calibri" pitchFamily="34" charset="-120"/>
              </a:rPr>
              <a:t>Creates the outer Task, captures context</a:t>
            </a:r>
            <a:endParaRPr lang="en-US" sz="1300" dirty="0"/>
          </a:p>
        </p:txBody>
      </p:sp>
      <p:sp>
        <p:nvSpPr>
          <p:cNvPr id="13" name="Shape 11"/>
          <p:cNvSpPr/>
          <p:nvPr/>
        </p:nvSpPr>
        <p:spPr>
          <a:xfrm>
            <a:off x="457200" y="3383280"/>
            <a:ext cx="8229600" cy="502920"/>
          </a:xfrm>
          <a:prstGeom prst="rect">
            <a:avLst/>
          </a:prstGeom>
          <a:solidFill>
            <a:srgbClr val="1E293B"/>
          </a:solidFill>
          <a:ln/>
        </p:spPr>
        <p:txBody>
          <a:bodyPr/>
          <a:lstStyle/>
          <a:p>
            <a:endParaRPr lang="en-US"/>
          </a:p>
        </p:txBody>
      </p:sp>
      <p:sp>
        <p:nvSpPr>
          <p:cNvPr id="14" name="Text 12"/>
          <p:cNvSpPr/>
          <p:nvPr/>
        </p:nvSpPr>
        <p:spPr>
          <a:xfrm>
            <a:off x="640080" y="3383280"/>
            <a:ext cx="3017520" cy="502920"/>
          </a:xfrm>
          <a:prstGeom prst="rect">
            <a:avLst/>
          </a:prstGeom>
          <a:noFill/>
          <a:ln/>
        </p:spPr>
        <p:txBody>
          <a:bodyPr wrap="square" lIns="0" tIns="0" rIns="0" bIns="0" rtlCol="0" anchor="ctr"/>
          <a:lstStyle/>
          <a:p>
            <a:pPr marL="0" indent="0">
              <a:buNone/>
            </a:pPr>
            <a:r>
              <a:rPr lang="en-US" sz="1300" dirty="0">
                <a:solidFill>
                  <a:srgbClr val="38BDF8"/>
                </a:solidFill>
                <a:latin typeface="Consolas" pitchFamily="34" charset="0"/>
                <a:ea typeface="Consolas" pitchFamily="34" charset="-122"/>
                <a:cs typeface="Consolas" pitchFamily="34" charset="-120"/>
              </a:rPr>
              <a:t>Awaiter fields</a:t>
            </a:r>
            <a:endParaRPr lang="en-US" sz="1300" dirty="0"/>
          </a:p>
        </p:txBody>
      </p:sp>
      <p:sp>
        <p:nvSpPr>
          <p:cNvPr id="15" name="Text 13"/>
          <p:cNvSpPr/>
          <p:nvPr/>
        </p:nvSpPr>
        <p:spPr>
          <a:xfrm>
            <a:off x="3749040" y="3383280"/>
            <a:ext cx="4754880" cy="502920"/>
          </a:xfrm>
          <a:prstGeom prst="rect">
            <a:avLst/>
          </a:prstGeom>
          <a:noFill/>
          <a:ln/>
        </p:spPr>
        <p:txBody>
          <a:bodyPr wrap="square" lIns="0" tIns="0" rIns="0" bIns="0" rtlCol="0" anchor="ctr"/>
          <a:lstStyle/>
          <a:p>
            <a:pPr marL="0" indent="0">
              <a:buNone/>
            </a:pPr>
            <a:r>
              <a:rPr lang="en-US" sz="1300" dirty="0">
                <a:solidFill>
                  <a:srgbClr val="F1F5F9"/>
                </a:solidFill>
                <a:latin typeface="Calibri" pitchFamily="34" charset="0"/>
                <a:ea typeface="Calibri" pitchFamily="34" charset="-122"/>
                <a:cs typeface="Calibri" pitchFamily="34" charset="-120"/>
              </a:rPr>
              <a:t>One per await, stores awaiter while paused</a:t>
            </a:r>
            <a:endParaRPr lang="en-US" sz="1300" dirty="0"/>
          </a:p>
        </p:txBody>
      </p:sp>
      <p:sp>
        <p:nvSpPr>
          <p:cNvPr id="16" name="Shape 14"/>
          <p:cNvSpPr/>
          <p:nvPr/>
        </p:nvSpPr>
        <p:spPr>
          <a:xfrm>
            <a:off x="457200" y="4023360"/>
            <a:ext cx="8229600" cy="502920"/>
          </a:xfrm>
          <a:prstGeom prst="rect">
            <a:avLst/>
          </a:prstGeom>
          <a:solidFill>
            <a:srgbClr val="1E293B"/>
          </a:solidFill>
          <a:ln/>
        </p:spPr>
        <p:txBody>
          <a:bodyPr/>
          <a:lstStyle/>
          <a:p>
            <a:endParaRPr lang="en-US"/>
          </a:p>
        </p:txBody>
      </p:sp>
      <p:sp>
        <p:nvSpPr>
          <p:cNvPr id="17" name="Text 15"/>
          <p:cNvSpPr/>
          <p:nvPr/>
        </p:nvSpPr>
        <p:spPr>
          <a:xfrm>
            <a:off x="640080" y="4023360"/>
            <a:ext cx="3017520" cy="502920"/>
          </a:xfrm>
          <a:prstGeom prst="rect">
            <a:avLst/>
          </a:prstGeom>
          <a:noFill/>
          <a:ln/>
        </p:spPr>
        <p:txBody>
          <a:bodyPr wrap="square" lIns="0" tIns="0" rIns="0" bIns="0" rtlCol="0" anchor="ctr"/>
          <a:lstStyle/>
          <a:p>
            <a:pPr marL="0" indent="0">
              <a:buNone/>
            </a:pPr>
            <a:r>
              <a:rPr lang="en-US" sz="1300" dirty="0">
                <a:solidFill>
                  <a:srgbClr val="38BDF8"/>
                </a:solidFill>
                <a:latin typeface="Consolas" pitchFamily="34" charset="0"/>
                <a:ea typeface="Consolas" pitchFamily="34" charset="-122"/>
                <a:cs typeface="Consolas" pitchFamily="34" charset="-120"/>
              </a:rPr>
              <a:t>MoveNext()</a:t>
            </a:r>
            <a:endParaRPr lang="en-US" sz="1300" dirty="0"/>
          </a:p>
        </p:txBody>
      </p:sp>
      <p:sp>
        <p:nvSpPr>
          <p:cNvPr id="18" name="Text 16"/>
          <p:cNvSpPr/>
          <p:nvPr/>
        </p:nvSpPr>
        <p:spPr>
          <a:xfrm>
            <a:off x="3749040" y="4023360"/>
            <a:ext cx="4754880" cy="502920"/>
          </a:xfrm>
          <a:prstGeom prst="rect">
            <a:avLst/>
          </a:prstGeom>
          <a:noFill/>
          <a:ln/>
        </p:spPr>
        <p:txBody>
          <a:bodyPr wrap="square" lIns="0" tIns="0" rIns="0" bIns="0" rtlCol="0" anchor="ctr"/>
          <a:lstStyle/>
          <a:p>
            <a:pPr marL="0" indent="0">
              <a:buNone/>
            </a:pPr>
            <a:r>
              <a:rPr lang="en-US" sz="1300" dirty="0">
                <a:solidFill>
                  <a:srgbClr val="F1F5F9"/>
                </a:solidFill>
                <a:latin typeface="Calibri" pitchFamily="34" charset="0"/>
                <a:ea typeface="Calibri" pitchFamily="34" charset="-122"/>
                <a:cs typeface="Calibri" pitchFamily="34" charset="-120"/>
              </a:rPr>
              <a:t>Switch on state → runs the right segment</a:t>
            </a:r>
            <a:endParaRPr lang="en-US" sz="1300" dirty="0"/>
          </a:p>
        </p:txBody>
      </p:sp>
      <p:sp>
        <p:nvSpPr>
          <p:cNvPr id="19" name="Shape 17"/>
          <p:cNvSpPr/>
          <p:nvPr/>
        </p:nvSpPr>
        <p:spPr>
          <a:xfrm>
            <a:off x="457200" y="4206240"/>
            <a:ext cx="8229600" cy="640080"/>
          </a:xfrm>
          <a:prstGeom prst="rect">
            <a:avLst/>
          </a:prstGeom>
          <a:solidFill>
            <a:srgbClr val="1E293B"/>
          </a:solidFill>
          <a:ln/>
        </p:spPr>
        <p:txBody>
          <a:bodyPr/>
          <a:lstStyle/>
          <a:p>
            <a:endParaRPr lang="en-US"/>
          </a:p>
        </p:txBody>
      </p:sp>
      <p:sp>
        <p:nvSpPr>
          <p:cNvPr id="20" name="Shape 18"/>
          <p:cNvSpPr/>
          <p:nvPr/>
        </p:nvSpPr>
        <p:spPr>
          <a:xfrm>
            <a:off x="457200" y="4206240"/>
            <a:ext cx="73152" cy="640080"/>
          </a:xfrm>
          <a:prstGeom prst="rect">
            <a:avLst/>
          </a:prstGeom>
          <a:solidFill>
            <a:srgbClr val="38BDF8"/>
          </a:solidFill>
          <a:ln/>
        </p:spPr>
        <p:txBody>
          <a:bodyPr/>
          <a:lstStyle/>
          <a:p>
            <a:endParaRPr lang="en-US"/>
          </a:p>
        </p:txBody>
      </p:sp>
      <p:sp>
        <p:nvSpPr>
          <p:cNvPr id="21" name="Text 19"/>
          <p:cNvSpPr/>
          <p:nvPr/>
        </p:nvSpPr>
        <p:spPr>
          <a:xfrm>
            <a:off x="777240" y="4206240"/>
            <a:ext cx="7772400" cy="640080"/>
          </a:xfrm>
          <a:prstGeom prst="rect">
            <a:avLst/>
          </a:prstGeom>
          <a:noFill/>
          <a:ln/>
        </p:spPr>
        <p:txBody>
          <a:bodyPr wrap="square" lIns="0" tIns="0" rIns="0" bIns="0" rtlCol="0" anchor="ctr"/>
          <a:lstStyle/>
          <a:p>
            <a:pPr marL="0" indent="0">
              <a:buNone/>
            </a:pPr>
            <a:r>
              <a:rPr lang="en-US" sz="1300" i="1" dirty="0">
                <a:solidFill>
                  <a:srgbClr val="F1F5F9"/>
                </a:solidFill>
                <a:latin typeface="Calibri" pitchFamily="34" charset="0"/>
                <a:ea typeface="Calibri" pitchFamily="34" charset="-122"/>
                <a:cs typeface="Calibri" pitchFamily="34" charset="-120"/>
              </a:rPr>
              <a:t>The compiler rewrites your method into a state machine struct with MoveNext().</a:t>
            </a:r>
            <a:endParaRPr lang="en-US" sz="1300" dirty="0"/>
          </a:p>
        </p:txBody>
      </p:sp>
      <p:sp>
        <p:nvSpPr>
          <p:cNvPr id="22" name="Text 20"/>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6">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F1F5F9"/>
                </a:solidFill>
                <a:latin typeface="Trebuchet MS" pitchFamily="34" charset="0"/>
                <a:ea typeface="Trebuchet MS" pitchFamily="34" charset="-122"/>
                <a:cs typeface="Trebuchet MS" pitchFamily="34" charset="-120"/>
              </a:rPr>
              <a:t>The Stub Method</a:t>
            </a:r>
            <a:endParaRPr lang="en-US" sz="2800" dirty="0"/>
          </a:p>
        </p:txBody>
      </p:sp>
      <p:sp>
        <p:nvSpPr>
          <p:cNvPr id="3" name="Text 1"/>
          <p:cNvSpPr/>
          <p:nvPr/>
        </p:nvSpPr>
        <p:spPr>
          <a:xfrm>
            <a:off x="457200" y="914400"/>
            <a:ext cx="8229600" cy="365760"/>
          </a:xfrm>
          <a:prstGeom prst="rect">
            <a:avLst/>
          </a:prstGeom>
          <a:noFill/>
          <a:ln/>
        </p:spPr>
        <p:txBody>
          <a:bodyPr wrap="square" lIns="0" tIns="0" rIns="0" bIns="0" rtlCol="0" anchor="ctr"/>
          <a:lstStyle/>
          <a:p>
            <a:pPr marL="0" indent="0">
              <a:buNone/>
            </a:pPr>
            <a:r>
              <a:rPr lang="en-US" sz="1400" dirty="0">
                <a:solidFill>
                  <a:srgbClr val="F1F5F9"/>
                </a:solidFill>
                <a:latin typeface="Calibri" pitchFamily="34" charset="0"/>
                <a:ea typeface="Calibri" pitchFamily="34" charset="-122"/>
                <a:cs typeface="Calibri" pitchFamily="34" charset="-120"/>
              </a:rPr>
              <a:t>Your original method becomes this thin wrapper:</a:t>
            </a:r>
            <a:endParaRPr lang="en-US" sz="1400" dirty="0"/>
          </a:p>
        </p:txBody>
      </p:sp>
      <p:sp>
        <p:nvSpPr>
          <p:cNvPr id="4" name="Shape 2"/>
          <p:cNvSpPr/>
          <p:nvPr/>
        </p:nvSpPr>
        <p:spPr>
          <a:xfrm>
            <a:off x="457200" y="1463040"/>
            <a:ext cx="7315200" cy="1828800"/>
          </a:xfrm>
          <a:prstGeom prst="rect">
            <a:avLst/>
          </a:prstGeom>
          <a:solidFill>
            <a:srgbClr val="1E293B"/>
          </a:solidFill>
          <a:ln/>
          <a:effectLst>
            <a:outerShdw blurRad="101600" dist="38100" dir="8100000" algn="bl" rotWithShape="0">
              <a:srgbClr val="000000">
                <a:alpha val="30000"/>
              </a:srgbClr>
            </a:outerShdw>
          </a:effectLst>
        </p:spPr>
        <p:txBody>
          <a:bodyPr/>
          <a:lstStyle/>
          <a:p>
            <a:endParaRPr lang="en-US"/>
          </a:p>
        </p:txBody>
      </p:sp>
      <p:sp>
        <p:nvSpPr>
          <p:cNvPr id="5" name="Text 3"/>
          <p:cNvSpPr/>
          <p:nvPr/>
        </p:nvSpPr>
        <p:spPr>
          <a:xfrm>
            <a:off x="594360" y="1554480"/>
            <a:ext cx="7040880" cy="1645920"/>
          </a:xfrm>
          <a:prstGeom prst="rect">
            <a:avLst/>
          </a:prstGeom>
          <a:noFill/>
          <a:ln/>
        </p:spPr>
        <p:txBody>
          <a:bodyPr wrap="square" lIns="0" tIns="0" rIns="0" bIns="0" rtlCol="0" anchor="t"/>
          <a:lstStyle/>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Task ExampleAsync()</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    var sm = new ExampleAsyncStateMachine();</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    sm.&lt;&gt;1__state = -1;                       // Initial state</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    sm.&lt;&gt;t__builder = AsyncTaskMethodBuilder.Create();</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    sm.&lt;&gt;t__builder.Start(ref sm);            // Calls MoveNext()</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    return sm.&lt;&gt;t__builder.Task;              // Returns the promise</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a:t>
            </a:r>
            <a:endParaRPr lang="en-US" sz="1200" dirty="0"/>
          </a:p>
        </p:txBody>
      </p:sp>
      <p:sp>
        <p:nvSpPr>
          <p:cNvPr id="6" name="Text 4"/>
          <p:cNvSpPr/>
          <p:nvPr/>
        </p:nvSpPr>
        <p:spPr>
          <a:xfrm>
            <a:off x="457200" y="3474720"/>
            <a:ext cx="8229600" cy="914400"/>
          </a:xfrm>
          <a:prstGeom prst="rect">
            <a:avLst/>
          </a:prstGeom>
          <a:noFill/>
          <a:ln/>
        </p:spPr>
        <p:txBody>
          <a:bodyPr wrap="square" rtlCol="0" anchor="ctr"/>
          <a:lstStyle/>
          <a:p>
            <a:pPr marL="342900" indent="-342900">
              <a:spcAft>
                <a:spcPts val="600"/>
              </a:spcAft>
              <a:buSzPct val="100000"/>
              <a:buChar char="•"/>
            </a:pPr>
            <a:r>
              <a:rPr lang="en-US" sz="1300" dirty="0">
                <a:solidFill>
                  <a:srgbClr val="38BDF8"/>
                </a:solidFill>
                <a:latin typeface="Calibri" pitchFamily="34" charset="0"/>
                <a:ea typeface="Calibri" pitchFamily="34" charset="-122"/>
                <a:cs typeface="Calibri" pitchFamily="34" charset="-120"/>
              </a:rPr>
              <a:t>Start() calls MoveNext() synchronously on the calling thread</a:t>
            </a:r>
            <a:endParaRPr lang="en-US" sz="1300" dirty="0"/>
          </a:p>
          <a:p>
            <a:pPr marL="342900" indent="-342900">
              <a:spcAft>
                <a:spcPts val="600"/>
              </a:spcAft>
              <a:buSzPct val="100000"/>
              <a:buChar char="•"/>
            </a:pPr>
            <a:r>
              <a:rPr lang="en-US" sz="1300" dirty="0">
                <a:solidFill>
                  <a:srgbClr val="38BDF8"/>
                </a:solidFill>
                <a:latin typeface="Calibri" pitchFamily="34" charset="0"/>
                <a:ea typeface="Calibri" pitchFamily="34" charset="-122"/>
                <a:cs typeface="Calibri" pitchFamily="34" charset="-120"/>
              </a:rPr>
              <a:t>The first segment runs immediately - async methods start synchronously</a:t>
            </a:r>
            <a:endParaRPr lang="en-US" sz="1300" dirty="0"/>
          </a:p>
          <a:p>
            <a:pPr marL="342900" indent="-342900">
              <a:spcAft>
                <a:spcPts val="600"/>
              </a:spcAft>
              <a:buSzPct val="100000"/>
              <a:buChar char="•"/>
            </a:pPr>
            <a:r>
              <a:rPr lang="en-US" sz="1300" dirty="0">
                <a:solidFill>
                  <a:srgbClr val="38BDF8"/>
                </a:solidFill>
                <a:latin typeface="Calibri" pitchFamily="34" charset="0"/>
                <a:ea typeface="Calibri" pitchFamily="34" charset="-122"/>
                <a:cs typeface="Calibri" pitchFamily="34" charset="-120"/>
              </a:rPr>
              <a:t>Returns the builder’s Task to the caller (may be incomplete)</a:t>
            </a:r>
            <a:endParaRPr lang="en-US" sz="1300" dirty="0"/>
          </a:p>
        </p:txBody>
      </p:sp>
      <p:sp>
        <p:nvSpPr>
          <p:cNvPr id="7" name="Text 5"/>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7">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F1F5F9"/>
                </a:solidFill>
                <a:latin typeface="Trebuchet MS" pitchFamily="34" charset="0"/>
                <a:ea typeface="Trebuchet MS" pitchFamily="34" charset="-122"/>
                <a:cs typeface="Trebuchet MS" pitchFamily="34" charset="-120"/>
              </a:rPr>
              <a:t>Inside MoveNext() : First Await</a:t>
            </a:r>
            <a:endParaRPr lang="en-US" sz="2800" dirty="0"/>
          </a:p>
        </p:txBody>
      </p:sp>
      <p:sp>
        <p:nvSpPr>
          <p:cNvPr id="3" name="Shape 1"/>
          <p:cNvSpPr/>
          <p:nvPr/>
        </p:nvSpPr>
        <p:spPr>
          <a:xfrm>
            <a:off x="457200" y="914400"/>
            <a:ext cx="8229600" cy="3291840"/>
          </a:xfrm>
          <a:prstGeom prst="rect">
            <a:avLst/>
          </a:prstGeom>
          <a:solidFill>
            <a:srgbClr val="1E293B"/>
          </a:solidFill>
          <a:ln/>
          <a:effectLst>
            <a:outerShdw blurRad="101600" dist="38100" dir="8100000" algn="bl" rotWithShape="0">
              <a:srgbClr val="000000">
                <a:alpha val="30000"/>
              </a:srgbClr>
            </a:outerShdw>
          </a:effectLst>
        </p:spPr>
        <p:txBody>
          <a:bodyPr/>
          <a:lstStyle/>
          <a:p>
            <a:r>
              <a:rPr lang="en-GB" dirty="0"/>
              <a:t>/// show actual state machine</a:t>
            </a:r>
            <a:br>
              <a:rPr lang="en-GB" dirty="0"/>
            </a:br>
            <a:r>
              <a:rPr lang="en-US" dirty="0" err="1">
                <a:hlinkClick r:id="rId3"/>
              </a:rPr>
              <a:t>SharpLab</a:t>
            </a:r>
            <a:endParaRPr lang="en-US" dirty="0"/>
          </a:p>
        </p:txBody>
      </p:sp>
      <p:sp>
        <p:nvSpPr>
          <p:cNvPr id="4" name="Text 2"/>
          <p:cNvSpPr/>
          <p:nvPr/>
        </p:nvSpPr>
        <p:spPr>
          <a:xfrm>
            <a:off x="594360" y="1005840"/>
            <a:ext cx="7955280" cy="3108960"/>
          </a:xfrm>
          <a:prstGeom prst="rect">
            <a:avLst/>
          </a:prstGeom>
          <a:noFill/>
          <a:ln/>
        </p:spPr>
        <p:txBody>
          <a:bodyPr wrap="square" lIns="0" tIns="0" rIns="0" bIns="0" rtlCol="0" anchor="t"/>
          <a:lstStyle/>
          <a:p>
            <a:pPr marL="0" indent="0">
              <a:spcAft>
                <a:spcPts val="200"/>
              </a:spcAft>
              <a:buNone/>
            </a:pPr>
            <a:endParaRPr lang="en-US" sz="800" dirty="0"/>
          </a:p>
        </p:txBody>
      </p:sp>
      <p:sp>
        <p:nvSpPr>
          <p:cNvPr id="5" name="Shape 3"/>
          <p:cNvSpPr/>
          <p:nvPr/>
        </p:nvSpPr>
        <p:spPr>
          <a:xfrm>
            <a:off x="457200" y="4206240"/>
            <a:ext cx="8229600" cy="640080"/>
          </a:xfrm>
          <a:prstGeom prst="rect">
            <a:avLst/>
          </a:prstGeom>
          <a:solidFill>
            <a:srgbClr val="1E293B"/>
          </a:solidFill>
          <a:ln/>
        </p:spPr>
        <p:txBody>
          <a:bodyPr/>
          <a:lstStyle/>
          <a:p>
            <a:endParaRPr lang="en-US"/>
          </a:p>
        </p:txBody>
      </p:sp>
      <p:sp>
        <p:nvSpPr>
          <p:cNvPr id="6" name="Shape 4"/>
          <p:cNvSpPr/>
          <p:nvPr/>
        </p:nvSpPr>
        <p:spPr>
          <a:xfrm>
            <a:off x="457200" y="4206240"/>
            <a:ext cx="73152" cy="640080"/>
          </a:xfrm>
          <a:prstGeom prst="rect">
            <a:avLst/>
          </a:prstGeom>
          <a:solidFill>
            <a:srgbClr val="38BDF8"/>
          </a:solidFill>
          <a:ln/>
        </p:spPr>
        <p:txBody>
          <a:bodyPr/>
          <a:lstStyle/>
          <a:p>
            <a:endParaRPr lang="en-US"/>
          </a:p>
        </p:txBody>
      </p:sp>
      <p:sp>
        <p:nvSpPr>
          <p:cNvPr id="7" name="Text 5"/>
          <p:cNvSpPr/>
          <p:nvPr/>
        </p:nvSpPr>
        <p:spPr>
          <a:xfrm>
            <a:off x="777240" y="4206240"/>
            <a:ext cx="7772400" cy="640080"/>
          </a:xfrm>
          <a:prstGeom prst="rect">
            <a:avLst/>
          </a:prstGeom>
          <a:noFill/>
          <a:ln/>
        </p:spPr>
        <p:txBody>
          <a:bodyPr wrap="square" lIns="0" tIns="0" rIns="0" bIns="0" rtlCol="0" anchor="ctr"/>
          <a:lstStyle/>
          <a:p>
            <a:pPr marL="0" indent="0">
              <a:buNone/>
            </a:pPr>
            <a:r>
              <a:rPr lang="en-US" sz="1300" i="1" dirty="0">
                <a:solidFill>
                  <a:srgbClr val="F1F5F9"/>
                </a:solidFill>
                <a:latin typeface="Calibri" pitchFamily="34" charset="0"/>
                <a:ea typeface="Calibri" pitchFamily="34" charset="-122"/>
                <a:cs typeface="Calibri" pitchFamily="34" charset="-120"/>
              </a:rPr>
              <a:t>If IsCompleted is false: save state, register MoveNext as callback, return. Thread is free.</a:t>
            </a:r>
            <a:endParaRPr lang="en-US" sz="1300" dirty="0"/>
          </a:p>
        </p:txBody>
      </p:sp>
      <p:sp>
        <p:nvSpPr>
          <p:cNvPr id="8" name="Text 6"/>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26</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8">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F1F5F9"/>
                </a:solidFill>
                <a:latin typeface="Trebuchet MS" pitchFamily="34" charset="0"/>
                <a:ea typeface="Trebuchet MS" pitchFamily="34" charset="-122"/>
                <a:cs typeface="Trebuchet MS" pitchFamily="34" charset="-120"/>
              </a:rPr>
              <a:t>Inside MoveNext() : Resuming &amp; Second Await</a:t>
            </a:r>
            <a:endParaRPr lang="en-US" sz="2800" dirty="0"/>
          </a:p>
        </p:txBody>
      </p:sp>
      <p:sp>
        <p:nvSpPr>
          <p:cNvPr id="3" name="Shape 1"/>
          <p:cNvSpPr/>
          <p:nvPr/>
        </p:nvSpPr>
        <p:spPr>
          <a:xfrm>
            <a:off x="457200" y="914400"/>
            <a:ext cx="8229600" cy="3474720"/>
          </a:xfrm>
          <a:prstGeom prst="rect">
            <a:avLst/>
          </a:prstGeom>
          <a:solidFill>
            <a:srgbClr val="1E293B"/>
          </a:solidFill>
          <a:ln/>
          <a:effectLst>
            <a:outerShdw blurRad="101600" dist="38100" dir="8100000" algn="bl" rotWithShape="0">
              <a:srgbClr val="000000">
                <a:alpha val="30000"/>
              </a:srgbClr>
            </a:outerShdw>
          </a:effectLst>
        </p:spPr>
        <p:txBody>
          <a:bodyPr/>
          <a:lstStyle/>
          <a:p>
            <a:pPr>
              <a:spcAft>
                <a:spcPts val="200"/>
              </a:spcAft>
            </a:pPr>
            <a:r>
              <a:rPr lang="en-US" dirty="0" err="1">
                <a:hlinkClick r:id="rId3"/>
              </a:rPr>
              <a:t>SharpLab</a:t>
            </a:r>
            <a:endParaRPr lang="en-US" dirty="0"/>
          </a:p>
        </p:txBody>
      </p:sp>
      <p:sp>
        <p:nvSpPr>
          <p:cNvPr id="4" name="Text 2"/>
          <p:cNvSpPr/>
          <p:nvPr/>
        </p:nvSpPr>
        <p:spPr>
          <a:xfrm>
            <a:off x="4402318" y="1005840"/>
            <a:ext cx="4147322" cy="3291840"/>
          </a:xfrm>
          <a:prstGeom prst="rect">
            <a:avLst/>
          </a:prstGeom>
          <a:noFill/>
          <a:ln/>
        </p:spPr>
        <p:txBody>
          <a:bodyPr wrap="square" lIns="0" tIns="0" rIns="0" bIns="0" rtlCol="0" anchor="t"/>
          <a:lstStyle/>
          <a:p>
            <a:pPr marL="0" indent="0">
              <a:spcAft>
                <a:spcPts val="200"/>
              </a:spcAft>
              <a:buNone/>
            </a:pPr>
            <a:endParaRPr lang="en-US" sz="600" dirty="0"/>
          </a:p>
        </p:txBody>
      </p:sp>
      <p:sp>
        <p:nvSpPr>
          <p:cNvPr id="5" name="Text 3"/>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27</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9">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F1F5F9"/>
                </a:solidFill>
                <a:latin typeface="Trebuchet MS" pitchFamily="34" charset="0"/>
                <a:ea typeface="Trebuchet MS" pitchFamily="34" charset="-122"/>
                <a:cs typeface="Trebuchet MS" pitchFamily="34" charset="-120"/>
              </a:rPr>
              <a:t>Completion &amp; Error Handling</a:t>
            </a:r>
            <a:endParaRPr lang="en-US" sz="2800" dirty="0"/>
          </a:p>
        </p:txBody>
      </p:sp>
      <p:sp>
        <p:nvSpPr>
          <p:cNvPr id="3" name="Shape 1"/>
          <p:cNvSpPr/>
          <p:nvPr/>
        </p:nvSpPr>
        <p:spPr>
          <a:xfrm>
            <a:off x="457200" y="1005840"/>
            <a:ext cx="6400800" cy="2377440"/>
          </a:xfrm>
          <a:prstGeom prst="rect">
            <a:avLst/>
          </a:prstGeom>
          <a:solidFill>
            <a:srgbClr val="1E293B"/>
          </a:solidFill>
          <a:ln/>
          <a:effectLst>
            <a:outerShdw blurRad="101600" dist="38100" dir="8100000" algn="bl" rotWithShape="0">
              <a:srgbClr val="000000">
                <a:alpha val="30000"/>
              </a:srgbClr>
            </a:outerShdw>
          </a:effectLst>
        </p:spPr>
        <p:txBody>
          <a:bodyPr/>
          <a:lstStyle/>
          <a:p>
            <a:endParaRPr lang="en-US"/>
          </a:p>
        </p:txBody>
      </p:sp>
      <p:sp>
        <p:nvSpPr>
          <p:cNvPr id="4" name="Text 2"/>
          <p:cNvSpPr/>
          <p:nvPr/>
        </p:nvSpPr>
        <p:spPr>
          <a:xfrm>
            <a:off x="594360" y="1097280"/>
            <a:ext cx="6126480" cy="2194560"/>
          </a:xfrm>
          <a:prstGeom prst="rect">
            <a:avLst/>
          </a:prstGeom>
          <a:noFill/>
          <a:ln/>
        </p:spPr>
        <p:txBody>
          <a:bodyPr wrap="square" lIns="0" tIns="0" rIns="0" bIns="0" rtlCol="0" anchor="t"/>
          <a:lstStyle/>
          <a:p>
            <a:pPr>
              <a:spcAft>
                <a:spcPts val="200"/>
              </a:spcAft>
            </a:pPr>
            <a:r>
              <a:rPr lang="en-US" sz="1200" dirty="0" err="1">
                <a:hlinkClick r:id="rId3"/>
              </a:rPr>
              <a:t>SharpLab</a:t>
            </a:r>
            <a:endParaRPr lang="en-US" sz="1200" dirty="0"/>
          </a:p>
        </p:txBody>
      </p:sp>
      <p:sp>
        <p:nvSpPr>
          <p:cNvPr id="5" name="Text 3"/>
          <p:cNvSpPr/>
          <p:nvPr/>
        </p:nvSpPr>
        <p:spPr>
          <a:xfrm>
            <a:off x="457200" y="3520440"/>
            <a:ext cx="8229600" cy="914400"/>
          </a:xfrm>
          <a:prstGeom prst="rect">
            <a:avLst/>
          </a:prstGeom>
          <a:noFill/>
          <a:ln/>
        </p:spPr>
        <p:txBody>
          <a:bodyPr wrap="square" rtlCol="0" anchor="ctr"/>
          <a:lstStyle/>
          <a:p>
            <a:pPr marL="342900" indent="-342900">
              <a:spcAft>
                <a:spcPts val="600"/>
              </a:spcAft>
              <a:buSzPct val="100000"/>
              <a:buChar char="•"/>
            </a:pPr>
            <a:r>
              <a:rPr lang="en-US" sz="1300" dirty="0">
                <a:solidFill>
                  <a:srgbClr val="F1F5F9"/>
                </a:solidFill>
                <a:latin typeface="Calibri" pitchFamily="34" charset="0"/>
                <a:ea typeface="Calibri" pitchFamily="34" charset="-122"/>
                <a:cs typeface="Calibri" pitchFamily="34" charset="-120"/>
              </a:rPr>
              <a:t>Any exception in your code or GetResult() is caught and set on the outer Task</a:t>
            </a:r>
            <a:endParaRPr lang="en-US" sz="1300" dirty="0"/>
          </a:p>
          <a:p>
            <a:pPr marL="342900" indent="-342900">
              <a:spcAft>
                <a:spcPts val="600"/>
              </a:spcAft>
              <a:buSzPct val="100000"/>
              <a:buChar char="•"/>
            </a:pPr>
            <a:r>
              <a:rPr lang="en-US" sz="1300" dirty="0">
                <a:solidFill>
                  <a:srgbClr val="F1F5F9"/>
                </a:solidFill>
                <a:latin typeface="Calibri" pitchFamily="34" charset="0"/>
                <a:ea typeface="Calibri" pitchFamily="34" charset="-122"/>
                <a:cs typeface="Calibri" pitchFamily="34" charset="-120"/>
              </a:rPr>
              <a:t>On success, SetResult() completes the promise the caller is awaiting</a:t>
            </a:r>
            <a:endParaRPr lang="en-US" sz="1300" dirty="0"/>
          </a:p>
          <a:p>
            <a:pPr marL="342900" indent="-342900">
              <a:spcAft>
                <a:spcPts val="600"/>
              </a:spcAft>
              <a:buSzPct val="100000"/>
              <a:buChar char="•"/>
            </a:pPr>
            <a:r>
              <a:rPr lang="en-US" sz="1300" dirty="0">
                <a:solidFill>
                  <a:srgbClr val="F1F5F9"/>
                </a:solidFill>
                <a:latin typeface="Calibri" pitchFamily="34" charset="0"/>
                <a:ea typeface="Calibri" pitchFamily="34" charset="-122"/>
                <a:cs typeface="Calibri" pitchFamily="34" charset="-120"/>
              </a:rPr>
              <a:t>State -2 means the machine is finished - MoveNext won’t be called again</a:t>
            </a:r>
            <a:endParaRPr lang="en-US" sz="1300" dirty="0"/>
          </a:p>
        </p:txBody>
      </p:sp>
      <p:sp>
        <p:nvSpPr>
          <p:cNvPr id="6" name="Text 4"/>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28</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30">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F1F5F9"/>
                </a:solidFill>
                <a:latin typeface="Trebuchet MS" pitchFamily="34" charset="0"/>
                <a:ea typeface="Trebuchet MS" pitchFamily="34" charset="-122"/>
                <a:cs typeface="Trebuchet MS" pitchFamily="34" charset="-120"/>
              </a:rPr>
              <a:t>Step-by-Step Execution</a:t>
            </a:r>
            <a:endParaRPr lang="en-US" sz="2800" dirty="0"/>
          </a:p>
        </p:txBody>
      </p:sp>
      <p:sp>
        <p:nvSpPr>
          <p:cNvPr id="3" name="Shape 1"/>
          <p:cNvSpPr/>
          <p:nvPr/>
        </p:nvSpPr>
        <p:spPr>
          <a:xfrm>
            <a:off x="457200" y="1051560"/>
            <a:ext cx="8229600" cy="530352"/>
          </a:xfrm>
          <a:prstGeom prst="rect">
            <a:avLst/>
          </a:prstGeom>
          <a:solidFill>
            <a:srgbClr val="1E293B"/>
          </a:solidFill>
          <a:ln/>
        </p:spPr>
        <p:txBody>
          <a:bodyPr/>
          <a:lstStyle/>
          <a:p>
            <a:endParaRPr lang="en-US"/>
          </a:p>
        </p:txBody>
      </p:sp>
      <p:sp>
        <p:nvSpPr>
          <p:cNvPr id="4" name="Shape 2"/>
          <p:cNvSpPr/>
          <p:nvPr/>
        </p:nvSpPr>
        <p:spPr>
          <a:xfrm>
            <a:off x="457200" y="1051560"/>
            <a:ext cx="64008" cy="530352"/>
          </a:xfrm>
          <a:prstGeom prst="rect">
            <a:avLst/>
          </a:prstGeom>
          <a:solidFill>
            <a:srgbClr val="38BDF8"/>
          </a:solidFill>
          <a:ln/>
        </p:spPr>
        <p:txBody>
          <a:bodyPr/>
          <a:lstStyle/>
          <a:p>
            <a:endParaRPr lang="en-US"/>
          </a:p>
        </p:txBody>
      </p:sp>
      <p:sp>
        <p:nvSpPr>
          <p:cNvPr id="5" name="Text 3"/>
          <p:cNvSpPr/>
          <p:nvPr/>
        </p:nvSpPr>
        <p:spPr>
          <a:xfrm>
            <a:off x="685800" y="1051560"/>
            <a:ext cx="1097280" cy="530352"/>
          </a:xfrm>
          <a:prstGeom prst="rect">
            <a:avLst/>
          </a:prstGeom>
          <a:noFill/>
          <a:ln/>
        </p:spPr>
        <p:txBody>
          <a:bodyPr wrap="square" lIns="0" tIns="0" rIns="0" bIns="0" rtlCol="0" anchor="ctr"/>
          <a:lstStyle/>
          <a:p>
            <a:pPr marL="0" indent="0">
              <a:buNone/>
            </a:pPr>
            <a:r>
              <a:rPr lang="en-US" sz="1200" b="1" dirty="0">
                <a:solidFill>
                  <a:srgbClr val="38BDF8"/>
                </a:solidFill>
                <a:latin typeface="Calibri" pitchFamily="34" charset="0"/>
                <a:ea typeface="Calibri" pitchFamily="34" charset="-122"/>
                <a:cs typeface="Calibri" pitchFamily="34" charset="-120"/>
              </a:rPr>
              <a:t>Call 1</a:t>
            </a:r>
            <a:endParaRPr lang="en-US" sz="1200" dirty="0"/>
          </a:p>
        </p:txBody>
      </p:sp>
      <p:sp>
        <p:nvSpPr>
          <p:cNvPr id="6" name="Text 4"/>
          <p:cNvSpPr/>
          <p:nvPr/>
        </p:nvSpPr>
        <p:spPr>
          <a:xfrm>
            <a:off x="1828800" y="1051560"/>
            <a:ext cx="6675120" cy="530352"/>
          </a:xfrm>
          <a:prstGeom prst="rect">
            <a:avLst/>
          </a:prstGeom>
          <a:noFill/>
          <a:ln/>
        </p:spPr>
        <p:txBody>
          <a:bodyPr wrap="square" lIns="0" tIns="0" rIns="0" bIns="0" rtlCol="0" anchor="ctr"/>
          <a:lstStyle/>
          <a:p>
            <a:pPr marL="0" indent="0">
              <a:buNone/>
            </a:pPr>
            <a:r>
              <a:rPr lang="en-US" sz="1150" dirty="0">
                <a:solidFill>
                  <a:srgbClr val="F1F5F9"/>
                </a:solidFill>
                <a:latin typeface="Calibri" pitchFamily="34" charset="0"/>
                <a:ea typeface="Calibri" pitchFamily="34" charset="-122"/>
                <a:cs typeface="Calibri" pitchFamily="34" charset="-120"/>
              </a:rPr>
              <a:t>state=-1 → prints "Step 1" → gets awaiter → not completed → suspends → returns incomplete Task</a:t>
            </a:r>
            <a:endParaRPr lang="en-US" sz="1150" dirty="0"/>
          </a:p>
        </p:txBody>
      </p:sp>
      <p:sp>
        <p:nvSpPr>
          <p:cNvPr id="7" name="Shape 5"/>
          <p:cNvSpPr/>
          <p:nvPr/>
        </p:nvSpPr>
        <p:spPr>
          <a:xfrm>
            <a:off x="457200" y="1709928"/>
            <a:ext cx="8229600" cy="530352"/>
          </a:xfrm>
          <a:prstGeom prst="rect">
            <a:avLst/>
          </a:prstGeom>
          <a:solidFill>
            <a:srgbClr val="1E293B"/>
          </a:solidFill>
          <a:ln/>
        </p:spPr>
        <p:txBody>
          <a:bodyPr/>
          <a:lstStyle/>
          <a:p>
            <a:endParaRPr lang="en-US"/>
          </a:p>
        </p:txBody>
      </p:sp>
      <p:sp>
        <p:nvSpPr>
          <p:cNvPr id="8" name="Shape 6"/>
          <p:cNvSpPr/>
          <p:nvPr/>
        </p:nvSpPr>
        <p:spPr>
          <a:xfrm>
            <a:off x="457200" y="1709928"/>
            <a:ext cx="64008" cy="530352"/>
          </a:xfrm>
          <a:prstGeom prst="rect">
            <a:avLst/>
          </a:prstGeom>
          <a:solidFill>
            <a:srgbClr val="94A3B8"/>
          </a:solidFill>
          <a:ln/>
        </p:spPr>
        <p:txBody>
          <a:bodyPr/>
          <a:lstStyle/>
          <a:p>
            <a:endParaRPr lang="en-US"/>
          </a:p>
        </p:txBody>
      </p:sp>
      <p:sp>
        <p:nvSpPr>
          <p:cNvPr id="9" name="Text 7"/>
          <p:cNvSpPr/>
          <p:nvPr/>
        </p:nvSpPr>
        <p:spPr>
          <a:xfrm>
            <a:off x="685800" y="1709928"/>
            <a:ext cx="1097280" cy="530352"/>
          </a:xfrm>
          <a:prstGeom prst="rect">
            <a:avLst/>
          </a:prstGeom>
          <a:noFill/>
          <a:ln/>
        </p:spPr>
        <p:txBody>
          <a:bodyPr wrap="square" lIns="0" tIns="0" rIns="0" bIns="0" rtlCol="0" anchor="ctr"/>
          <a:lstStyle/>
          <a:p>
            <a:pPr marL="0" indent="0">
              <a:buNone/>
            </a:pPr>
            <a:r>
              <a:rPr lang="en-US" sz="1200" b="1" dirty="0">
                <a:solidFill>
                  <a:srgbClr val="94A3B8"/>
                </a:solidFill>
                <a:latin typeface="Calibri" pitchFamily="34" charset="0"/>
                <a:ea typeface="Calibri" pitchFamily="34" charset="-122"/>
                <a:cs typeface="Calibri" pitchFamily="34" charset="-120"/>
              </a:rPr>
              <a:t>⏱ Timer</a:t>
            </a:r>
            <a:endParaRPr lang="en-US" sz="1200" dirty="0"/>
          </a:p>
        </p:txBody>
      </p:sp>
      <p:sp>
        <p:nvSpPr>
          <p:cNvPr id="10" name="Text 8"/>
          <p:cNvSpPr/>
          <p:nvPr/>
        </p:nvSpPr>
        <p:spPr>
          <a:xfrm>
            <a:off x="1828800" y="1709928"/>
            <a:ext cx="6675120" cy="530352"/>
          </a:xfrm>
          <a:prstGeom prst="rect">
            <a:avLst/>
          </a:prstGeom>
          <a:noFill/>
          <a:ln/>
        </p:spPr>
        <p:txBody>
          <a:bodyPr wrap="square" lIns="0" tIns="0" rIns="0" bIns="0" rtlCol="0" anchor="ctr"/>
          <a:lstStyle/>
          <a:p>
            <a:pPr marL="0" indent="0">
              <a:buNone/>
            </a:pPr>
            <a:r>
              <a:rPr lang="en-US" sz="1150" dirty="0">
                <a:solidFill>
                  <a:srgbClr val="F1F5F9"/>
                </a:solidFill>
                <a:latin typeface="Calibri" pitchFamily="34" charset="0"/>
                <a:ea typeface="Calibri" pitchFamily="34" charset="-122"/>
                <a:cs typeface="Calibri" pitchFamily="34" charset="-120"/>
              </a:rPr>
              <a:t>No thread blocked. System timer ticking for 1000ms.</a:t>
            </a:r>
            <a:endParaRPr lang="en-US" sz="1150" dirty="0"/>
          </a:p>
        </p:txBody>
      </p:sp>
      <p:sp>
        <p:nvSpPr>
          <p:cNvPr id="11" name="Shape 9"/>
          <p:cNvSpPr/>
          <p:nvPr/>
        </p:nvSpPr>
        <p:spPr>
          <a:xfrm>
            <a:off x="457200" y="2368296"/>
            <a:ext cx="8229600" cy="530352"/>
          </a:xfrm>
          <a:prstGeom prst="rect">
            <a:avLst/>
          </a:prstGeom>
          <a:solidFill>
            <a:srgbClr val="1E293B"/>
          </a:solidFill>
          <a:ln/>
        </p:spPr>
        <p:txBody>
          <a:bodyPr/>
          <a:lstStyle/>
          <a:p>
            <a:endParaRPr lang="en-US"/>
          </a:p>
        </p:txBody>
      </p:sp>
      <p:sp>
        <p:nvSpPr>
          <p:cNvPr id="12" name="Shape 10"/>
          <p:cNvSpPr/>
          <p:nvPr/>
        </p:nvSpPr>
        <p:spPr>
          <a:xfrm>
            <a:off x="457200" y="2368296"/>
            <a:ext cx="64008" cy="530352"/>
          </a:xfrm>
          <a:prstGeom prst="rect">
            <a:avLst/>
          </a:prstGeom>
          <a:solidFill>
            <a:srgbClr val="A78BFA"/>
          </a:solidFill>
          <a:ln/>
        </p:spPr>
        <p:txBody>
          <a:bodyPr/>
          <a:lstStyle/>
          <a:p>
            <a:endParaRPr lang="en-US"/>
          </a:p>
        </p:txBody>
      </p:sp>
      <p:sp>
        <p:nvSpPr>
          <p:cNvPr id="13" name="Text 11"/>
          <p:cNvSpPr/>
          <p:nvPr/>
        </p:nvSpPr>
        <p:spPr>
          <a:xfrm>
            <a:off x="685800" y="2368296"/>
            <a:ext cx="1097280" cy="530352"/>
          </a:xfrm>
          <a:prstGeom prst="rect">
            <a:avLst/>
          </a:prstGeom>
          <a:noFill/>
          <a:ln/>
        </p:spPr>
        <p:txBody>
          <a:bodyPr wrap="square" lIns="0" tIns="0" rIns="0" bIns="0" rtlCol="0" anchor="ctr"/>
          <a:lstStyle/>
          <a:p>
            <a:pPr marL="0" indent="0">
              <a:buNone/>
            </a:pPr>
            <a:r>
              <a:rPr lang="en-US" sz="1200" b="1" dirty="0">
                <a:solidFill>
                  <a:srgbClr val="A78BFA"/>
                </a:solidFill>
                <a:latin typeface="Calibri" pitchFamily="34" charset="0"/>
                <a:ea typeface="Calibri" pitchFamily="34" charset="-122"/>
                <a:cs typeface="Calibri" pitchFamily="34" charset="-120"/>
              </a:rPr>
              <a:t>Call 2</a:t>
            </a:r>
            <a:endParaRPr lang="en-US" sz="1200" dirty="0"/>
          </a:p>
        </p:txBody>
      </p:sp>
      <p:sp>
        <p:nvSpPr>
          <p:cNvPr id="14" name="Text 12"/>
          <p:cNvSpPr/>
          <p:nvPr/>
        </p:nvSpPr>
        <p:spPr>
          <a:xfrm>
            <a:off x="1828800" y="2368296"/>
            <a:ext cx="6675120" cy="530352"/>
          </a:xfrm>
          <a:prstGeom prst="rect">
            <a:avLst/>
          </a:prstGeom>
          <a:noFill/>
          <a:ln/>
        </p:spPr>
        <p:txBody>
          <a:bodyPr wrap="square" lIns="0" tIns="0" rIns="0" bIns="0" rtlCol="0" anchor="ctr"/>
          <a:lstStyle/>
          <a:p>
            <a:pPr marL="0" indent="0">
              <a:buNone/>
            </a:pPr>
            <a:r>
              <a:rPr lang="en-US" sz="1150" dirty="0">
                <a:solidFill>
                  <a:srgbClr val="F1F5F9"/>
                </a:solidFill>
                <a:latin typeface="Calibri" pitchFamily="34" charset="0"/>
                <a:ea typeface="Calibri" pitchFamily="34" charset="-122"/>
                <a:cs typeface="Calibri" pitchFamily="34" charset="-120"/>
              </a:rPr>
              <a:t>state=0 → resumes → GetResult() → prints "Step 2" → next awaiter → suspends again</a:t>
            </a:r>
            <a:endParaRPr lang="en-US" sz="1150" dirty="0"/>
          </a:p>
        </p:txBody>
      </p:sp>
      <p:sp>
        <p:nvSpPr>
          <p:cNvPr id="15" name="Shape 13"/>
          <p:cNvSpPr/>
          <p:nvPr/>
        </p:nvSpPr>
        <p:spPr>
          <a:xfrm>
            <a:off x="457200" y="3026664"/>
            <a:ext cx="8229600" cy="530352"/>
          </a:xfrm>
          <a:prstGeom prst="rect">
            <a:avLst/>
          </a:prstGeom>
          <a:solidFill>
            <a:srgbClr val="1E293B"/>
          </a:solidFill>
          <a:ln/>
        </p:spPr>
        <p:txBody>
          <a:bodyPr/>
          <a:lstStyle/>
          <a:p>
            <a:endParaRPr lang="en-US"/>
          </a:p>
        </p:txBody>
      </p:sp>
      <p:sp>
        <p:nvSpPr>
          <p:cNvPr id="16" name="Shape 14"/>
          <p:cNvSpPr/>
          <p:nvPr/>
        </p:nvSpPr>
        <p:spPr>
          <a:xfrm>
            <a:off x="457200" y="3026664"/>
            <a:ext cx="64008" cy="530352"/>
          </a:xfrm>
          <a:prstGeom prst="rect">
            <a:avLst/>
          </a:prstGeom>
          <a:solidFill>
            <a:srgbClr val="94A3B8"/>
          </a:solidFill>
          <a:ln/>
        </p:spPr>
        <p:txBody>
          <a:bodyPr/>
          <a:lstStyle/>
          <a:p>
            <a:endParaRPr lang="en-US"/>
          </a:p>
        </p:txBody>
      </p:sp>
      <p:sp>
        <p:nvSpPr>
          <p:cNvPr id="17" name="Text 15"/>
          <p:cNvSpPr/>
          <p:nvPr/>
        </p:nvSpPr>
        <p:spPr>
          <a:xfrm>
            <a:off x="685800" y="3026664"/>
            <a:ext cx="1097280" cy="530352"/>
          </a:xfrm>
          <a:prstGeom prst="rect">
            <a:avLst/>
          </a:prstGeom>
          <a:noFill/>
          <a:ln/>
        </p:spPr>
        <p:txBody>
          <a:bodyPr wrap="square" lIns="0" tIns="0" rIns="0" bIns="0" rtlCol="0" anchor="ctr"/>
          <a:lstStyle/>
          <a:p>
            <a:pPr marL="0" indent="0">
              <a:buNone/>
            </a:pPr>
            <a:r>
              <a:rPr lang="en-US" sz="1200" b="1" dirty="0">
                <a:solidFill>
                  <a:srgbClr val="94A3B8"/>
                </a:solidFill>
                <a:latin typeface="Calibri" pitchFamily="34" charset="0"/>
                <a:ea typeface="Calibri" pitchFamily="34" charset="-122"/>
                <a:cs typeface="Calibri" pitchFamily="34" charset="-120"/>
              </a:rPr>
              <a:t>⏱ Timer</a:t>
            </a:r>
            <a:endParaRPr lang="en-US" sz="1200" dirty="0"/>
          </a:p>
        </p:txBody>
      </p:sp>
      <p:sp>
        <p:nvSpPr>
          <p:cNvPr id="18" name="Text 16"/>
          <p:cNvSpPr/>
          <p:nvPr/>
        </p:nvSpPr>
        <p:spPr>
          <a:xfrm>
            <a:off x="1828800" y="3026664"/>
            <a:ext cx="6675120" cy="530352"/>
          </a:xfrm>
          <a:prstGeom prst="rect">
            <a:avLst/>
          </a:prstGeom>
          <a:noFill/>
          <a:ln/>
        </p:spPr>
        <p:txBody>
          <a:bodyPr wrap="square" lIns="0" tIns="0" rIns="0" bIns="0" rtlCol="0" anchor="ctr"/>
          <a:lstStyle/>
          <a:p>
            <a:pPr marL="0" indent="0">
              <a:buNone/>
            </a:pPr>
            <a:r>
              <a:rPr lang="en-US" sz="1150" dirty="0">
                <a:solidFill>
                  <a:srgbClr val="F1F5F9"/>
                </a:solidFill>
                <a:latin typeface="Calibri" pitchFamily="34" charset="0"/>
                <a:ea typeface="Calibri" pitchFamily="34" charset="-122"/>
                <a:cs typeface="Calibri" pitchFamily="34" charset="-120"/>
              </a:rPr>
              <a:t>System timer for 500ms.</a:t>
            </a:r>
            <a:endParaRPr lang="en-US" sz="1150" dirty="0"/>
          </a:p>
        </p:txBody>
      </p:sp>
      <p:sp>
        <p:nvSpPr>
          <p:cNvPr id="19" name="Shape 17"/>
          <p:cNvSpPr/>
          <p:nvPr/>
        </p:nvSpPr>
        <p:spPr>
          <a:xfrm>
            <a:off x="457200" y="3685032"/>
            <a:ext cx="8229600" cy="530352"/>
          </a:xfrm>
          <a:prstGeom prst="rect">
            <a:avLst/>
          </a:prstGeom>
          <a:solidFill>
            <a:srgbClr val="1E293B"/>
          </a:solidFill>
          <a:ln/>
        </p:spPr>
        <p:txBody>
          <a:bodyPr/>
          <a:lstStyle/>
          <a:p>
            <a:endParaRPr lang="en-US"/>
          </a:p>
        </p:txBody>
      </p:sp>
      <p:sp>
        <p:nvSpPr>
          <p:cNvPr id="20" name="Shape 18"/>
          <p:cNvSpPr/>
          <p:nvPr/>
        </p:nvSpPr>
        <p:spPr>
          <a:xfrm>
            <a:off x="457200" y="3685032"/>
            <a:ext cx="64008" cy="530352"/>
          </a:xfrm>
          <a:prstGeom prst="rect">
            <a:avLst/>
          </a:prstGeom>
          <a:solidFill>
            <a:srgbClr val="4ADE80"/>
          </a:solidFill>
          <a:ln/>
        </p:spPr>
        <p:txBody>
          <a:bodyPr/>
          <a:lstStyle/>
          <a:p>
            <a:endParaRPr lang="en-US"/>
          </a:p>
        </p:txBody>
      </p:sp>
      <p:sp>
        <p:nvSpPr>
          <p:cNvPr id="21" name="Text 19"/>
          <p:cNvSpPr/>
          <p:nvPr/>
        </p:nvSpPr>
        <p:spPr>
          <a:xfrm>
            <a:off x="685800" y="3685032"/>
            <a:ext cx="1097280" cy="530352"/>
          </a:xfrm>
          <a:prstGeom prst="rect">
            <a:avLst/>
          </a:prstGeom>
          <a:noFill/>
          <a:ln/>
        </p:spPr>
        <p:txBody>
          <a:bodyPr wrap="square" lIns="0" tIns="0" rIns="0" bIns="0" rtlCol="0" anchor="ctr"/>
          <a:lstStyle/>
          <a:p>
            <a:pPr marL="0" indent="0">
              <a:buNone/>
            </a:pPr>
            <a:r>
              <a:rPr lang="en-US" sz="1200" b="1" dirty="0">
                <a:solidFill>
                  <a:srgbClr val="4ADE80"/>
                </a:solidFill>
                <a:latin typeface="Calibri" pitchFamily="34" charset="0"/>
                <a:ea typeface="Calibri" pitchFamily="34" charset="-122"/>
                <a:cs typeface="Calibri" pitchFamily="34" charset="-120"/>
              </a:rPr>
              <a:t>Call 3</a:t>
            </a:r>
            <a:endParaRPr lang="en-US" sz="1200" dirty="0"/>
          </a:p>
        </p:txBody>
      </p:sp>
      <p:sp>
        <p:nvSpPr>
          <p:cNvPr id="22" name="Text 20"/>
          <p:cNvSpPr/>
          <p:nvPr/>
        </p:nvSpPr>
        <p:spPr>
          <a:xfrm>
            <a:off x="1828800" y="3685032"/>
            <a:ext cx="6675120" cy="530352"/>
          </a:xfrm>
          <a:prstGeom prst="rect">
            <a:avLst/>
          </a:prstGeom>
          <a:noFill/>
          <a:ln/>
        </p:spPr>
        <p:txBody>
          <a:bodyPr wrap="square" lIns="0" tIns="0" rIns="0" bIns="0" rtlCol="0" anchor="ctr"/>
          <a:lstStyle/>
          <a:p>
            <a:pPr marL="0" indent="0">
              <a:buNone/>
            </a:pPr>
            <a:r>
              <a:rPr lang="en-US" sz="1150" dirty="0">
                <a:solidFill>
                  <a:srgbClr val="F1F5F9"/>
                </a:solidFill>
                <a:latin typeface="Calibri" pitchFamily="34" charset="0"/>
                <a:ea typeface="Calibri" pitchFamily="34" charset="-122"/>
                <a:cs typeface="Calibri" pitchFamily="34" charset="-120"/>
              </a:rPr>
              <a:t>state=1 → resumes → GetResult() → prints "Step 3" → SetResult() → Task complete</a:t>
            </a:r>
            <a:endParaRPr lang="en-US" sz="1150" dirty="0"/>
          </a:p>
        </p:txBody>
      </p:sp>
      <p:sp>
        <p:nvSpPr>
          <p:cNvPr id="23" name="Shape 21"/>
          <p:cNvSpPr/>
          <p:nvPr/>
        </p:nvSpPr>
        <p:spPr>
          <a:xfrm>
            <a:off x="457200" y="4206240"/>
            <a:ext cx="8229600" cy="640080"/>
          </a:xfrm>
          <a:prstGeom prst="rect">
            <a:avLst/>
          </a:prstGeom>
          <a:solidFill>
            <a:srgbClr val="1E293B"/>
          </a:solidFill>
          <a:ln/>
        </p:spPr>
        <p:txBody>
          <a:bodyPr/>
          <a:lstStyle/>
          <a:p>
            <a:endParaRPr lang="en-US"/>
          </a:p>
        </p:txBody>
      </p:sp>
      <p:sp>
        <p:nvSpPr>
          <p:cNvPr id="24" name="Shape 22"/>
          <p:cNvSpPr/>
          <p:nvPr/>
        </p:nvSpPr>
        <p:spPr>
          <a:xfrm>
            <a:off x="457200" y="4206240"/>
            <a:ext cx="73152" cy="640080"/>
          </a:xfrm>
          <a:prstGeom prst="rect">
            <a:avLst/>
          </a:prstGeom>
          <a:solidFill>
            <a:srgbClr val="38BDF8"/>
          </a:solidFill>
          <a:ln/>
        </p:spPr>
        <p:txBody>
          <a:bodyPr/>
          <a:lstStyle/>
          <a:p>
            <a:endParaRPr lang="en-US"/>
          </a:p>
        </p:txBody>
      </p:sp>
      <p:sp>
        <p:nvSpPr>
          <p:cNvPr id="25" name="Text 23"/>
          <p:cNvSpPr/>
          <p:nvPr/>
        </p:nvSpPr>
        <p:spPr>
          <a:xfrm>
            <a:off x="777240" y="4206240"/>
            <a:ext cx="7772400" cy="640080"/>
          </a:xfrm>
          <a:prstGeom prst="rect">
            <a:avLst/>
          </a:prstGeom>
          <a:noFill/>
          <a:ln/>
        </p:spPr>
        <p:txBody>
          <a:bodyPr wrap="square" lIns="0" tIns="0" rIns="0" bIns="0" rtlCol="0" anchor="ctr"/>
          <a:lstStyle/>
          <a:p>
            <a:pPr marL="0" indent="0">
              <a:buNone/>
            </a:pPr>
            <a:r>
              <a:rPr lang="en-US" sz="1300" i="1" dirty="0">
                <a:solidFill>
                  <a:srgbClr val="F1F5F9"/>
                </a:solidFill>
                <a:latin typeface="Calibri" pitchFamily="34" charset="0"/>
                <a:ea typeface="Calibri" pitchFamily="34" charset="-122"/>
                <a:cs typeface="Calibri" pitchFamily="34" charset="-120"/>
              </a:rPr>
              <a:t>3 calls to MoveNext(). 3 segments. 2 suspension points. 0 threads blocked during waits.</a:t>
            </a:r>
            <a:endParaRPr lang="en-US" sz="1300" dirty="0"/>
          </a:p>
        </p:txBody>
      </p:sp>
      <p:sp>
        <p:nvSpPr>
          <p:cNvPr id="26" name="Text 24"/>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29</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31">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F1F5F9"/>
                </a:solidFill>
                <a:latin typeface="Trebuchet MS" pitchFamily="34" charset="0"/>
                <a:ea typeface="Trebuchet MS" pitchFamily="34" charset="-122"/>
                <a:cs typeface="Trebuchet MS" pitchFamily="34" charset="-120"/>
              </a:rPr>
              <a:t>The Fast Path &amp; Allocation Story</a:t>
            </a:r>
            <a:endParaRPr lang="en-US" sz="2800" dirty="0"/>
          </a:p>
        </p:txBody>
      </p:sp>
      <p:sp>
        <p:nvSpPr>
          <p:cNvPr id="3" name="Text 1"/>
          <p:cNvSpPr/>
          <p:nvPr/>
        </p:nvSpPr>
        <p:spPr>
          <a:xfrm>
            <a:off x="457200" y="1005840"/>
            <a:ext cx="8229600" cy="365760"/>
          </a:xfrm>
          <a:prstGeom prst="rect">
            <a:avLst/>
          </a:prstGeom>
          <a:noFill/>
          <a:ln/>
        </p:spPr>
        <p:txBody>
          <a:bodyPr wrap="square" lIns="0" tIns="0" rIns="0" bIns="0" rtlCol="0" anchor="ctr"/>
          <a:lstStyle/>
          <a:p>
            <a:pPr marL="0" indent="0">
              <a:buNone/>
            </a:pPr>
            <a:r>
              <a:rPr lang="en-US" sz="1600" b="1" dirty="0">
                <a:solidFill>
                  <a:srgbClr val="4ADE80"/>
                </a:solidFill>
                <a:latin typeface="Calibri" pitchFamily="34" charset="0"/>
                <a:ea typeface="Calibri" pitchFamily="34" charset="-122"/>
                <a:cs typeface="Calibri" pitchFamily="34" charset="-120"/>
              </a:rPr>
              <a:t>The Fast Path:  IsCompleted</a:t>
            </a:r>
            <a:endParaRPr lang="en-US" sz="1600" dirty="0"/>
          </a:p>
        </p:txBody>
      </p:sp>
      <p:sp>
        <p:nvSpPr>
          <p:cNvPr id="4" name="Text 2"/>
          <p:cNvSpPr/>
          <p:nvPr/>
        </p:nvSpPr>
        <p:spPr>
          <a:xfrm>
            <a:off x="457200" y="1417320"/>
            <a:ext cx="8229600" cy="594360"/>
          </a:xfrm>
          <a:prstGeom prst="rect">
            <a:avLst/>
          </a:prstGeom>
          <a:noFill/>
          <a:ln/>
        </p:spPr>
        <p:txBody>
          <a:bodyPr wrap="square" lIns="0" tIns="0" rIns="0" bIns="0" rtlCol="0" anchor="ctr"/>
          <a:lstStyle/>
          <a:p>
            <a:pPr marL="0" indent="0">
              <a:buNone/>
            </a:pPr>
            <a:r>
              <a:rPr lang="en-US" sz="1300" dirty="0">
                <a:solidFill>
                  <a:srgbClr val="F1F5F9"/>
                </a:solidFill>
                <a:latin typeface="Calibri" pitchFamily="34" charset="0"/>
                <a:ea typeface="Calibri" pitchFamily="34" charset="-122"/>
                <a:cs typeface="Calibri" pitchFamily="34" charset="-120"/>
              </a:rPr>
              <a:t>If the awaited Task is already done, the state machine skips suspension entirely.</a:t>
            </a:r>
            <a:endParaRPr lang="en-US" sz="1300" dirty="0"/>
          </a:p>
          <a:p>
            <a:pPr marL="0" indent="0">
              <a:buNone/>
            </a:pPr>
            <a:r>
              <a:rPr lang="en-US" sz="1300" dirty="0">
                <a:solidFill>
                  <a:srgbClr val="F1F5F9"/>
                </a:solidFill>
                <a:latin typeface="Calibri" pitchFamily="34" charset="0"/>
                <a:ea typeface="Calibri" pitchFamily="34" charset="-122"/>
                <a:cs typeface="Calibri" pitchFamily="34" charset="-120"/>
              </a:rPr>
              <a:t>No context capture, no callback registration, no thread hop. Falls straight through.</a:t>
            </a:r>
            <a:endParaRPr lang="en-US" sz="1300" dirty="0"/>
          </a:p>
        </p:txBody>
      </p:sp>
      <p:sp>
        <p:nvSpPr>
          <p:cNvPr id="5" name="Text 3"/>
          <p:cNvSpPr/>
          <p:nvPr/>
        </p:nvSpPr>
        <p:spPr>
          <a:xfrm>
            <a:off x="457200" y="2286000"/>
            <a:ext cx="8229600" cy="365760"/>
          </a:xfrm>
          <a:prstGeom prst="rect">
            <a:avLst/>
          </a:prstGeom>
          <a:noFill/>
          <a:ln/>
        </p:spPr>
        <p:txBody>
          <a:bodyPr wrap="square" lIns="0" tIns="0" rIns="0" bIns="0" rtlCol="0" anchor="ctr"/>
          <a:lstStyle/>
          <a:p>
            <a:pPr marL="0" indent="0">
              <a:buNone/>
            </a:pPr>
            <a:r>
              <a:rPr lang="en-US" sz="1600" b="1" dirty="0">
                <a:solidFill>
                  <a:srgbClr val="38BDF8"/>
                </a:solidFill>
                <a:latin typeface="Calibri" pitchFamily="34" charset="0"/>
                <a:ea typeface="Calibri" pitchFamily="34" charset="-122"/>
                <a:cs typeface="Calibri" pitchFamily="34" charset="-120"/>
              </a:rPr>
              <a:t>The Struct-to-Heap Boxing Story</a:t>
            </a:r>
            <a:endParaRPr lang="en-US" sz="1600" dirty="0"/>
          </a:p>
        </p:txBody>
      </p:sp>
      <p:sp>
        <p:nvSpPr>
          <p:cNvPr id="6" name="Shape 4"/>
          <p:cNvSpPr/>
          <p:nvPr/>
        </p:nvSpPr>
        <p:spPr>
          <a:xfrm>
            <a:off x="457200" y="2834640"/>
            <a:ext cx="8229600" cy="411480"/>
          </a:xfrm>
          <a:prstGeom prst="rect">
            <a:avLst/>
          </a:prstGeom>
          <a:solidFill>
            <a:srgbClr val="1E293B"/>
          </a:solidFill>
          <a:ln/>
        </p:spPr>
        <p:txBody>
          <a:bodyPr/>
          <a:lstStyle/>
          <a:p>
            <a:endParaRPr lang="en-US"/>
          </a:p>
        </p:txBody>
      </p:sp>
      <p:sp>
        <p:nvSpPr>
          <p:cNvPr id="7" name="Text 5"/>
          <p:cNvSpPr/>
          <p:nvPr/>
        </p:nvSpPr>
        <p:spPr>
          <a:xfrm>
            <a:off x="640080" y="2834640"/>
            <a:ext cx="3657600" cy="411480"/>
          </a:xfrm>
          <a:prstGeom prst="rect">
            <a:avLst/>
          </a:prstGeom>
          <a:noFill/>
          <a:ln/>
        </p:spPr>
        <p:txBody>
          <a:bodyPr wrap="square" lIns="0" tIns="0" rIns="0" bIns="0" rtlCol="0" anchor="ctr"/>
          <a:lstStyle/>
          <a:p>
            <a:pPr marL="0" indent="0">
              <a:buNone/>
            </a:pPr>
            <a:r>
              <a:rPr lang="en-US" sz="1200" dirty="0">
                <a:solidFill>
                  <a:srgbClr val="F1F5F9"/>
                </a:solidFill>
                <a:latin typeface="Calibri" pitchFamily="34" charset="0"/>
                <a:ea typeface="Calibri" pitchFamily="34" charset="-122"/>
                <a:cs typeface="Calibri" pitchFamily="34" charset="-120"/>
              </a:rPr>
              <a:t>All awaits complete synchronously</a:t>
            </a:r>
            <a:endParaRPr lang="en-US" sz="1200" dirty="0"/>
          </a:p>
        </p:txBody>
      </p:sp>
      <p:sp>
        <p:nvSpPr>
          <p:cNvPr id="8" name="Text 6"/>
          <p:cNvSpPr/>
          <p:nvPr/>
        </p:nvSpPr>
        <p:spPr>
          <a:xfrm>
            <a:off x="4389120" y="2834640"/>
            <a:ext cx="4114800" cy="411480"/>
          </a:xfrm>
          <a:prstGeom prst="rect">
            <a:avLst/>
          </a:prstGeom>
          <a:noFill/>
          <a:ln/>
        </p:spPr>
        <p:txBody>
          <a:bodyPr wrap="square" lIns="0" tIns="0" rIns="0" bIns="0" rtlCol="0" anchor="ctr"/>
          <a:lstStyle/>
          <a:p>
            <a:pPr marL="0" indent="0">
              <a:buNone/>
            </a:pPr>
            <a:r>
              <a:rPr lang="en-US" sz="1200" dirty="0">
                <a:solidFill>
                  <a:srgbClr val="4ADE80"/>
                </a:solidFill>
                <a:latin typeface="Calibri" pitchFamily="34" charset="0"/>
                <a:ea typeface="Calibri" pitchFamily="34" charset="-122"/>
                <a:cs typeface="Calibri" pitchFamily="34" charset="-120"/>
              </a:rPr>
              <a:t>Zero allocations: struct lives on the stack</a:t>
            </a:r>
            <a:endParaRPr lang="en-US" sz="1200" dirty="0"/>
          </a:p>
        </p:txBody>
      </p:sp>
      <p:sp>
        <p:nvSpPr>
          <p:cNvPr id="9" name="Shape 7"/>
          <p:cNvSpPr/>
          <p:nvPr/>
        </p:nvSpPr>
        <p:spPr>
          <a:xfrm>
            <a:off x="457200" y="3337560"/>
            <a:ext cx="8229600" cy="411480"/>
          </a:xfrm>
          <a:prstGeom prst="rect">
            <a:avLst/>
          </a:prstGeom>
          <a:solidFill>
            <a:srgbClr val="1E293B"/>
          </a:solidFill>
          <a:ln/>
        </p:spPr>
        <p:txBody>
          <a:bodyPr/>
          <a:lstStyle/>
          <a:p>
            <a:endParaRPr lang="en-US"/>
          </a:p>
        </p:txBody>
      </p:sp>
      <p:sp>
        <p:nvSpPr>
          <p:cNvPr id="10" name="Text 8"/>
          <p:cNvSpPr/>
          <p:nvPr/>
        </p:nvSpPr>
        <p:spPr>
          <a:xfrm>
            <a:off x="640080" y="3337560"/>
            <a:ext cx="3657600" cy="411480"/>
          </a:xfrm>
          <a:prstGeom prst="rect">
            <a:avLst/>
          </a:prstGeom>
          <a:noFill/>
          <a:ln/>
        </p:spPr>
        <p:txBody>
          <a:bodyPr wrap="square" lIns="0" tIns="0" rIns="0" bIns="0" rtlCol="0" anchor="ctr"/>
          <a:lstStyle/>
          <a:p>
            <a:pPr marL="0" indent="0">
              <a:buNone/>
            </a:pPr>
            <a:r>
              <a:rPr lang="en-US" sz="1200" dirty="0">
                <a:solidFill>
                  <a:srgbClr val="F1F5F9"/>
                </a:solidFill>
                <a:latin typeface="Calibri" pitchFamily="34" charset="0"/>
                <a:ea typeface="Calibri" pitchFamily="34" charset="-122"/>
                <a:cs typeface="Calibri" pitchFamily="34" charset="-120"/>
              </a:rPr>
              <a:t>At least one true suspension</a:t>
            </a:r>
            <a:endParaRPr lang="en-US" sz="1200" dirty="0"/>
          </a:p>
        </p:txBody>
      </p:sp>
      <p:sp>
        <p:nvSpPr>
          <p:cNvPr id="11" name="Text 9"/>
          <p:cNvSpPr/>
          <p:nvPr/>
        </p:nvSpPr>
        <p:spPr>
          <a:xfrm>
            <a:off x="4389120" y="3337560"/>
            <a:ext cx="4114800" cy="411480"/>
          </a:xfrm>
          <a:prstGeom prst="rect">
            <a:avLst/>
          </a:prstGeom>
          <a:noFill/>
          <a:ln/>
        </p:spPr>
        <p:txBody>
          <a:bodyPr wrap="square" lIns="0" tIns="0" rIns="0" bIns="0" rtlCol="0" anchor="ctr"/>
          <a:lstStyle/>
          <a:p>
            <a:pPr marL="0" indent="0">
              <a:buNone/>
            </a:pPr>
            <a:r>
              <a:rPr lang="en-US" sz="1200" dirty="0">
                <a:solidFill>
                  <a:srgbClr val="FBBF24"/>
                </a:solidFill>
                <a:latin typeface="Calibri" pitchFamily="34" charset="0"/>
                <a:ea typeface="Calibri" pitchFamily="34" charset="-122"/>
                <a:cs typeface="Calibri" pitchFamily="34" charset="-120"/>
              </a:rPr>
              <a:t>One allocation: struct is boxed onto the heap</a:t>
            </a:r>
            <a:endParaRPr lang="en-US" sz="1200" dirty="0"/>
          </a:p>
        </p:txBody>
      </p:sp>
      <p:sp>
        <p:nvSpPr>
          <p:cNvPr id="12" name="Shape 10"/>
          <p:cNvSpPr/>
          <p:nvPr/>
        </p:nvSpPr>
        <p:spPr>
          <a:xfrm>
            <a:off x="457200" y="3840480"/>
            <a:ext cx="8229600" cy="411480"/>
          </a:xfrm>
          <a:prstGeom prst="rect">
            <a:avLst/>
          </a:prstGeom>
          <a:solidFill>
            <a:srgbClr val="1E293B"/>
          </a:solidFill>
          <a:ln/>
        </p:spPr>
        <p:txBody>
          <a:bodyPr/>
          <a:lstStyle/>
          <a:p>
            <a:endParaRPr lang="en-US"/>
          </a:p>
        </p:txBody>
      </p:sp>
      <p:sp>
        <p:nvSpPr>
          <p:cNvPr id="13" name="Text 11"/>
          <p:cNvSpPr/>
          <p:nvPr/>
        </p:nvSpPr>
        <p:spPr>
          <a:xfrm>
            <a:off x="640080" y="3840480"/>
            <a:ext cx="3657600" cy="411480"/>
          </a:xfrm>
          <a:prstGeom prst="rect">
            <a:avLst/>
          </a:prstGeom>
          <a:noFill/>
          <a:ln/>
        </p:spPr>
        <p:txBody>
          <a:bodyPr wrap="square" lIns="0" tIns="0" rIns="0" bIns="0" rtlCol="0" anchor="ctr"/>
          <a:lstStyle/>
          <a:p>
            <a:pPr marL="0" indent="0">
              <a:buNone/>
            </a:pPr>
            <a:r>
              <a:rPr lang="en-US" sz="1200" dirty="0">
                <a:solidFill>
                  <a:srgbClr val="F1F5F9"/>
                </a:solidFill>
                <a:latin typeface="Calibri" pitchFamily="34" charset="0"/>
                <a:ea typeface="Calibri" pitchFamily="34" charset="-122"/>
                <a:cs typeface="Calibri" pitchFamily="34" charset="-120"/>
              </a:rPr>
              <a:t>Compare: ContinueWith approach</a:t>
            </a:r>
            <a:endParaRPr lang="en-US" sz="1200" dirty="0"/>
          </a:p>
        </p:txBody>
      </p:sp>
      <p:sp>
        <p:nvSpPr>
          <p:cNvPr id="14" name="Text 12"/>
          <p:cNvSpPr/>
          <p:nvPr/>
        </p:nvSpPr>
        <p:spPr>
          <a:xfrm>
            <a:off x="4389120" y="3840480"/>
            <a:ext cx="4114800" cy="411480"/>
          </a:xfrm>
          <a:prstGeom prst="rect">
            <a:avLst/>
          </a:prstGeom>
          <a:noFill/>
          <a:ln/>
        </p:spPr>
        <p:txBody>
          <a:bodyPr wrap="square" lIns="0" tIns="0" rIns="0" bIns="0" rtlCol="0" anchor="ctr"/>
          <a:lstStyle/>
          <a:p>
            <a:pPr marL="0" indent="0">
              <a:buNone/>
            </a:pPr>
            <a:r>
              <a:rPr lang="en-US" sz="1200" dirty="0">
                <a:solidFill>
                  <a:srgbClr val="F87171"/>
                </a:solidFill>
                <a:latin typeface="Calibri" pitchFamily="34" charset="0"/>
                <a:ea typeface="Calibri" pitchFamily="34" charset="-122"/>
                <a:cs typeface="Calibri" pitchFamily="34" charset="-120"/>
              </a:rPr>
              <a:t>Multiple allocations per step (closures + delegates + Tasks)</a:t>
            </a:r>
            <a:endParaRPr lang="en-US" sz="1200" dirty="0"/>
          </a:p>
        </p:txBody>
      </p:sp>
      <p:sp>
        <p:nvSpPr>
          <p:cNvPr id="15" name="Shape 13"/>
          <p:cNvSpPr/>
          <p:nvPr/>
        </p:nvSpPr>
        <p:spPr>
          <a:xfrm>
            <a:off x="457200" y="4379348"/>
            <a:ext cx="8229600" cy="640080"/>
          </a:xfrm>
          <a:prstGeom prst="rect">
            <a:avLst/>
          </a:prstGeom>
          <a:solidFill>
            <a:srgbClr val="1E293B"/>
          </a:solidFill>
          <a:ln/>
        </p:spPr>
        <p:txBody>
          <a:bodyPr/>
          <a:lstStyle/>
          <a:p>
            <a:endParaRPr lang="en-US"/>
          </a:p>
        </p:txBody>
      </p:sp>
      <p:sp>
        <p:nvSpPr>
          <p:cNvPr id="16" name="Shape 14"/>
          <p:cNvSpPr/>
          <p:nvPr/>
        </p:nvSpPr>
        <p:spPr>
          <a:xfrm>
            <a:off x="457200" y="4379348"/>
            <a:ext cx="73152" cy="640080"/>
          </a:xfrm>
          <a:prstGeom prst="rect">
            <a:avLst/>
          </a:prstGeom>
          <a:solidFill>
            <a:srgbClr val="38BDF8"/>
          </a:solidFill>
          <a:ln/>
        </p:spPr>
        <p:txBody>
          <a:bodyPr/>
          <a:lstStyle/>
          <a:p>
            <a:endParaRPr lang="en-US"/>
          </a:p>
        </p:txBody>
      </p:sp>
      <p:sp>
        <p:nvSpPr>
          <p:cNvPr id="17" name="Text 15"/>
          <p:cNvSpPr/>
          <p:nvPr/>
        </p:nvSpPr>
        <p:spPr>
          <a:xfrm>
            <a:off x="777240" y="4379348"/>
            <a:ext cx="7772400" cy="640080"/>
          </a:xfrm>
          <a:prstGeom prst="rect">
            <a:avLst/>
          </a:prstGeom>
          <a:noFill/>
          <a:ln/>
        </p:spPr>
        <p:txBody>
          <a:bodyPr wrap="square" lIns="0" tIns="0" rIns="0" bIns="0" rtlCol="0" anchor="ctr"/>
          <a:lstStyle/>
          <a:p>
            <a:pPr marL="0" indent="0">
              <a:buNone/>
            </a:pPr>
            <a:r>
              <a:rPr lang="en-US" sz="1300" i="1" dirty="0">
                <a:solidFill>
                  <a:srgbClr val="F1F5F9"/>
                </a:solidFill>
                <a:latin typeface="Calibri" pitchFamily="34" charset="0"/>
                <a:ea typeface="Calibri" pitchFamily="34" charset="-122"/>
                <a:cs typeface="Calibri" pitchFamily="34" charset="-120"/>
              </a:rPr>
              <a:t>async/await: a struct, a switch, some callbacks. No magic - just a very clever compiler rewrite.</a:t>
            </a:r>
            <a:endParaRPr lang="en-US" sz="1300" dirty="0"/>
          </a:p>
        </p:txBody>
      </p:sp>
      <p:sp>
        <p:nvSpPr>
          <p:cNvPr id="18" name="Text 16"/>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30</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32">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38BDF8"/>
          </a:solidFill>
          <a:ln/>
        </p:spPr>
        <p:txBody>
          <a:bodyPr/>
          <a:lstStyle/>
          <a:p>
            <a:endParaRPr lang="en-US"/>
          </a:p>
        </p:txBody>
      </p:sp>
      <p:sp>
        <p:nvSpPr>
          <p:cNvPr id="3" name="Text 1"/>
          <p:cNvSpPr/>
          <p:nvPr/>
        </p:nvSpPr>
        <p:spPr>
          <a:xfrm>
            <a:off x="548640" y="914400"/>
            <a:ext cx="1828800" cy="1097280"/>
          </a:xfrm>
          <a:prstGeom prst="rect">
            <a:avLst/>
          </a:prstGeom>
          <a:noFill/>
          <a:ln/>
        </p:spPr>
        <p:txBody>
          <a:bodyPr wrap="square" lIns="0" tIns="0" rIns="0" bIns="0" rtlCol="0" anchor="ctr"/>
          <a:lstStyle/>
          <a:p>
            <a:pPr marL="0" indent="0">
              <a:buNone/>
            </a:pPr>
            <a:r>
              <a:rPr lang="en-US" sz="6000" b="1" dirty="0">
                <a:solidFill>
                  <a:srgbClr val="38BDF8"/>
                </a:solidFill>
                <a:latin typeface="Trebuchet MS" pitchFamily="34" charset="0"/>
                <a:ea typeface="Trebuchet MS" pitchFamily="34" charset="-122"/>
                <a:cs typeface="Trebuchet MS" pitchFamily="34" charset="-120"/>
              </a:rPr>
              <a:t>10</a:t>
            </a:r>
            <a:endParaRPr lang="en-US" sz="6000" dirty="0"/>
          </a:p>
        </p:txBody>
      </p:sp>
      <p:sp>
        <p:nvSpPr>
          <p:cNvPr id="4" name="Text 2"/>
          <p:cNvSpPr/>
          <p:nvPr/>
        </p:nvSpPr>
        <p:spPr>
          <a:xfrm>
            <a:off x="548640" y="1920240"/>
            <a:ext cx="7772400" cy="1097280"/>
          </a:xfrm>
          <a:prstGeom prst="rect">
            <a:avLst/>
          </a:prstGeom>
          <a:noFill/>
          <a:ln/>
        </p:spPr>
        <p:txBody>
          <a:bodyPr wrap="square" lIns="0" tIns="0" rIns="0" bIns="0" rtlCol="0" anchor="ctr"/>
          <a:lstStyle/>
          <a:p>
            <a:pPr marL="0" indent="0">
              <a:buNone/>
            </a:pPr>
            <a:r>
              <a:rPr lang="en-US" sz="3600" b="1" dirty="0">
                <a:solidFill>
                  <a:srgbClr val="F1F5F9"/>
                </a:solidFill>
                <a:latin typeface="Trebuchet MS" pitchFamily="34" charset="0"/>
                <a:ea typeface="Trebuchet MS" pitchFamily="34" charset="-122"/>
                <a:cs typeface="Trebuchet MS" pitchFamily="34" charset="-120"/>
              </a:rPr>
              <a:t>ConfigureAwait(false)</a:t>
            </a:r>
            <a:endParaRPr lang="en-US" sz="3600" dirty="0"/>
          </a:p>
        </p:txBody>
      </p:sp>
      <p:sp>
        <p:nvSpPr>
          <p:cNvPr id="5" name="Text 3"/>
          <p:cNvSpPr/>
          <p:nvPr/>
        </p:nvSpPr>
        <p:spPr>
          <a:xfrm>
            <a:off x="548640" y="2926080"/>
            <a:ext cx="7315200" cy="731520"/>
          </a:xfrm>
          <a:prstGeom prst="rect">
            <a:avLst/>
          </a:prstGeom>
          <a:noFill/>
          <a:ln/>
        </p:spPr>
        <p:txBody>
          <a:bodyPr wrap="square" lIns="0" tIns="0" rIns="0" bIns="0" rtlCol="0" anchor="ctr"/>
          <a:lstStyle/>
          <a:p>
            <a:pPr marL="0" indent="0">
              <a:buNone/>
            </a:pPr>
            <a:r>
              <a:rPr lang="en-US" sz="1600" dirty="0">
                <a:solidFill>
                  <a:srgbClr val="94A3B8"/>
                </a:solidFill>
                <a:latin typeface="Calibri" pitchFamily="34" charset="0"/>
                <a:ea typeface="Calibri" pitchFamily="34" charset="-122"/>
                <a:cs typeface="Calibri" pitchFamily="34" charset="-120"/>
              </a:rPr>
              <a:t>When, why, and how it prevents deadlocks</a:t>
            </a:r>
            <a:endParaRPr lang="en-US" sz="1600" dirty="0"/>
          </a:p>
        </p:txBody>
      </p:sp>
      <p:sp>
        <p:nvSpPr>
          <p:cNvPr id="6" name="Text 4"/>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31</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33">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F1F5F9"/>
                </a:solidFill>
                <a:latin typeface="Trebuchet MS" pitchFamily="34" charset="0"/>
                <a:ea typeface="Trebuchet MS" pitchFamily="34" charset="-122"/>
                <a:cs typeface="Trebuchet MS" pitchFamily="34" charset="-120"/>
              </a:rPr>
              <a:t>What ConfigureAwait(false) Does</a:t>
            </a:r>
            <a:endParaRPr lang="en-US" sz="2800" dirty="0"/>
          </a:p>
        </p:txBody>
      </p:sp>
      <p:sp>
        <p:nvSpPr>
          <p:cNvPr id="3" name="Text 1"/>
          <p:cNvSpPr/>
          <p:nvPr/>
        </p:nvSpPr>
        <p:spPr>
          <a:xfrm>
            <a:off x="457200" y="914400"/>
            <a:ext cx="8229600" cy="594360"/>
          </a:xfrm>
          <a:prstGeom prst="rect">
            <a:avLst/>
          </a:prstGeom>
          <a:noFill/>
          <a:ln/>
        </p:spPr>
        <p:txBody>
          <a:bodyPr wrap="square" lIns="0" tIns="0" rIns="0" bIns="0" rtlCol="0" anchor="ctr"/>
          <a:lstStyle/>
          <a:p>
            <a:pPr marL="0" indent="0">
              <a:buNone/>
            </a:pPr>
            <a:r>
              <a:rPr lang="en-US" sz="1400" dirty="0">
                <a:solidFill>
                  <a:srgbClr val="F1F5F9"/>
                </a:solidFill>
                <a:latin typeface="Calibri" pitchFamily="34" charset="0"/>
                <a:ea typeface="Calibri" pitchFamily="34" charset="-122"/>
                <a:cs typeface="Calibri" pitchFamily="34" charset="-120"/>
              </a:rPr>
              <a:t>Tells the infrastructure: skip SynchronizationContext capture.</a:t>
            </a:r>
            <a:endParaRPr lang="en-US" sz="1400" dirty="0"/>
          </a:p>
          <a:p>
            <a:pPr marL="0" indent="0">
              <a:buNone/>
            </a:pPr>
            <a:r>
              <a:rPr lang="en-US" sz="1400" dirty="0">
                <a:solidFill>
                  <a:srgbClr val="F1F5F9"/>
                </a:solidFill>
                <a:latin typeface="Calibri" pitchFamily="34" charset="0"/>
                <a:ea typeface="Calibri" pitchFamily="34" charset="-122"/>
                <a:cs typeface="Calibri" pitchFamily="34" charset="-120"/>
              </a:rPr>
              <a:t>Run my continuation on the ThreadPool, regardless of the original context.</a:t>
            </a:r>
            <a:endParaRPr lang="en-US" sz="1400" dirty="0"/>
          </a:p>
        </p:txBody>
      </p:sp>
      <p:sp>
        <p:nvSpPr>
          <p:cNvPr id="4" name="Text 2"/>
          <p:cNvSpPr/>
          <p:nvPr/>
        </p:nvSpPr>
        <p:spPr>
          <a:xfrm>
            <a:off x="457200" y="1691640"/>
            <a:ext cx="3931920" cy="320040"/>
          </a:xfrm>
          <a:prstGeom prst="rect">
            <a:avLst/>
          </a:prstGeom>
          <a:noFill/>
          <a:ln/>
        </p:spPr>
        <p:txBody>
          <a:bodyPr wrap="square" lIns="0" tIns="0" rIns="0" bIns="0" rtlCol="0" anchor="ctr"/>
          <a:lstStyle/>
          <a:p>
            <a:pPr marL="0" indent="0">
              <a:buNone/>
            </a:pPr>
            <a:r>
              <a:rPr lang="en-US" sz="1300" b="1" dirty="0">
                <a:solidFill>
                  <a:srgbClr val="38BDF8"/>
                </a:solidFill>
                <a:latin typeface="Calibri" pitchFamily="34" charset="0"/>
                <a:ea typeface="Calibri" pitchFamily="34" charset="-122"/>
                <a:cs typeface="Calibri" pitchFamily="34" charset="-120"/>
              </a:rPr>
              <a:t>Default (captures context)</a:t>
            </a:r>
            <a:endParaRPr lang="en-US" sz="1300" dirty="0"/>
          </a:p>
        </p:txBody>
      </p:sp>
      <p:sp>
        <p:nvSpPr>
          <p:cNvPr id="5" name="Shape 3"/>
          <p:cNvSpPr/>
          <p:nvPr/>
        </p:nvSpPr>
        <p:spPr>
          <a:xfrm>
            <a:off x="457200" y="2057400"/>
            <a:ext cx="3931920" cy="914400"/>
          </a:xfrm>
          <a:prstGeom prst="rect">
            <a:avLst/>
          </a:prstGeom>
          <a:solidFill>
            <a:srgbClr val="1E293B"/>
          </a:solidFill>
          <a:ln/>
          <a:effectLst>
            <a:outerShdw blurRad="101600" dist="38100" dir="8100000" algn="bl" rotWithShape="0">
              <a:srgbClr val="000000">
                <a:alpha val="30000"/>
              </a:srgbClr>
            </a:outerShdw>
          </a:effectLst>
        </p:spPr>
        <p:txBody>
          <a:bodyPr/>
          <a:lstStyle/>
          <a:p>
            <a:endParaRPr lang="en-US"/>
          </a:p>
        </p:txBody>
      </p:sp>
      <p:sp>
        <p:nvSpPr>
          <p:cNvPr id="6" name="Text 4"/>
          <p:cNvSpPr/>
          <p:nvPr/>
        </p:nvSpPr>
        <p:spPr>
          <a:xfrm>
            <a:off x="594360" y="2148840"/>
            <a:ext cx="3657600" cy="731520"/>
          </a:xfrm>
          <a:prstGeom prst="rect">
            <a:avLst/>
          </a:prstGeom>
          <a:noFill/>
          <a:ln/>
        </p:spPr>
        <p:txBody>
          <a:bodyPr wrap="square" lIns="0" tIns="0" rIns="0" bIns="0" rtlCol="0" anchor="t"/>
          <a:lstStyle/>
          <a:p>
            <a:pPr marL="0" indent="0">
              <a:spcAft>
                <a:spcPts val="200"/>
              </a:spcAft>
              <a:buNone/>
            </a:pPr>
            <a:r>
              <a:rPr lang="en-US" sz="1100" dirty="0">
                <a:solidFill>
                  <a:srgbClr val="E2E8F0"/>
                </a:solidFill>
                <a:latin typeface="Consolas" pitchFamily="34" charset="0"/>
                <a:ea typeface="Consolas" pitchFamily="34" charset="-122"/>
                <a:cs typeface="Consolas" pitchFamily="34" charset="-120"/>
              </a:rPr>
              <a:t>await Task.Delay(1000);</a:t>
            </a:r>
            <a:endParaRPr lang="en-US" sz="1100" dirty="0"/>
          </a:p>
          <a:p>
            <a:pPr marL="0" indent="0">
              <a:spcAft>
                <a:spcPts val="200"/>
              </a:spcAft>
              <a:buNone/>
            </a:pPr>
            <a:r>
              <a:rPr lang="en-US" sz="1100" dirty="0">
                <a:solidFill>
                  <a:srgbClr val="E2E8F0"/>
                </a:solidFill>
                <a:latin typeface="Consolas" pitchFamily="34" charset="0"/>
                <a:ea typeface="Consolas" pitchFamily="34" charset="-122"/>
                <a:cs typeface="Consolas" pitchFamily="34" charset="-120"/>
              </a:rPr>
              <a:t>// UI app: runs on UI thread</a:t>
            </a:r>
            <a:endParaRPr lang="en-US" sz="1100" dirty="0"/>
          </a:p>
          <a:p>
            <a:pPr marL="0" indent="0">
              <a:spcAft>
                <a:spcPts val="200"/>
              </a:spcAft>
              <a:buNone/>
            </a:pPr>
            <a:r>
              <a:rPr lang="en-US" sz="1100" dirty="0">
                <a:solidFill>
                  <a:srgbClr val="E2E8F0"/>
                </a:solidFill>
                <a:latin typeface="Consolas" pitchFamily="34" charset="0"/>
                <a:ea typeface="Consolas" pitchFamily="34" charset="-122"/>
                <a:cs typeface="Consolas" pitchFamily="34" charset="-120"/>
              </a:rPr>
              <a:t>// Console:  runs on ThreadPool</a:t>
            </a:r>
            <a:endParaRPr lang="en-US" sz="1100" dirty="0"/>
          </a:p>
        </p:txBody>
      </p:sp>
      <p:sp>
        <p:nvSpPr>
          <p:cNvPr id="7" name="Text 5"/>
          <p:cNvSpPr/>
          <p:nvPr/>
        </p:nvSpPr>
        <p:spPr>
          <a:xfrm>
            <a:off x="4754880" y="1691640"/>
            <a:ext cx="3931920" cy="320040"/>
          </a:xfrm>
          <a:prstGeom prst="rect">
            <a:avLst/>
          </a:prstGeom>
          <a:noFill/>
          <a:ln/>
        </p:spPr>
        <p:txBody>
          <a:bodyPr wrap="square" lIns="0" tIns="0" rIns="0" bIns="0" rtlCol="0" anchor="ctr"/>
          <a:lstStyle/>
          <a:p>
            <a:pPr marL="0" indent="0">
              <a:buNone/>
            </a:pPr>
            <a:r>
              <a:rPr lang="en-US" sz="1300" b="1" dirty="0">
                <a:solidFill>
                  <a:srgbClr val="FBBF24"/>
                </a:solidFill>
                <a:latin typeface="Calibri" pitchFamily="34" charset="0"/>
                <a:ea typeface="Calibri" pitchFamily="34" charset="-122"/>
                <a:cs typeface="Calibri" pitchFamily="34" charset="-120"/>
              </a:rPr>
              <a:t>ConfigureAwait(false)</a:t>
            </a:r>
            <a:endParaRPr lang="en-US" sz="1300" dirty="0"/>
          </a:p>
        </p:txBody>
      </p:sp>
      <p:sp>
        <p:nvSpPr>
          <p:cNvPr id="8" name="Shape 6"/>
          <p:cNvSpPr/>
          <p:nvPr/>
        </p:nvSpPr>
        <p:spPr>
          <a:xfrm>
            <a:off x="4754880" y="2057400"/>
            <a:ext cx="3931920" cy="914400"/>
          </a:xfrm>
          <a:prstGeom prst="rect">
            <a:avLst/>
          </a:prstGeom>
          <a:solidFill>
            <a:srgbClr val="1E293B"/>
          </a:solidFill>
          <a:ln/>
          <a:effectLst>
            <a:outerShdw blurRad="101600" dist="38100" dir="8100000" algn="bl" rotWithShape="0">
              <a:srgbClr val="000000">
                <a:alpha val="30000"/>
              </a:srgbClr>
            </a:outerShdw>
          </a:effectLst>
        </p:spPr>
        <p:txBody>
          <a:bodyPr/>
          <a:lstStyle/>
          <a:p>
            <a:endParaRPr lang="en-US"/>
          </a:p>
        </p:txBody>
      </p:sp>
      <p:sp>
        <p:nvSpPr>
          <p:cNvPr id="9" name="Text 7"/>
          <p:cNvSpPr/>
          <p:nvPr/>
        </p:nvSpPr>
        <p:spPr>
          <a:xfrm>
            <a:off x="4892040" y="2148840"/>
            <a:ext cx="3657600" cy="731520"/>
          </a:xfrm>
          <a:prstGeom prst="rect">
            <a:avLst/>
          </a:prstGeom>
          <a:noFill/>
          <a:ln/>
        </p:spPr>
        <p:txBody>
          <a:bodyPr wrap="square" lIns="0" tIns="0" rIns="0" bIns="0" rtlCol="0" anchor="t"/>
          <a:lstStyle/>
          <a:p>
            <a:pPr marL="0" indent="0">
              <a:spcAft>
                <a:spcPts val="200"/>
              </a:spcAft>
              <a:buNone/>
            </a:pPr>
            <a:r>
              <a:rPr lang="en-US" sz="1100" dirty="0">
                <a:solidFill>
                  <a:srgbClr val="E2E8F0"/>
                </a:solidFill>
                <a:latin typeface="Consolas" pitchFamily="34" charset="0"/>
                <a:ea typeface="Consolas" pitchFamily="34" charset="-122"/>
                <a:cs typeface="Consolas" pitchFamily="34" charset="-120"/>
              </a:rPr>
              <a:t>await Task.Delay(1000)</a:t>
            </a:r>
            <a:endParaRPr lang="en-US" sz="1100" dirty="0"/>
          </a:p>
          <a:p>
            <a:pPr marL="0" indent="0">
              <a:spcAft>
                <a:spcPts val="200"/>
              </a:spcAft>
              <a:buNone/>
            </a:pPr>
            <a:r>
              <a:rPr lang="en-US" sz="1100" dirty="0">
                <a:solidFill>
                  <a:srgbClr val="E2E8F0"/>
                </a:solidFill>
                <a:latin typeface="Consolas" pitchFamily="34" charset="0"/>
                <a:ea typeface="Consolas" pitchFamily="34" charset="-122"/>
                <a:cs typeface="Consolas" pitchFamily="34" charset="-120"/>
              </a:rPr>
              <a:t>    .ConfigureAwait(false);</a:t>
            </a:r>
            <a:endParaRPr lang="en-US" sz="1100" dirty="0"/>
          </a:p>
          <a:p>
            <a:pPr marL="0" indent="0">
              <a:spcAft>
                <a:spcPts val="200"/>
              </a:spcAft>
              <a:buNone/>
            </a:pPr>
            <a:r>
              <a:rPr lang="en-US" sz="1100" dirty="0">
                <a:solidFill>
                  <a:srgbClr val="E2E8F0"/>
                </a:solidFill>
                <a:latin typeface="Consolas" pitchFamily="34" charset="0"/>
                <a:ea typeface="Consolas" pitchFamily="34" charset="-122"/>
                <a:cs typeface="Consolas" pitchFamily="34" charset="-120"/>
              </a:rPr>
              <a:t>// ALWAYS runs on ThreadPool</a:t>
            </a:r>
            <a:endParaRPr lang="en-US" sz="1100" dirty="0"/>
          </a:p>
        </p:txBody>
      </p:sp>
      <p:sp>
        <p:nvSpPr>
          <p:cNvPr id="10" name="Text 8"/>
          <p:cNvSpPr/>
          <p:nvPr/>
        </p:nvSpPr>
        <p:spPr>
          <a:xfrm>
            <a:off x="457200" y="3200400"/>
            <a:ext cx="8229600" cy="548640"/>
          </a:xfrm>
          <a:prstGeom prst="rect">
            <a:avLst/>
          </a:prstGeom>
          <a:noFill/>
          <a:ln/>
        </p:spPr>
        <p:txBody>
          <a:bodyPr wrap="square" lIns="0" tIns="0" rIns="0" bIns="0" rtlCol="0" anchor="ctr"/>
          <a:lstStyle/>
          <a:p>
            <a:pPr marL="0" indent="0">
              <a:buNone/>
            </a:pPr>
            <a:r>
              <a:rPr lang="en-US" sz="1300" dirty="0">
                <a:solidFill>
                  <a:srgbClr val="94A3B8"/>
                </a:solidFill>
                <a:latin typeface="Calibri" pitchFamily="34" charset="0"/>
                <a:ea typeface="Calibri" pitchFamily="34" charset="-122"/>
                <a:cs typeface="Calibri" pitchFamily="34" charset="-120"/>
              </a:rPr>
              <a:t>Mechanically: returns a ConfiguredTaskAwaitable whose awaiter skips</a:t>
            </a:r>
            <a:endParaRPr lang="en-US" sz="1300" dirty="0"/>
          </a:p>
          <a:p>
            <a:pPr marL="0" indent="0">
              <a:buNone/>
            </a:pPr>
            <a:r>
              <a:rPr lang="en-US" sz="1300" dirty="0">
                <a:solidFill>
                  <a:srgbClr val="94A3B8"/>
                </a:solidFill>
                <a:latin typeface="Calibri" pitchFamily="34" charset="0"/>
                <a:ea typeface="Calibri" pitchFamily="34" charset="-122"/>
                <a:cs typeface="Calibri" pitchFamily="34" charset="-120"/>
              </a:rPr>
              <a:t>the SynchronizationContext in </a:t>
            </a:r>
            <a:r>
              <a:rPr lang="en-US" sz="1300" dirty="0" err="1">
                <a:solidFill>
                  <a:srgbClr val="94A3B8"/>
                </a:solidFill>
                <a:latin typeface="Calibri" pitchFamily="34" charset="0"/>
                <a:ea typeface="Calibri" pitchFamily="34" charset="-122"/>
                <a:cs typeface="Calibri" pitchFamily="34" charset="-120"/>
              </a:rPr>
              <a:t>OnCompleted</a:t>
            </a:r>
            <a:endParaRPr lang="en-US" sz="1300" dirty="0"/>
          </a:p>
        </p:txBody>
      </p:sp>
      <p:sp>
        <p:nvSpPr>
          <p:cNvPr id="11" name="Shape 9"/>
          <p:cNvSpPr/>
          <p:nvPr/>
        </p:nvSpPr>
        <p:spPr>
          <a:xfrm>
            <a:off x="457200" y="4206240"/>
            <a:ext cx="8229600" cy="640080"/>
          </a:xfrm>
          <a:prstGeom prst="rect">
            <a:avLst/>
          </a:prstGeom>
          <a:solidFill>
            <a:srgbClr val="1E293B"/>
          </a:solidFill>
          <a:ln/>
        </p:spPr>
        <p:txBody>
          <a:bodyPr/>
          <a:lstStyle/>
          <a:p>
            <a:endParaRPr lang="en-US"/>
          </a:p>
        </p:txBody>
      </p:sp>
      <p:sp>
        <p:nvSpPr>
          <p:cNvPr id="12" name="Shape 10"/>
          <p:cNvSpPr/>
          <p:nvPr/>
        </p:nvSpPr>
        <p:spPr>
          <a:xfrm>
            <a:off x="457200" y="4206240"/>
            <a:ext cx="73152" cy="640080"/>
          </a:xfrm>
          <a:prstGeom prst="rect">
            <a:avLst/>
          </a:prstGeom>
          <a:solidFill>
            <a:srgbClr val="38BDF8"/>
          </a:solidFill>
          <a:ln/>
        </p:spPr>
        <p:txBody>
          <a:bodyPr/>
          <a:lstStyle/>
          <a:p>
            <a:endParaRPr lang="en-US"/>
          </a:p>
        </p:txBody>
      </p:sp>
      <p:sp>
        <p:nvSpPr>
          <p:cNvPr id="13" name="Text 11"/>
          <p:cNvSpPr/>
          <p:nvPr/>
        </p:nvSpPr>
        <p:spPr>
          <a:xfrm>
            <a:off x="777240" y="4206240"/>
            <a:ext cx="7772400" cy="640080"/>
          </a:xfrm>
          <a:prstGeom prst="rect">
            <a:avLst/>
          </a:prstGeom>
          <a:noFill/>
          <a:ln/>
        </p:spPr>
        <p:txBody>
          <a:bodyPr wrap="square" lIns="0" tIns="0" rIns="0" bIns="0" rtlCol="0" anchor="ctr"/>
          <a:lstStyle/>
          <a:p>
            <a:pPr marL="0" indent="0">
              <a:buNone/>
            </a:pPr>
            <a:r>
              <a:rPr lang="en-US" sz="1300" i="1" dirty="0">
                <a:solidFill>
                  <a:srgbClr val="F1F5F9"/>
                </a:solidFill>
                <a:latin typeface="Calibri" pitchFamily="34" charset="0"/>
                <a:ea typeface="Calibri" pitchFamily="34" charset="-122"/>
                <a:cs typeface="Calibri" pitchFamily="34" charset="-120"/>
              </a:rPr>
              <a:t>ConfigureAwait(false) opts out of context capture; continuations go straight to the ThreadPool.</a:t>
            </a:r>
            <a:endParaRPr lang="en-US" sz="1300" dirty="0"/>
          </a:p>
        </p:txBody>
      </p:sp>
      <p:sp>
        <p:nvSpPr>
          <p:cNvPr id="14" name="Text 12"/>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32</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34">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F1F5F9"/>
                </a:solidFill>
                <a:latin typeface="Trebuchet MS" pitchFamily="34" charset="0"/>
                <a:ea typeface="Trebuchet MS" pitchFamily="34" charset="-122"/>
                <a:cs typeface="Trebuchet MS" pitchFamily="34" charset="-120"/>
              </a:rPr>
              <a:t>When to Use ConfigureAwait(false)</a:t>
            </a:r>
            <a:endParaRPr lang="en-US" sz="2800" dirty="0"/>
          </a:p>
        </p:txBody>
      </p:sp>
      <p:sp>
        <p:nvSpPr>
          <p:cNvPr id="3" name="Shape 1"/>
          <p:cNvSpPr/>
          <p:nvPr/>
        </p:nvSpPr>
        <p:spPr>
          <a:xfrm>
            <a:off x="457200" y="1188720"/>
            <a:ext cx="8229600" cy="777240"/>
          </a:xfrm>
          <a:prstGeom prst="rect">
            <a:avLst/>
          </a:prstGeom>
          <a:solidFill>
            <a:srgbClr val="1E293B"/>
          </a:solidFill>
          <a:ln/>
        </p:spPr>
        <p:txBody>
          <a:bodyPr/>
          <a:lstStyle/>
          <a:p>
            <a:endParaRPr lang="en-US"/>
          </a:p>
        </p:txBody>
      </p:sp>
      <p:sp>
        <p:nvSpPr>
          <p:cNvPr id="4" name="Shape 2"/>
          <p:cNvSpPr/>
          <p:nvPr/>
        </p:nvSpPr>
        <p:spPr>
          <a:xfrm>
            <a:off x="457200" y="1188720"/>
            <a:ext cx="73152" cy="777240"/>
          </a:xfrm>
          <a:prstGeom prst="rect">
            <a:avLst/>
          </a:prstGeom>
          <a:solidFill>
            <a:srgbClr val="4ADE80"/>
          </a:solidFill>
          <a:ln/>
        </p:spPr>
        <p:txBody>
          <a:bodyPr/>
          <a:lstStyle/>
          <a:p>
            <a:endParaRPr lang="en-US"/>
          </a:p>
        </p:txBody>
      </p:sp>
      <p:sp>
        <p:nvSpPr>
          <p:cNvPr id="5" name="Text 3"/>
          <p:cNvSpPr/>
          <p:nvPr/>
        </p:nvSpPr>
        <p:spPr>
          <a:xfrm>
            <a:off x="731520" y="1188720"/>
            <a:ext cx="2011680" cy="365760"/>
          </a:xfrm>
          <a:prstGeom prst="rect">
            <a:avLst/>
          </a:prstGeom>
          <a:noFill/>
          <a:ln/>
        </p:spPr>
        <p:txBody>
          <a:bodyPr wrap="square" lIns="0" tIns="0" rIns="0" bIns="0" rtlCol="0" anchor="ctr"/>
          <a:lstStyle/>
          <a:p>
            <a:pPr marL="0" indent="0">
              <a:buNone/>
            </a:pPr>
            <a:r>
              <a:rPr lang="en-US" sz="1400" b="1" dirty="0">
                <a:solidFill>
                  <a:srgbClr val="4ADE80"/>
                </a:solidFill>
                <a:latin typeface="Calibri" pitchFamily="34" charset="0"/>
                <a:ea typeface="Calibri" pitchFamily="34" charset="-122"/>
                <a:cs typeface="Calibri" pitchFamily="34" charset="-120"/>
              </a:rPr>
              <a:t>Library code</a:t>
            </a:r>
            <a:endParaRPr lang="en-US" sz="1400" dirty="0"/>
          </a:p>
        </p:txBody>
      </p:sp>
      <p:sp>
        <p:nvSpPr>
          <p:cNvPr id="6" name="Text 4"/>
          <p:cNvSpPr/>
          <p:nvPr/>
        </p:nvSpPr>
        <p:spPr>
          <a:xfrm>
            <a:off x="731520" y="1536192"/>
            <a:ext cx="2011680" cy="365760"/>
          </a:xfrm>
          <a:prstGeom prst="rect">
            <a:avLst/>
          </a:prstGeom>
          <a:noFill/>
          <a:ln/>
        </p:spPr>
        <p:txBody>
          <a:bodyPr wrap="square" lIns="0" tIns="0" rIns="0" bIns="0" rtlCol="0" anchor="t"/>
          <a:lstStyle/>
          <a:p>
            <a:pPr marL="0" indent="0">
              <a:buNone/>
            </a:pPr>
            <a:r>
              <a:rPr lang="en-US" sz="1200" dirty="0">
                <a:solidFill>
                  <a:srgbClr val="F1F5F9"/>
                </a:solidFill>
                <a:latin typeface="Calibri" pitchFamily="34" charset="0"/>
                <a:ea typeface="Calibri" pitchFamily="34" charset="-122"/>
                <a:cs typeface="Calibri" pitchFamily="34" charset="-120"/>
              </a:rPr>
              <a:t>USE IT on every await</a:t>
            </a:r>
            <a:endParaRPr lang="en-US" sz="1200" dirty="0"/>
          </a:p>
        </p:txBody>
      </p:sp>
      <p:sp>
        <p:nvSpPr>
          <p:cNvPr id="7" name="Text 5"/>
          <p:cNvSpPr/>
          <p:nvPr/>
        </p:nvSpPr>
        <p:spPr>
          <a:xfrm>
            <a:off x="2926080" y="1188720"/>
            <a:ext cx="5577840" cy="777240"/>
          </a:xfrm>
          <a:prstGeom prst="rect">
            <a:avLst/>
          </a:prstGeom>
          <a:noFill/>
          <a:ln/>
        </p:spPr>
        <p:txBody>
          <a:bodyPr wrap="square" lIns="0" tIns="0" rIns="0" bIns="0" rtlCol="0" anchor="ctr"/>
          <a:lstStyle/>
          <a:p>
            <a:pPr marL="0" indent="0">
              <a:buNone/>
            </a:pPr>
            <a:r>
              <a:rPr lang="en-US" sz="1300" dirty="0">
                <a:solidFill>
                  <a:srgbClr val="94A3B8"/>
                </a:solidFill>
                <a:latin typeface="Calibri" pitchFamily="34" charset="0"/>
                <a:ea typeface="Calibri" pitchFamily="34" charset="-122"/>
                <a:cs typeface="Calibri" pitchFamily="34" charset="-120"/>
              </a:rPr>
              <a:t>Prevents deadlocks, avoids unnecessary marshalling</a:t>
            </a:r>
            <a:endParaRPr lang="en-US" sz="1300" dirty="0"/>
          </a:p>
        </p:txBody>
      </p:sp>
      <p:sp>
        <p:nvSpPr>
          <p:cNvPr id="8" name="Shape 6"/>
          <p:cNvSpPr/>
          <p:nvPr/>
        </p:nvSpPr>
        <p:spPr>
          <a:xfrm>
            <a:off x="457200" y="2148840"/>
            <a:ext cx="8229600" cy="777240"/>
          </a:xfrm>
          <a:prstGeom prst="rect">
            <a:avLst/>
          </a:prstGeom>
          <a:solidFill>
            <a:srgbClr val="1E293B"/>
          </a:solidFill>
          <a:ln/>
        </p:spPr>
        <p:txBody>
          <a:bodyPr/>
          <a:lstStyle/>
          <a:p>
            <a:endParaRPr lang="en-US"/>
          </a:p>
        </p:txBody>
      </p:sp>
      <p:sp>
        <p:nvSpPr>
          <p:cNvPr id="9" name="Shape 7"/>
          <p:cNvSpPr/>
          <p:nvPr/>
        </p:nvSpPr>
        <p:spPr>
          <a:xfrm>
            <a:off x="457200" y="2148840"/>
            <a:ext cx="73152" cy="777240"/>
          </a:xfrm>
          <a:prstGeom prst="rect">
            <a:avLst/>
          </a:prstGeom>
          <a:solidFill>
            <a:srgbClr val="F87171"/>
          </a:solidFill>
          <a:ln/>
        </p:spPr>
        <p:txBody>
          <a:bodyPr/>
          <a:lstStyle/>
          <a:p>
            <a:endParaRPr lang="en-US"/>
          </a:p>
        </p:txBody>
      </p:sp>
      <p:sp>
        <p:nvSpPr>
          <p:cNvPr id="10" name="Text 8"/>
          <p:cNvSpPr/>
          <p:nvPr/>
        </p:nvSpPr>
        <p:spPr>
          <a:xfrm>
            <a:off x="731520" y="2148840"/>
            <a:ext cx="2011680" cy="365760"/>
          </a:xfrm>
          <a:prstGeom prst="rect">
            <a:avLst/>
          </a:prstGeom>
          <a:noFill/>
          <a:ln/>
        </p:spPr>
        <p:txBody>
          <a:bodyPr wrap="square" lIns="0" tIns="0" rIns="0" bIns="0" rtlCol="0" anchor="ctr"/>
          <a:lstStyle/>
          <a:p>
            <a:pPr marL="0" indent="0">
              <a:buNone/>
            </a:pPr>
            <a:r>
              <a:rPr lang="en-US" sz="1400" b="1" dirty="0">
                <a:solidFill>
                  <a:srgbClr val="F87171"/>
                </a:solidFill>
                <a:latin typeface="Calibri" pitchFamily="34" charset="0"/>
                <a:ea typeface="Calibri" pitchFamily="34" charset="-122"/>
                <a:cs typeface="Calibri" pitchFamily="34" charset="-120"/>
              </a:rPr>
              <a:t>UI application code</a:t>
            </a:r>
            <a:endParaRPr lang="en-US" sz="1400" dirty="0"/>
          </a:p>
        </p:txBody>
      </p:sp>
      <p:sp>
        <p:nvSpPr>
          <p:cNvPr id="11" name="Text 9"/>
          <p:cNvSpPr/>
          <p:nvPr/>
        </p:nvSpPr>
        <p:spPr>
          <a:xfrm>
            <a:off x="731520" y="2496312"/>
            <a:ext cx="2011680" cy="365760"/>
          </a:xfrm>
          <a:prstGeom prst="rect">
            <a:avLst/>
          </a:prstGeom>
          <a:noFill/>
          <a:ln/>
        </p:spPr>
        <p:txBody>
          <a:bodyPr wrap="square" lIns="0" tIns="0" rIns="0" bIns="0" rtlCol="0" anchor="t"/>
          <a:lstStyle/>
          <a:p>
            <a:pPr marL="0" indent="0">
              <a:buNone/>
            </a:pPr>
            <a:r>
              <a:rPr lang="en-US" sz="1200" dirty="0">
                <a:solidFill>
                  <a:srgbClr val="F1F5F9"/>
                </a:solidFill>
                <a:latin typeface="Calibri" pitchFamily="34" charset="0"/>
                <a:ea typeface="Calibri" pitchFamily="34" charset="-122"/>
                <a:cs typeface="Calibri" pitchFamily="34" charset="-120"/>
              </a:rPr>
              <a:t>DON’T use it</a:t>
            </a:r>
            <a:endParaRPr lang="en-US" sz="1200" dirty="0"/>
          </a:p>
        </p:txBody>
      </p:sp>
      <p:sp>
        <p:nvSpPr>
          <p:cNvPr id="12" name="Text 10"/>
          <p:cNvSpPr/>
          <p:nvPr/>
        </p:nvSpPr>
        <p:spPr>
          <a:xfrm>
            <a:off x="2926080" y="2148840"/>
            <a:ext cx="5577840" cy="777240"/>
          </a:xfrm>
          <a:prstGeom prst="rect">
            <a:avLst/>
          </a:prstGeom>
          <a:noFill/>
          <a:ln/>
        </p:spPr>
        <p:txBody>
          <a:bodyPr wrap="square" lIns="0" tIns="0" rIns="0" bIns="0" rtlCol="0" anchor="ctr"/>
          <a:lstStyle/>
          <a:p>
            <a:pPr marL="0" indent="0">
              <a:buNone/>
            </a:pPr>
            <a:r>
              <a:rPr lang="en-US" sz="1300" dirty="0">
                <a:solidFill>
                  <a:srgbClr val="94A3B8"/>
                </a:solidFill>
                <a:latin typeface="Calibri" pitchFamily="34" charset="0"/>
                <a:ea typeface="Calibri" pitchFamily="34" charset="-122"/>
                <a:cs typeface="Calibri" pitchFamily="34" charset="-120"/>
              </a:rPr>
              <a:t>You need to stay on the UI thread to update controls</a:t>
            </a:r>
            <a:endParaRPr lang="en-US" sz="1300" dirty="0"/>
          </a:p>
        </p:txBody>
      </p:sp>
      <p:sp>
        <p:nvSpPr>
          <p:cNvPr id="13" name="Shape 11"/>
          <p:cNvSpPr/>
          <p:nvPr/>
        </p:nvSpPr>
        <p:spPr>
          <a:xfrm>
            <a:off x="457200" y="3108960"/>
            <a:ext cx="8229600" cy="777240"/>
          </a:xfrm>
          <a:prstGeom prst="rect">
            <a:avLst/>
          </a:prstGeom>
          <a:solidFill>
            <a:srgbClr val="1E293B"/>
          </a:solidFill>
          <a:ln/>
        </p:spPr>
        <p:txBody>
          <a:bodyPr/>
          <a:lstStyle/>
          <a:p>
            <a:endParaRPr lang="en-US"/>
          </a:p>
        </p:txBody>
      </p:sp>
      <p:sp>
        <p:nvSpPr>
          <p:cNvPr id="14" name="Shape 12"/>
          <p:cNvSpPr/>
          <p:nvPr/>
        </p:nvSpPr>
        <p:spPr>
          <a:xfrm>
            <a:off x="457200" y="3108960"/>
            <a:ext cx="73152" cy="777240"/>
          </a:xfrm>
          <a:prstGeom prst="rect">
            <a:avLst/>
          </a:prstGeom>
          <a:solidFill>
            <a:srgbClr val="FBBF24"/>
          </a:solidFill>
          <a:ln/>
        </p:spPr>
        <p:txBody>
          <a:bodyPr/>
          <a:lstStyle/>
          <a:p>
            <a:endParaRPr lang="en-US"/>
          </a:p>
        </p:txBody>
      </p:sp>
      <p:sp>
        <p:nvSpPr>
          <p:cNvPr id="15" name="Text 13"/>
          <p:cNvSpPr/>
          <p:nvPr/>
        </p:nvSpPr>
        <p:spPr>
          <a:xfrm>
            <a:off x="731520" y="3108960"/>
            <a:ext cx="2011680" cy="365760"/>
          </a:xfrm>
          <a:prstGeom prst="rect">
            <a:avLst/>
          </a:prstGeom>
          <a:noFill/>
          <a:ln/>
        </p:spPr>
        <p:txBody>
          <a:bodyPr wrap="square" lIns="0" tIns="0" rIns="0" bIns="0" rtlCol="0" anchor="ctr"/>
          <a:lstStyle/>
          <a:p>
            <a:pPr marL="0" indent="0">
              <a:buNone/>
            </a:pPr>
            <a:r>
              <a:rPr lang="en-US" sz="1400" b="1" dirty="0">
                <a:solidFill>
                  <a:srgbClr val="FBBF24"/>
                </a:solidFill>
                <a:latin typeface="Calibri" pitchFamily="34" charset="0"/>
                <a:ea typeface="Calibri" pitchFamily="34" charset="-122"/>
                <a:cs typeface="Calibri" pitchFamily="34" charset="-120"/>
              </a:rPr>
              <a:t>ASP.NET Core</a:t>
            </a:r>
            <a:endParaRPr lang="en-US" sz="1400" dirty="0"/>
          </a:p>
        </p:txBody>
      </p:sp>
      <p:sp>
        <p:nvSpPr>
          <p:cNvPr id="16" name="Text 14"/>
          <p:cNvSpPr/>
          <p:nvPr/>
        </p:nvSpPr>
        <p:spPr>
          <a:xfrm>
            <a:off x="731520" y="3456432"/>
            <a:ext cx="2011680" cy="365760"/>
          </a:xfrm>
          <a:prstGeom prst="rect">
            <a:avLst/>
          </a:prstGeom>
          <a:noFill/>
          <a:ln/>
        </p:spPr>
        <p:txBody>
          <a:bodyPr wrap="square" lIns="0" tIns="0" rIns="0" bIns="0" rtlCol="0" anchor="t"/>
          <a:lstStyle/>
          <a:p>
            <a:pPr marL="0" indent="0">
              <a:buNone/>
            </a:pPr>
            <a:r>
              <a:rPr lang="en-US" sz="1200" dirty="0">
                <a:solidFill>
                  <a:srgbClr val="F1F5F9"/>
                </a:solidFill>
                <a:latin typeface="Calibri" pitchFamily="34" charset="0"/>
                <a:ea typeface="Calibri" pitchFamily="34" charset="-122"/>
                <a:cs typeface="Calibri" pitchFamily="34" charset="-120"/>
              </a:rPr>
              <a:t>Largely a no-op</a:t>
            </a:r>
            <a:endParaRPr lang="en-US" sz="1200" dirty="0"/>
          </a:p>
        </p:txBody>
      </p:sp>
      <p:sp>
        <p:nvSpPr>
          <p:cNvPr id="17" name="Text 15"/>
          <p:cNvSpPr/>
          <p:nvPr/>
        </p:nvSpPr>
        <p:spPr>
          <a:xfrm>
            <a:off x="2926080" y="3108960"/>
            <a:ext cx="5577840" cy="777240"/>
          </a:xfrm>
          <a:prstGeom prst="rect">
            <a:avLst/>
          </a:prstGeom>
          <a:noFill/>
          <a:ln/>
        </p:spPr>
        <p:txBody>
          <a:bodyPr wrap="square" lIns="0" tIns="0" rIns="0" bIns="0" rtlCol="0" anchor="ctr"/>
          <a:lstStyle/>
          <a:p>
            <a:pPr marL="0" indent="0">
              <a:buNone/>
            </a:pPr>
            <a:r>
              <a:rPr lang="en-US" sz="1300" dirty="0">
                <a:solidFill>
                  <a:srgbClr val="94A3B8"/>
                </a:solidFill>
                <a:latin typeface="Calibri" pitchFamily="34" charset="0"/>
                <a:ea typeface="Calibri" pitchFamily="34" charset="-122"/>
                <a:cs typeface="Calibri" pitchFamily="34" charset="-120"/>
              </a:rPr>
              <a:t>No SynchronizationContext exists, but good habit in libraries</a:t>
            </a:r>
            <a:endParaRPr lang="en-US" sz="1300" dirty="0"/>
          </a:p>
        </p:txBody>
      </p:sp>
      <p:sp>
        <p:nvSpPr>
          <p:cNvPr id="18" name="Shape 16"/>
          <p:cNvSpPr/>
          <p:nvPr/>
        </p:nvSpPr>
        <p:spPr>
          <a:xfrm>
            <a:off x="457200" y="4206240"/>
            <a:ext cx="8229600" cy="640080"/>
          </a:xfrm>
          <a:prstGeom prst="rect">
            <a:avLst/>
          </a:prstGeom>
          <a:solidFill>
            <a:srgbClr val="1E293B"/>
          </a:solidFill>
          <a:ln/>
        </p:spPr>
        <p:txBody>
          <a:bodyPr/>
          <a:lstStyle/>
          <a:p>
            <a:endParaRPr lang="en-US" dirty="0"/>
          </a:p>
        </p:txBody>
      </p:sp>
      <p:sp>
        <p:nvSpPr>
          <p:cNvPr id="19" name="Shape 17"/>
          <p:cNvSpPr/>
          <p:nvPr/>
        </p:nvSpPr>
        <p:spPr>
          <a:xfrm>
            <a:off x="457200" y="4206240"/>
            <a:ext cx="73152" cy="640080"/>
          </a:xfrm>
          <a:prstGeom prst="rect">
            <a:avLst/>
          </a:prstGeom>
          <a:solidFill>
            <a:srgbClr val="38BDF8"/>
          </a:solidFill>
          <a:ln/>
        </p:spPr>
        <p:txBody>
          <a:bodyPr/>
          <a:lstStyle/>
          <a:p>
            <a:endParaRPr lang="en-US"/>
          </a:p>
        </p:txBody>
      </p:sp>
      <p:sp>
        <p:nvSpPr>
          <p:cNvPr id="20" name="Text 18"/>
          <p:cNvSpPr/>
          <p:nvPr/>
        </p:nvSpPr>
        <p:spPr>
          <a:xfrm>
            <a:off x="777240" y="4206240"/>
            <a:ext cx="7772400" cy="640080"/>
          </a:xfrm>
          <a:prstGeom prst="rect">
            <a:avLst/>
          </a:prstGeom>
          <a:noFill/>
          <a:ln/>
        </p:spPr>
        <p:txBody>
          <a:bodyPr wrap="square" lIns="0" tIns="0" rIns="0" bIns="0" rtlCol="0" anchor="ctr"/>
          <a:lstStyle/>
          <a:p>
            <a:pPr marL="0" indent="0">
              <a:buNone/>
            </a:pPr>
            <a:r>
              <a:rPr lang="en-US" sz="1300" i="1" dirty="0">
                <a:solidFill>
                  <a:srgbClr val="F1F5F9"/>
                </a:solidFill>
                <a:latin typeface="Calibri" pitchFamily="34" charset="0"/>
                <a:ea typeface="Calibri" pitchFamily="34" charset="-122"/>
                <a:cs typeface="Calibri" pitchFamily="34" charset="-120"/>
              </a:rPr>
              <a:t>ConfigureAwait(false) is a correctness and performance tool for library authors, but it comes with maintainability tradeoffs</a:t>
            </a:r>
            <a:endParaRPr lang="en-US" sz="1300" dirty="0"/>
          </a:p>
        </p:txBody>
      </p:sp>
      <p:sp>
        <p:nvSpPr>
          <p:cNvPr id="21" name="Text 19"/>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33</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5">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38BDF8"/>
          </a:solidFill>
          <a:ln/>
        </p:spPr>
        <p:txBody>
          <a:bodyPr/>
          <a:lstStyle/>
          <a:p>
            <a:endParaRPr lang="en-US"/>
          </a:p>
        </p:txBody>
      </p:sp>
      <p:sp>
        <p:nvSpPr>
          <p:cNvPr id="3" name="Text 1"/>
          <p:cNvSpPr/>
          <p:nvPr/>
        </p:nvSpPr>
        <p:spPr>
          <a:xfrm>
            <a:off x="548640" y="914400"/>
            <a:ext cx="1828800" cy="1097280"/>
          </a:xfrm>
          <a:prstGeom prst="rect">
            <a:avLst/>
          </a:prstGeom>
          <a:noFill/>
          <a:ln/>
        </p:spPr>
        <p:txBody>
          <a:bodyPr wrap="square" lIns="0" tIns="0" rIns="0" bIns="0" rtlCol="0" anchor="ctr"/>
          <a:lstStyle/>
          <a:p>
            <a:pPr marL="0" indent="0">
              <a:buNone/>
            </a:pPr>
            <a:r>
              <a:rPr lang="en-US" sz="6000" b="1" dirty="0">
                <a:solidFill>
                  <a:srgbClr val="38BDF8"/>
                </a:solidFill>
                <a:latin typeface="Trebuchet MS" pitchFamily="34" charset="0"/>
                <a:ea typeface="Trebuchet MS" pitchFamily="34" charset="-122"/>
                <a:cs typeface="Trebuchet MS" pitchFamily="34" charset="-120"/>
              </a:rPr>
              <a:t>11</a:t>
            </a:r>
            <a:endParaRPr lang="en-US" sz="6000" dirty="0"/>
          </a:p>
        </p:txBody>
      </p:sp>
      <p:sp>
        <p:nvSpPr>
          <p:cNvPr id="4" name="Text 2"/>
          <p:cNvSpPr/>
          <p:nvPr/>
        </p:nvSpPr>
        <p:spPr>
          <a:xfrm>
            <a:off x="548640" y="1920240"/>
            <a:ext cx="7772400" cy="1097280"/>
          </a:xfrm>
          <a:prstGeom prst="rect">
            <a:avLst/>
          </a:prstGeom>
          <a:noFill/>
          <a:ln/>
        </p:spPr>
        <p:txBody>
          <a:bodyPr wrap="square" lIns="0" tIns="0" rIns="0" bIns="0" rtlCol="0" anchor="ctr"/>
          <a:lstStyle/>
          <a:p>
            <a:pPr marL="0" indent="0">
              <a:buNone/>
            </a:pPr>
            <a:r>
              <a:rPr lang="en-US" sz="3600" b="1" dirty="0">
                <a:solidFill>
                  <a:srgbClr val="F1F5F9"/>
                </a:solidFill>
                <a:latin typeface="Trebuchet MS" pitchFamily="34" charset="0"/>
                <a:ea typeface="Trebuchet MS" pitchFamily="34" charset="-122"/>
                <a:cs typeface="Trebuchet MS" pitchFamily="34" charset="-120"/>
              </a:rPr>
              <a:t>Putting It All Together</a:t>
            </a:r>
            <a:endParaRPr lang="en-US" sz="3600" dirty="0"/>
          </a:p>
        </p:txBody>
      </p:sp>
      <p:sp>
        <p:nvSpPr>
          <p:cNvPr id="5" name="Text 3"/>
          <p:cNvSpPr/>
          <p:nvPr/>
        </p:nvSpPr>
        <p:spPr>
          <a:xfrm>
            <a:off x="548640" y="2926080"/>
            <a:ext cx="7315200" cy="731520"/>
          </a:xfrm>
          <a:prstGeom prst="rect">
            <a:avLst/>
          </a:prstGeom>
          <a:noFill/>
          <a:ln/>
        </p:spPr>
        <p:txBody>
          <a:bodyPr wrap="square" lIns="0" tIns="0" rIns="0" bIns="0" rtlCol="0" anchor="ctr"/>
          <a:lstStyle/>
          <a:p>
            <a:pPr marL="0" indent="0">
              <a:buNone/>
            </a:pPr>
            <a:r>
              <a:rPr lang="en-US" sz="1600" dirty="0">
                <a:solidFill>
                  <a:srgbClr val="94A3B8"/>
                </a:solidFill>
                <a:latin typeface="Calibri" pitchFamily="34" charset="0"/>
                <a:ea typeface="Calibri" pitchFamily="34" charset="-122"/>
                <a:cs typeface="Calibri" pitchFamily="34" charset="-120"/>
              </a:rPr>
              <a:t>The complete mental model</a:t>
            </a:r>
            <a:endParaRPr lang="en-US" sz="1600" dirty="0"/>
          </a:p>
        </p:txBody>
      </p:sp>
      <p:sp>
        <p:nvSpPr>
          <p:cNvPr id="6" name="Text 4"/>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34</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6">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F1F5F9"/>
                </a:solidFill>
                <a:latin typeface="Trebuchet MS" pitchFamily="34" charset="0"/>
                <a:ea typeface="Trebuchet MS" pitchFamily="34" charset="-122"/>
                <a:cs typeface="Trebuchet MS" pitchFamily="34" charset="-120"/>
              </a:rPr>
              <a:t>The Complete Picture</a:t>
            </a:r>
            <a:endParaRPr lang="en-US" sz="2800" dirty="0"/>
          </a:p>
        </p:txBody>
      </p:sp>
      <p:sp>
        <p:nvSpPr>
          <p:cNvPr id="3" name="Shape 1"/>
          <p:cNvSpPr/>
          <p:nvPr/>
        </p:nvSpPr>
        <p:spPr>
          <a:xfrm>
            <a:off x="457200" y="777240"/>
            <a:ext cx="64008" cy="347472"/>
          </a:xfrm>
          <a:prstGeom prst="rect">
            <a:avLst/>
          </a:prstGeom>
          <a:solidFill>
            <a:srgbClr val="38BDF8"/>
          </a:solidFill>
          <a:ln/>
        </p:spPr>
        <p:txBody>
          <a:bodyPr/>
          <a:lstStyle/>
          <a:p>
            <a:endParaRPr lang="en-US"/>
          </a:p>
        </p:txBody>
      </p:sp>
      <p:sp>
        <p:nvSpPr>
          <p:cNvPr id="4" name="Text 2"/>
          <p:cNvSpPr/>
          <p:nvPr/>
        </p:nvSpPr>
        <p:spPr>
          <a:xfrm>
            <a:off x="640080" y="777240"/>
            <a:ext cx="411480" cy="347472"/>
          </a:xfrm>
          <a:prstGeom prst="rect">
            <a:avLst/>
          </a:prstGeom>
          <a:noFill/>
          <a:ln/>
        </p:spPr>
        <p:txBody>
          <a:bodyPr wrap="square" lIns="0" tIns="0" rIns="0" bIns="0" rtlCol="0" anchor="ctr"/>
          <a:lstStyle/>
          <a:p>
            <a:pPr marL="0" indent="0">
              <a:buNone/>
            </a:pPr>
            <a:r>
              <a:rPr lang="en-US" sz="1000" dirty="0">
                <a:solidFill>
                  <a:srgbClr val="94A3B8"/>
                </a:solidFill>
                <a:latin typeface="Consolas" pitchFamily="34" charset="0"/>
                <a:ea typeface="Consolas" pitchFamily="34" charset="-122"/>
                <a:cs typeface="Consolas" pitchFamily="34" charset="-120"/>
              </a:rPr>
              <a:t>01</a:t>
            </a:r>
            <a:endParaRPr lang="en-US" sz="1000" dirty="0"/>
          </a:p>
        </p:txBody>
      </p:sp>
      <p:sp>
        <p:nvSpPr>
          <p:cNvPr id="5" name="Text 3"/>
          <p:cNvSpPr/>
          <p:nvPr/>
        </p:nvSpPr>
        <p:spPr>
          <a:xfrm>
            <a:off x="1051560" y="777240"/>
            <a:ext cx="2377440" cy="347472"/>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Why async exists</a:t>
            </a:r>
            <a:endParaRPr lang="en-US" sz="1200" dirty="0"/>
          </a:p>
        </p:txBody>
      </p:sp>
      <p:sp>
        <p:nvSpPr>
          <p:cNvPr id="6" name="Text 4"/>
          <p:cNvSpPr/>
          <p:nvPr/>
        </p:nvSpPr>
        <p:spPr>
          <a:xfrm>
            <a:off x="3474720" y="777240"/>
            <a:ext cx="5212080" cy="347472"/>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Free threads during waits, not parallelism</a:t>
            </a:r>
            <a:endParaRPr lang="en-US" sz="1200" dirty="0"/>
          </a:p>
        </p:txBody>
      </p:sp>
      <p:sp>
        <p:nvSpPr>
          <p:cNvPr id="7" name="Shape 5"/>
          <p:cNvSpPr/>
          <p:nvPr/>
        </p:nvSpPr>
        <p:spPr>
          <a:xfrm>
            <a:off x="457200" y="1188720"/>
            <a:ext cx="64008" cy="347472"/>
          </a:xfrm>
          <a:prstGeom prst="rect">
            <a:avLst/>
          </a:prstGeom>
          <a:solidFill>
            <a:srgbClr val="38BDF8"/>
          </a:solidFill>
          <a:ln/>
        </p:spPr>
        <p:txBody>
          <a:bodyPr/>
          <a:lstStyle/>
          <a:p>
            <a:endParaRPr lang="en-US"/>
          </a:p>
        </p:txBody>
      </p:sp>
      <p:sp>
        <p:nvSpPr>
          <p:cNvPr id="8" name="Text 6"/>
          <p:cNvSpPr/>
          <p:nvPr/>
        </p:nvSpPr>
        <p:spPr>
          <a:xfrm>
            <a:off x="640080" y="1188720"/>
            <a:ext cx="411480" cy="347472"/>
          </a:xfrm>
          <a:prstGeom prst="rect">
            <a:avLst/>
          </a:prstGeom>
          <a:noFill/>
          <a:ln/>
        </p:spPr>
        <p:txBody>
          <a:bodyPr wrap="square" lIns="0" tIns="0" rIns="0" bIns="0" rtlCol="0" anchor="ctr"/>
          <a:lstStyle/>
          <a:p>
            <a:pPr marL="0" indent="0">
              <a:buNone/>
            </a:pPr>
            <a:r>
              <a:rPr lang="en-GB" sz="1000" dirty="0">
                <a:solidFill>
                  <a:srgbClr val="94A3B8"/>
                </a:solidFill>
                <a:latin typeface="Consolas" pitchFamily="34" charset="0"/>
              </a:rPr>
              <a:t>0</a:t>
            </a:r>
            <a:r>
              <a:rPr lang="en-US" sz="1000" dirty="0">
                <a:solidFill>
                  <a:srgbClr val="94A3B8"/>
                </a:solidFill>
                <a:latin typeface="Consolas" pitchFamily="34" charset="0"/>
              </a:rPr>
              <a:t>2</a:t>
            </a:r>
            <a:endParaRPr lang="en-US" sz="1000" dirty="0"/>
          </a:p>
        </p:txBody>
      </p:sp>
      <p:sp>
        <p:nvSpPr>
          <p:cNvPr id="9" name="Text 7"/>
          <p:cNvSpPr/>
          <p:nvPr/>
        </p:nvSpPr>
        <p:spPr>
          <a:xfrm>
            <a:off x="1051560" y="1188720"/>
            <a:ext cx="2377440" cy="347472"/>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Before await</a:t>
            </a:r>
            <a:endParaRPr lang="en-US" sz="1200" dirty="0"/>
          </a:p>
        </p:txBody>
      </p:sp>
      <p:sp>
        <p:nvSpPr>
          <p:cNvPr id="10" name="Text 8"/>
          <p:cNvSpPr/>
          <p:nvPr/>
        </p:nvSpPr>
        <p:spPr>
          <a:xfrm>
            <a:off x="3474720" y="1188720"/>
            <a:ext cx="5212080" cy="347472"/>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Callback hell with ContinueWith</a:t>
            </a:r>
            <a:endParaRPr lang="en-US" sz="1200" dirty="0"/>
          </a:p>
        </p:txBody>
      </p:sp>
      <p:sp>
        <p:nvSpPr>
          <p:cNvPr id="11" name="Shape 9"/>
          <p:cNvSpPr/>
          <p:nvPr/>
        </p:nvSpPr>
        <p:spPr>
          <a:xfrm>
            <a:off x="457200" y="1600200"/>
            <a:ext cx="64008" cy="347472"/>
          </a:xfrm>
          <a:prstGeom prst="rect">
            <a:avLst/>
          </a:prstGeom>
          <a:solidFill>
            <a:srgbClr val="A78BFA"/>
          </a:solidFill>
          <a:ln/>
        </p:spPr>
        <p:txBody>
          <a:bodyPr/>
          <a:lstStyle/>
          <a:p>
            <a:endParaRPr lang="en-US"/>
          </a:p>
        </p:txBody>
      </p:sp>
      <p:sp>
        <p:nvSpPr>
          <p:cNvPr id="12" name="Text 10"/>
          <p:cNvSpPr/>
          <p:nvPr/>
        </p:nvSpPr>
        <p:spPr>
          <a:xfrm>
            <a:off x="640080" y="1600200"/>
            <a:ext cx="411480" cy="347472"/>
          </a:xfrm>
          <a:prstGeom prst="rect">
            <a:avLst/>
          </a:prstGeom>
          <a:noFill/>
          <a:ln/>
        </p:spPr>
        <p:txBody>
          <a:bodyPr wrap="square" lIns="0" tIns="0" rIns="0" bIns="0" rtlCol="0" anchor="ctr"/>
          <a:lstStyle/>
          <a:p>
            <a:pPr marL="0" indent="0">
              <a:buNone/>
            </a:pPr>
            <a:r>
              <a:rPr lang="en-US" sz="1000" dirty="0">
                <a:solidFill>
                  <a:srgbClr val="94A3B8"/>
                </a:solidFill>
                <a:latin typeface="Consolas" pitchFamily="34" charset="0"/>
                <a:ea typeface="Consolas" pitchFamily="34" charset="-122"/>
                <a:cs typeface="Consolas" pitchFamily="34" charset="-120"/>
              </a:rPr>
              <a:t>03</a:t>
            </a:r>
            <a:endParaRPr lang="en-US" sz="1000" dirty="0"/>
          </a:p>
        </p:txBody>
      </p:sp>
      <p:sp>
        <p:nvSpPr>
          <p:cNvPr id="13" name="Text 11"/>
          <p:cNvSpPr/>
          <p:nvPr/>
        </p:nvSpPr>
        <p:spPr>
          <a:xfrm>
            <a:off x="1051560" y="1600200"/>
            <a:ext cx="2377440" cy="347472"/>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Task</a:t>
            </a:r>
            <a:endParaRPr lang="en-US" sz="1200" dirty="0"/>
          </a:p>
        </p:txBody>
      </p:sp>
      <p:sp>
        <p:nvSpPr>
          <p:cNvPr id="14" name="Text 12"/>
          <p:cNvSpPr/>
          <p:nvPr/>
        </p:nvSpPr>
        <p:spPr>
          <a:xfrm>
            <a:off x="3474720" y="1600200"/>
            <a:ext cx="5212080" cy="347472"/>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A promise (data structure), not a thread</a:t>
            </a:r>
            <a:endParaRPr lang="en-US" sz="1200" dirty="0"/>
          </a:p>
        </p:txBody>
      </p:sp>
      <p:sp>
        <p:nvSpPr>
          <p:cNvPr id="15" name="Shape 13"/>
          <p:cNvSpPr/>
          <p:nvPr/>
        </p:nvSpPr>
        <p:spPr>
          <a:xfrm>
            <a:off x="457200" y="2423160"/>
            <a:ext cx="64008" cy="347472"/>
          </a:xfrm>
          <a:prstGeom prst="rect">
            <a:avLst/>
          </a:prstGeom>
          <a:solidFill>
            <a:srgbClr val="A78BFA"/>
          </a:solidFill>
          <a:ln/>
        </p:spPr>
        <p:txBody>
          <a:bodyPr/>
          <a:lstStyle/>
          <a:p>
            <a:endParaRPr lang="en-US"/>
          </a:p>
        </p:txBody>
      </p:sp>
      <p:sp>
        <p:nvSpPr>
          <p:cNvPr id="16" name="Text 14"/>
          <p:cNvSpPr/>
          <p:nvPr/>
        </p:nvSpPr>
        <p:spPr>
          <a:xfrm>
            <a:off x="640080" y="2423160"/>
            <a:ext cx="411480" cy="347472"/>
          </a:xfrm>
          <a:prstGeom prst="rect">
            <a:avLst/>
          </a:prstGeom>
          <a:noFill/>
          <a:ln/>
        </p:spPr>
        <p:txBody>
          <a:bodyPr wrap="square" lIns="0" tIns="0" rIns="0" bIns="0" rtlCol="0" anchor="ctr"/>
          <a:lstStyle/>
          <a:p>
            <a:pPr marL="0" indent="0">
              <a:buNone/>
            </a:pPr>
            <a:r>
              <a:rPr lang="en-US" sz="1000" dirty="0">
                <a:solidFill>
                  <a:srgbClr val="94A3B8"/>
                </a:solidFill>
                <a:latin typeface="Consolas" pitchFamily="34" charset="0"/>
                <a:ea typeface="Consolas" pitchFamily="34" charset="-122"/>
                <a:cs typeface="Consolas" pitchFamily="34" charset="-120"/>
              </a:rPr>
              <a:t>05</a:t>
            </a:r>
            <a:endParaRPr lang="en-US" sz="1000" dirty="0"/>
          </a:p>
        </p:txBody>
      </p:sp>
      <p:sp>
        <p:nvSpPr>
          <p:cNvPr id="17" name="Text 15"/>
          <p:cNvSpPr/>
          <p:nvPr/>
        </p:nvSpPr>
        <p:spPr>
          <a:xfrm>
            <a:off x="1051560" y="2423160"/>
            <a:ext cx="2377440" cy="347472"/>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ThreadPool</a:t>
            </a:r>
            <a:endParaRPr lang="en-US" sz="1200" dirty="0"/>
          </a:p>
        </p:txBody>
      </p:sp>
      <p:sp>
        <p:nvSpPr>
          <p:cNvPr id="18" name="Text 16"/>
          <p:cNvSpPr/>
          <p:nvPr/>
        </p:nvSpPr>
        <p:spPr>
          <a:xfrm>
            <a:off x="3474720" y="2423160"/>
            <a:ext cx="5212080" cy="347472"/>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Default engine for work items and continuations</a:t>
            </a:r>
            <a:endParaRPr lang="en-US" sz="1200" dirty="0"/>
          </a:p>
        </p:txBody>
      </p:sp>
      <p:sp>
        <p:nvSpPr>
          <p:cNvPr id="19" name="Shape 17"/>
          <p:cNvSpPr/>
          <p:nvPr/>
        </p:nvSpPr>
        <p:spPr>
          <a:xfrm>
            <a:off x="457200" y="2834640"/>
            <a:ext cx="64008" cy="347472"/>
          </a:xfrm>
          <a:prstGeom prst="rect">
            <a:avLst/>
          </a:prstGeom>
          <a:solidFill>
            <a:srgbClr val="4ADE80"/>
          </a:solidFill>
          <a:ln/>
        </p:spPr>
        <p:txBody>
          <a:bodyPr/>
          <a:lstStyle/>
          <a:p>
            <a:endParaRPr lang="en-US"/>
          </a:p>
        </p:txBody>
      </p:sp>
      <p:sp>
        <p:nvSpPr>
          <p:cNvPr id="20" name="Text 18"/>
          <p:cNvSpPr/>
          <p:nvPr/>
        </p:nvSpPr>
        <p:spPr>
          <a:xfrm>
            <a:off x="640080" y="2834640"/>
            <a:ext cx="411480" cy="347472"/>
          </a:xfrm>
          <a:prstGeom prst="rect">
            <a:avLst/>
          </a:prstGeom>
          <a:noFill/>
          <a:ln/>
        </p:spPr>
        <p:txBody>
          <a:bodyPr wrap="square" lIns="0" tIns="0" rIns="0" bIns="0" rtlCol="0" anchor="ctr"/>
          <a:lstStyle/>
          <a:p>
            <a:pPr marL="0" indent="0">
              <a:buNone/>
            </a:pPr>
            <a:r>
              <a:rPr lang="en-US" sz="1000" dirty="0">
                <a:solidFill>
                  <a:srgbClr val="94A3B8"/>
                </a:solidFill>
                <a:latin typeface="Consolas" pitchFamily="34" charset="0"/>
                <a:ea typeface="Consolas" pitchFamily="34" charset="-122"/>
                <a:cs typeface="Consolas" pitchFamily="34" charset="-120"/>
              </a:rPr>
              <a:t>06</a:t>
            </a:r>
            <a:endParaRPr lang="en-US" sz="1000" dirty="0"/>
          </a:p>
        </p:txBody>
      </p:sp>
      <p:sp>
        <p:nvSpPr>
          <p:cNvPr id="21" name="Text 19"/>
          <p:cNvSpPr/>
          <p:nvPr/>
        </p:nvSpPr>
        <p:spPr>
          <a:xfrm>
            <a:off x="1051560" y="2834640"/>
            <a:ext cx="2377440" cy="347472"/>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SynchronizationContext</a:t>
            </a:r>
            <a:endParaRPr lang="en-US" sz="1200" dirty="0"/>
          </a:p>
        </p:txBody>
      </p:sp>
      <p:sp>
        <p:nvSpPr>
          <p:cNvPr id="22" name="Text 20"/>
          <p:cNvSpPr/>
          <p:nvPr/>
        </p:nvSpPr>
        <p:spPr>
          <a:xfrm>
            <a:off x="3474720" y="2834640"/>
            <a:ext cx="5212080" cy="347472"/>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Decides where continuations run</a:t>
            </a:r>
            <a:endParaRPr lang="en-US" sz="1200" dirty="0"/>
          </a:p>
        </p:txBody>
      </p:sp>
      <p:sp>
        <p:nvSpPr>
          <p:cNvPr id="23" name="Shape 21"/>
          <p:cNvSpPr/>
          <p:nvPr/>
        </p:nvSpPr>
        <p:spPr>
          <a:xfrm>
            <a:off x="457200" y="3246120"/>
            <a:ext cx="64008" cy="347472"/>
          </a:xfrm>
          <a:prstGeom prst="rect">
            <a:avLst/>
          </a:prstGeom>
          <a:solidFill>
            <a:srgbClr val="4ADE80"/>
          </a:solidFill>
          <a:ln/>
        </p:spPr>
        <p:txBody>
          <a:bodyPr/>
          <a:lstStyle/>
          <a:p>
            <a:endParaRPr lang="en-US"/>
          </a:p>
        </p:txBody>
      </p:sp>
      <p:sp>
        <p:nvSpPr>
          <p:cNvPr id="24" name="Text 22"/>
          <p:cNvSpPr/>
          <p:nvPr/>
        </p:nvSpPr>
        <p:spPr>
          <a:xfrm>
            <a:off x="640080" y="3246120"/>
            <a:ext cx="411480" cy="347472"/>
          </a:xfrm>
          <a:prstGeom prst="rect">
            <a:avLst/>
          </a:prstGeom>
          <a:noFill/>
          <a:ln/>
        </p:spPr>
        <p:txBody>
          <a:bodyPr wrap="square" lIns="0" tIns="0" rIns="0" bIns="0" rtlCol="0" anchor="ctr"/>
          <a:lstStyle/>
          <a:p>
            <a:pPr marL="0" indent="0">
              <a:buNone/>
            </a:pPr>
            <a:r>
              <a:rPr lang="en-US" sz="1000" dirty="0">
                <a:solidFill>
                  <a:srgbClr val="94A3B8"/>
                </a:solidFill>
                <a:latin typeface="Consolas" pitchFamily="34" charset="0"/>
                <a:ea typeface="Consolas" pitchFamily="34" charset="-122"/>
                <a:cs typeface="Consolas" pitchFamily="34" charset="-120"/>
              </a:rPr>
              <a:t>07</a:t>
            </a:r>
            <a:endParaRPr lang="en-US" sz="1000" dirty="0"/>
          </a:p>
        </p:txBody>
      </p:sp>
      <p:sp>
        <p:nvSpPr>
          <p:cNvPr id="25" name="Text 23"/>
          <p:cNvSpPr/>
          <p:nvPr/>
        </p:nvSpPr>
        <p:spPr>
          <a:xfrm>
            <a:off x="1051560" y="3246120"/>
            <a:ext cx="2377440" cy="347472"/>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ExecutionContext</a:t>
            </a:r>
            <a:endParaRPr lang="en-US" sz="1200" dirty="0"/>
          </a:p>
        </p:txBody>
      </p:sp>
      <p:sp>
        <p:nvSpPr>
          <p:cNvPr id="26" name="Text 24"/>
          <p:cNvSpPr/>
          <p:nvPr/>
        </p:nvSpPr>
        <p:spPr>
          <a:xfrm>
            <a:off x="3474720" y="3246120"/>
            <a:ext cx="5212080" cy="347472"/>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Ambient state flows across thread hops</a:t>
            </a:r>
            <a:endParaRPr lang="en-US" sz="1200" dirty="0"/>
          </a:p>
        </p:txBody>
      </p:sp>
      <p:sp>
        <p:nvSpPr>
          <p:cNvPr id="27" name="Shape 25"/>
          <p:cNvSpPr/>
          <p:nvPr/>
        </p:nvSpPr>
        <p:spPr>
          <a:xfrm>
            <a:off x="457200" y="3657600"/>
            <a:ext cx="64008" cy="347472"/>
          </a:xfrm>
          <a:prstGeom prst="rect">
            <a:avLst/>
          </a:prstGeom>
          <a:solidFill>
            <a:srgbClr val="FBBF24"/>
          </a:solidFill>
          <a:ln/>
        </p:spPr>
        <p:txBody>
          <a:bodyPr/>
          <a:lstStyle/>
          <a:p>
            <a:endParaRPr lang="en-US"/>
          </a:p>
        </p:txBody>
      </p:sp>
      <p:sp>
        <p:nvSpPr>
          <p:cNvPr id="28" name="Text 26"/>
          <p:cNvSpPr/>
          <p:nvPr/>
        </p:nvSpPr>
        <p:spPr>
          <a:xfrm>
            <a:off x="640080" y="3657600"/>
            <a:ext cx="411480" cy="347472"/>
          </a:xfrm>
          <a:prstGeom prst="rect">
            <a:avLst/>
          </a:prstGeom>
          <a:noFill/>
          <a:ln/>
        </p:spPr>
        <p:txBody>
          <a:bodyPr wrap="square" lIns="0" tIns="0" rIns="0" bIns="0" rtlCol="0" anchor="ctr"/>
          <a:lstStyle/>
          <a:p>
            <a:pPr marL="0" indent="0">
              <a:buNone/>
            </a:pPr>
            <a:r>
              <a:rPr lang="en-US" sz="1000" dirty="0">
                <a:solidFill>
                  <a:srgbClr val="94A3B8"/>
                </a:solidFill>
                <a:latin typeface="Consolas" pitchFamily="34" charset="0"/>
                <a:ea typeface="Consolas" pitchFamily="34" charset="-122"/>
                <a:cs typeface="Consolas" pitchFamily="34" charset="-120"/>
              </a:rPr>
              <a:t>08</a:t>
            </a:r>
            <a:endParaRPr lang="en-US" sz="1000" dirty="0"/>
          </a:p>
        </p:txBody>
      </p:sp>
      <p:sp>
        <p:nvSpPr>
          <p:cNvPr id="29" name="Text 27"/>
          <p:cNvSpPr/>
          <p:nvPr/>
        </p:nvSpPr>
        <p:spPr>
          <a:xfrm>
            <a:off x="1051560" y="3657600"/>
            <a:ext cx="2377440" cy="347472"/>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Awaitable pattern</a:t>
            </a:r>
            <a:endParaRPr lang="en-US" sz="1200" dirty="0"/>
          </a:p>
        </p:txBody>
      </p:sp>
      <p:sp>
        <p:nvSpPr>
          <p:cNvPr id="30" name="Text 28"/>
          <p:cNvSpPr/>
          <p:nvPr/>
        </p:nvSpPr>
        <p:spPr>
          <a:xfrm>
            <a:off x="3474720" y="3657600"/>
            <a:ext cx="5212080" cy="347472"/>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GetAwaiter() - pattern-based, not type-based</a:t>
            </a:r>
            <a:endParaRPr lang="en-US" sz="1200" dirty="0"/>
          </a:p>
        </p:txBody>
      </p:sp>
      <p:sp>
        <p:nvSpPr>
          <p:cNvPr id="31" name="Shape 29"/>
          <p:cNvSpPr/>
          <p:nvPr/>
        </p:nvSpPr>
        <p:spPr>
          <a:xfrm>
            <a:off x="457200" y="4069080"/>
            <a:ext cx="64008" cy="347472"/>
          </a:xfrm>
          <a:prstGeom prst="rect">
            <a:avLst/>
          </a:prstGeom>
          <a:solidFill>
            <a:srgbClr val="FBBF24"/>
          </a:solidFill>
          <a:ln/>
        </p:spPr>
        <p:txBody>
          <a:bodyPr/>
          <a:lstStyle/>
          <a:p>
            <a:endParaRPr lang="en-US"/>
          </a:p>
        </p:txBody>
      </p:sp>
      <p:sp>
        <p:nvSpPr>
          <p:cNvPr id="32" name="Text 30"/>
          <p:cNvSpPr/>
          <p:nvPr/>
        </p:nvSpPr>
        <p:spPr>
          <a:xfrm>
            <a:off x="640080" y="4069080"/>
            <a:ext cx="411480" cy="347472"/>
          </a:xfrm>
          <a:prstGeom prst="rect">
            <a:avLst/>
          </a:prstGeom>
          <a:noFill/>
          <a:ln/>
        </p:spPr>
        <p:txBody>
          <a:bodyPr wrap="square" lIns="0" tIns="0" rIns="0" bIns="0" rtlCol="0" anchor="ctr"/>
          <a:lstStyle/>
          <a:p>
            <a:pPr marL="0" indent="0">
              <a:buNone/>
            </a:pPr>
            <a:r>
              <a:rPr lang="en-GB" sz="1000" dirty="0">
                <a:solidFill>
                  <a:srgbClr val="94A3B8"/>
                </a:solidFill>
                <a:latin typeface="Consolas" pitchFamily="34" charset="0"/>
              </a:rPr>
              <a:t>0</a:t>
            </a:r>
            <a:r>
              <a:rPr lang="en-US" sz="1000" dirty="0">
                <a:solidFill>
                  <a:srgbClr val="94A3B8"/>
                </a:solidFill>
                <a:latin typeface="Consolas" pitchFamily="34" charset="0"/>
              </a:rPr>
              <a:t>9</a:t>
            </a:r>
            <a:endParaRPr lang="en-US" sz="1000" dirty="0"/>
          </a:p>
        </p:txBody>
      </p:sp>
      <p:sp>
        <p:nvSpPr>
          <p:cNvPr id="33" name="Text 31"/>
          <p:cNvSpPr/>
          <p:nvPr/>
        </p:nvSpPr>
        <p:spPr>
          <a:xfrm>
            <a:off x="1051560" y="4069080"/>
            <a:ext cx="2377440" cy="347472"/>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State machine</a:t>
            </a:r>
            <a:endParaRPr lang="en-US" sz="1200" dirty="0"/>
          </a:p>
        </p:txBody>
      </p:sp>
      <p:sp>
        <p:nvSpPr>
          <p:cNvPr id="34" name="Text 32"/>
          <p:cNvSpPr/>
          <p:nvPr/>
        </p:nvSpPr>
        <p:spPr>
          <a:xfrm>
            <a:off x="3474720" y="4069080"/>
            <a:ext cx="5212080" cy="347472"/>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Compiler rewrites to struct + MoveNext() + switch</a:t>
            </a:r>
            <a:endParaRPr lang="en-US" sz="1200" dirty="0"/>
          </a:p>
        </p:txBody>
      </p:sp>
      <p:sp>
        <p:nvSpPr>
          <p:cNvPr id="35" name="Shape 33"/>
          <p:cNvSpPr/>
          <p:nvPr/>
        </p:nvSpPr>
        <p:spPr>
          <a:xfrm>
            <a:off x="457200" y="4480560"/>
            <a:ext cx="64008" cy="347472"/>
          </a:xfrm>
          <a:prstGeom prst="rect">
            <a:avLst/>
          </a:prstGeom>
          <a:solidFill>
            <a:srgbClr val="FB923C"/>
          </a:solidFill>
          <a:ln/>
        </p:spPr>
        <p:txBody>
          <a:bodyPr/>
          <a:lstStyle/>
          <a:p>
            <a:endParaRPr lang="en-US"/>
          </a:p>
        </p:txBody>
      </p:sp>
      <p:sp>
        <p:nvSpPr>
          <p:cNvPr id="36" name="Text 34"/>
          <p:cNvSpPr/>
          <p:nvPr/>
        </p:nvSpPr>
        <p:spPr>
          <a:xfrm>
            <a:off x="640080" y="4480560"/>
            <a:ext cx="411480" cy="347472"/>
          </a:xfrm>
          <a:prstGeom prst="rect">
            <a:avLst/>
          </a:prstGeom>
          <a:noFill/>
          <a:ln/>
        </p:spPr>
        <p:txBody>
          <a:bodyPr wrap="square" lIns="0" tIns="0" rIns="0" bIns="0" rtlCol="0" anchor="ctr"/>
          <a:lstStyle/>
          <a:p>
            <a:pPr marL="0" indent="0">
              <a:buNone/>
            </a:pPr>
            <a:r>
              <a:rPr lang="en-US" sz="1000" dirty="0">
                <a:solidFill>
                  <a:srgbClr val="94A3B8"/>
                </a:solidFill>
                <a:latin typeface="Consolas" pitchFamily="34" charset="0"/>
                <a:ea typeface="Consolas" pitchFamily="34" charset="-122"/>
                <a:cs typeface="Consolas" pitchFamily="34" charset="-120"/>
              </a:rPr>
              <a:t>10</a:t>
            </a:r>
            <a:endParaRPr lang="en-US" sz="1000" dirty="0"/>
          </a:p>
        </p:txBody>
      </p:sp>
      <p:sp>
        <p:nvSpPr>
          <p:cNvPr id="37" name="Text 35"/>
          <p:cNvSpPr/>
          <p:nvPr/>
        </p:nvSpPr>
        <p:spPr>
          <a:xfrm>
            <a:off x="1051560" y="4480560"/>
            <a:ext cx="2377440" cy="347472"/>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ConfigureAwait(false)</a:t>
            </a:r>
            <a:endParaRPr lang="en-US" sz="1200" dirty="0"/>
          </a:p>
        </p:txBody>
      </p:sp>
      <p:sp>
        <p:nvSpPr>
          <p:cNvPr id="38" name="Text 36"/>
          <p:cNvSpPr/>
          <p:nvPr/>
        </p:nvSpPr>
        <p:spPr>
          <a:xfrm>
            <a:off x="3474720" y="4480560"/>
            <a:ext cx="5212080" cy="347472"/>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Skip context capture - use in libraries</a:t>
            </a:r>
            <a:endParaRPr lang="en-US" sz="1200" dirty="0"/>
          </a:p>
        </p:txBody>
      </p:sp>
      <p:sp>
        <p:nvSpPr>
          <p:cNvPr id="39" name="Text 37"/>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35</a:t>
            </a:r>
            <a:endParaRPr lang="en-US" sz="1000" dirty="0"/>
          </a:p>
        </p:txBody>
      </p:sp>
      <p:sp>
        <p:nvSpPr>
          <p:cNvPr id="40" name="Shape 13">
            <a:extLst>
              <a:ext uri="{FF2B5EF4-FFF2-40B4-BE49-F238E27FC236}">
                <a16:creationId xmlns:a16="http://schemas.microsoft.com/office/drawing/2014/main" id="{5B215BD3-9C4E-D066-5CB0-1DE769320159}"/>
              </a:ext>
            </a:extLst>
          </p:cNvPr>
          <p:cNvSpPr/>
          <p:nvPr/>
        </p:nvSpPr>
        <p:spPr>
          <a:xfrm>
            <a:off x="457200" y="2002536"/>
            <a:ext cx="64008" cy="347472"/>
          </a:xfrm>
          <a:prstGeom prst="rect">
            <a:avLst/>
          </a:prstGeom>
          <a:solidFill>
            <a:srgbClr val="A78BFA"/>
          </a:solidFill>
          <a:ln/>
        </p:spPr>
        <p:txBody>
          <a:bodyPr/>
          <a:lstStyle/>
          <a:p>
            <a:endParaRPr lang="en-US"/>
          </a:p>
        </p:txBody>
      </p:sp>
      <p:sp>
        <p:nvSpPr>
          <p:cNvPr id="41" name="Text 14">
            <a:extLst>
              <a:ext uri="{FF2B5EF4-FFF2-40B4-BE49-F238E27FC236}">
                <a16:creationId xmlns:a16="http://schemas.microsoft.com/office/drawing/2014/main" id="{88AB8D77-A56F-FF8A-0E83-09BC345EED94}"/>
              </a:ext>
            </a:extLst>
          </p:cNvPr>
          <p:cNvSpPr/>
          <p:nvPr/>
        </p:nvSpPr>
        <p:spPr>
          <a:xfrm>
            <a:off x="640080" y="2002536"/>
            <a:ext cx="411480" cy="347472"/>
          </a:xfrm>
          <a:prstGeom prst="rect">
            <a:avLst/>
          </a:prstGeom>
          <a:noFill/>
          <a:ln/>
        </p:spPr>
        <p:txBody>
          <a:bodyPr wrap="square" lIns="0" tIns="0" rIns="0" bIns="0" rtlCol="0" anchor="ctr"/>
          <a:lstStyle/>
          <a:p>
            <a:pPr marL="0" indent="0">
              <a:buNone/>
            </a:pPr>
            <a:r>
              <a:rPr lang="en-US" sz="1000" dirty="0">
                <a:solidFill>
                  <a:srgbClr val="94A3B8"/>
                </a:solidFill>
                <a:latin typeface="Consolas" pitchFamily="34" charset="0"/>
                <a:ea typeface="Consolas" pitchFamily="34" charset="-122"/>
                <a:cs typeface="Consolas" pitchFamily="34" charset="-120"/>
              </a:rPr>
              <a:t>04</a:t>
            </a:r>
            <a:endParaRPr lang="en-US" sz="1000" dirty="0"/>
          </a:p>
        </p:txBody>
      </p:sp>
      <p:sp>
        <p:nvSpPr>
          <p:cNvPr id="42" name="Text 15">
            <a:extLst>
              <a:ext uri="{FF2B5EF4-FFF2-40B4-BE49-F238E27FC236}">
                <a16:creationId xmlns:a16="http://schemas.microsoft.com/office/drawing/2014/main" id="{C8062069-653A-8A1E-884C-3FD454E9FE5A}"/>
              </a:ext>
            </a:extLst>
          </p:cNvPr>
          <p:cNvSpPr/>
          <p:nvPr/>
        </p:nvSpPr>
        <p:spPr>
          <a:xfrm>
            <a:off x="1051560" y="2002536"/>
            <a:ext cx="2377440" cy="347472"/>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Cancellation Tokens</a:t>
            </a:r>
            <a:endParaRPr lang="en-US" sz="1200" dirty="0"/>
          </a:p>
        </p:txBody>
      </p:sp>
      <p:sp>
        <p:nvSpPr>
          <p:cNvPr id="43" name="Text 16">
            <a:extLst>
              <a:ext uri="{FF2B5EF4-FFF2-40B4-BE49-F238E27FC236}">
                <a16:creationId xmlns:a16="http://schemas.microsoft.com/office/drawing/2014/main" id="{A14AFBE7-AB53-A066-5EEF-FD2973AB72C1}"/>
              </a:ext>
            </a:extLst>
          </p:cNvPr>
          <p:cNvSpPr/>
          <p:nvPr/>
        </p:nvSpPr>
        <p:spPr>
          <a:xfrm>
            <a:off x="3474720" y="2002536"/>
            <a:ext cx="5212080" cy="347472"/>
          </a:xfrm>
          <a:prstGeom prst="rect">
            <a:avLst/>
          </a:prstGeom>
          <a:noFill/>
          <a:ln/>
        </p:spPr>
        <p:txBody>
          <a:bodyPr wrap="square" lIns="0" tIns="0" rIns="0" bIns="0" rtlCol="0" anchor="ctr"/>
          <a:lstStyle/>
          <a:p>
            <a:pPr marL="0" indent="0">
              <a:buNone/>
            </a:pPr>
            <a:r>
              <a:rPr lang="en-GB" sz="1200" dirty="0">
                <a:solidFill>
                  <a:srgbClr val="94A3B8"/>
                </a:solidFill>
                <a:latin typeface="Calibri" pitchFamily="34" charset="0"/>
                <a:ea typeface="Calibri" pitchFamily="34" charset="-122"/>
                <a:cs typeface="Calibri" pitchFamily="34" charset="-120"/>
              </a:rPr>
              <a:t>S</a:t>
            </a:r>
            <a:r>
              <a:rPr lang="en-US" sz="1200" dirty="0">
                <a:solidFill>
                  <a:srgbClr val="94A3B8"/>
                </a:solidFill>
                <a:latin typeface="Calibri" pitchFamily="34" charset="0"/>
                <a:ea typeface="Calibri" pitchFamily="34" charset="-122"/>
                <a:cs typeface="Calibri" pitchFamily="34" charset="-120"/>
              </a:rPr>
              <a:t>topping operations which are no longer necessary</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44">
    <p:bg>
      <p:bgPr>
        <a:solidFill>
          <a:srgbClr val="0F172A"/>
        </a:solidFill>
        <a:effectLst/>
      </p:bgPr>
    </p:bg>
    <p:spTree>
      <p:nvGrpSpPr>
        <p:cNvPr id="1" name=""/>
        <p:cNvGrpSpPr/>
        <p:nvPr/>
      </p:nvGrpSpPr>
      <p:grpSpPr>
        <a:xfrm>
          <a:off x="0" y="0"/>
          <a:ext cx="0" cy="0"/>
          <a:chOff x="0" y="0"/>
          <a:chExt cx="0" cy="0"/>
        </a:xfrm>
      </p:grpSpPr>
      <p:sp>
        <p:nvSpPr>
          <p:cNvPr id="2" name="Text T"/>
          <p:cNvSpPr/>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F1F5F9"/>
                </a:solidFill>
                <a:latin typeface="Trebuchet MS" pitchFamily="34" charset="0"/>
              </a:rPr>
              <a:t>ValueTask: Reducing Allocations on Hot Paths</a:t>
            </a:r>
          </a:p>
        </p:txBody>
      </p:sp>
      <p:sp>
        <p:nvSpPr>
          <p:cNvPr id="3" name="Code"/>
          <p:cNvSpPr/>
          <p:nvPr/>
        </p:nvSpPr>
        <p:spPr>
          <a:xfrm>
            <a:off x="594360" y="1097280"/>
            <a:ext cx="5212080" cy="3291840"/>
          </a:xfrm>
          <a:prstGeom prst="rect">
            <a:avLst/>
          </a:prstGeom>
          <a:noFill/>
          <a:ln/>
        </p:spPr>
        <p:txBody>
          <a:bodyPr wrap="square" lIns="0" tIns="0" rIns="0" bIns="0" rtlCol="0" anchor="t"/>
          <a:lstStyle/>
          <a:p>
            <a:pPr marL="0" indent="0">
              <a:spcAft>
                <a:spcPts val="200"/>
              </a:spcAft>
              <a:buNone/>
            </a:pPr>
            <a:endParaRPr lang="en-US" sz="1100" dirty="0">
              <a:solidFill>
                <a:srgbClr val="E2E8F0"/>
              </a:solidFill>
              <a:latin typeface="Consolas" pitchFamily="34" charset="0"/>
            </a:endParaRPr>
          </a:p>
        </p:txBody>
      </p:sp>
      <p:sp>
        <p:nvSpPr>
          <p:cNvPr id="5" name="Bullets"/>
          <p:cNvSpPr/>
          <p:nvPr/>
        </p:nvSpPr>
        <p:spPr>
          <a:xfrm>
            <a:off x="530352" y="999558"/>
            <a:ext cx="2743200" cy="347472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E2E8F0"/>
                </a:solidFill>
                <a:latin typeface="Calibri" pitchFamily="34" charset="0"/>
              </a:rPr>
              <a:t>ValueTask&lt;T&gt; is a struct wrapping either a result or a Task&lt;T&gt;</a:t>
            </a:r>
          </a:p>
          <a:p>
            <a:pPr marL="342900" indent="-342900">
              <a:spcAft>
                <a:spcPts val="600"/>
              </a:spcAft>
              <a:buSzPct val="100000"/>
              <a:buChar char="•"/>
            </a:pPr>
            <a:r>
              <a:rPr lang="en-US" sz="1200" dirty="0">
                <a:solidFill>
                  <a:srgbClr val="E2E8F0"/>
                </a:solidFill>
                <a:latin typeface="Calibri" pitchFamily="34" charset="0"/>
              </a:rPr>
              <a:t>Synchronous completion with cached result: zero allocations</a:t>
            </a:r>
          </a:p>
          <a:p>
            <a:pPr marL="342900" indent="-342900">
              <a:spcAft>
                <a:spcPts val="600"/>
              </a:spcAft>
              <a:buSzPct val="100000"/>
              <a:buChar char="•"/>
            </a:pPr>
            <a:r>
              <a:rPr lang="en-US" sz="1200" dirty="0">
                <a:solidFill>
                  <a:srgbClr val="E2E8F0"/>
                </a:solidFill>
                <a:latin typeface="Calibri" pitchFamily="34" charset="0"/>
              </a:rPr>
              <a:t>Needs to suspend: falls back to one Task allocation (same as Task&lt;T&gt;)</a:t>
            </a:r>
          </a:p>
          <a:p>
            <a:pPr marL="342900" indent="-342900">
              <a:spcAft>
                <a:spcPts val="600"/>
              </a:spcAft>
              <a:buSzPct val="100000"/>
              <a:buChar char="•"/>
            </a:pPr>
            <a:r>
              <a:rPr lang="en-US" sz="1200" dirty="0">
                <a:solidFill>
                  <a:srgbClr val="E2E8F0"/>
                </a:solidFill>
                <a:latin typeface="Calibri" pitchFamily="34" charset="0"/>
              </a:rPr>
              <a:t>Used throughout .NET internals (Streams, Sockets, HttpClient)</a:t>
            </a:r>
          </a:p>
          <a:p>
            <a:pPr marL="342900" indent="-342900">
              <a:spcAft>
                <a:spcPts val="600"/>
              </a:spcAft>
              <a:buSzPct val="100000"/>
              <a:buChar char="•"/>
            </a:pPr>
            <a:r>
              <a:rPr lang="en-US" sz="1200" dirty="0">
                <a:solidFill>
                  <a:srgbClr val="E2E8F0"/>
                </a:solidFill>
                <a:latin typeface="Calibri" pitchFamily="34" charset="0"/>
              </a:rPr>
              <a:t>Stricter usage rules: await once, don't cache, no concurrent awaits</a:t>
            </a:r>
          </a:p>
          <a:p>
            <a:pPr marL="342900" indent="-342900">
              <a:spcAft>
                <a:spcPts val="600"/>
              </a:spcAft>
              <a:buSzPct val="100000"/>
              <a:buChar char="•"/>
            </a:pPr>
            <a:r>
              <a:rPr lang="en-US" sz="1200" dirty="0">
                <a:solidFill>
                  <a:srgbClr val="E2E8F0"/>
                </a:solidFill>
                <a:latin typeface="Calibri" pitchFamily="34" charset="0"/>
              </a:rPr>
              <a:t>IValueTaskSource: poolable completion source for near-zero alloc</a:t>
            </a:r>
          </a:p>
          <a:p>
            <a:pPr marL="342900" indent="-342900">
              <a:spcAft>
                <a:spcPts val="600"/>
              </a:spcAft>
              <a:buSzPct val="100000"/>
              <a:buChar char="•"/>
            </a:pPr>
            <a:r>
              <a:rPr lang="en-US" sz="1200" dirty="0">
                <a:solidFill>
                  <a:srgbClr val="E2E8F0"/>
                </a:solidFill>
                <a:latin typeface="Calibri" pitchFamily="34" charset="0"/>
              </a:rPr>
              <a:t>Profile before switching - only worthwhile on proven hot paths</a:t>
            </a:r>
          </a:p>
        </p:txBody>
      </p:sp>
      <p:sp>
        <p:nvSpPr>
          <p:cNvPr id="98" name="Shape F1"/>
          <p:cNvSpPr/>
          <p:nvPr/>
        </p:nvSpPr>
        <p:spPr>
          <a:xfrm>
            <a:off x="457200" y="4206240"/>
            <a:ext cx="8229600" cy="640080"/>
          </a:xfrm>
          <a:prstGeom prst="rect">
            <a:avLst/>
          </a:prstGeom>
          <a:solidFill>
            <a:srgbClr val="1E293B"/>
          </a:solidFill>
          <a:ln/>
        </p:spPr>
        <p:txBody>
          <a:bodyPr/>
          <a:lstStyle/>
          <a:p>
            <a:endParaRPr lang="en-US"/>
          </a:p>
        </p:txBody>
      </p:sp>
      <p:sp>
        <p:nvSpPr>
          <p:cNvPr id="99" name="Shape F2"/>
          <p:cNvSpPr/>
          <p:nvPr/>
        </p:nvSpPr>
        <p:spPr>
          <a:xfrm>
            <a:off x="457200" y="4206240"/>
            <a:ext cx="73152" cy="640080"/>
          </a:xfrm>
          <a:prstGeom prst="rect">
            <a:avLst/>
          </a:prstGeom>
          <a:solidFill>
            <a:srgbClr val="38BDF8"/>
          </a:solidFill>
          <a:ln/>
        </p:spPr>
        <p:txBody>
          <a:bodyPr/>
          <a:lstStyle/>
          <a:p>
            <a:endParaRPr lang="en-US"/>
          </a:p>
        </p:txBody>
      </p:sp>
      <p:sp>
        <p:nvSpPr>
          <p:cNvPr id="100" name="Text F3"/>
          <p:cNvSpPr/>
          <p:nvPr/>
        </p:nvSpPr>
        <p:spPr>
          <a:xfrm>
            <a:off x="777240" y="4206240"/>
            <a:ext cx="7772400" cy="640080"/>
          </a:xfrm>
          <a:prstGeom prst="rect">
            <a:avLst/>
          </a:prstGeom>
          <a:noFill/>
          <a:ln/>
        </p:spPr>
        <p:txBody>
          <a:bodyPr wrap="square" lIns="0" tIns="0" rIns="0" bIns="0" rtlCol="0" anchor="ctr"/>
          <a:lstStyle/>
          <a:p>
            <a:pPr marL="0" indent="0">
              <a:buNone/>
            </a:pPr>
            <a:r>
              <a:rPr lang="en-US" sz="1300" i="1" dirty="0">
                <a:solidFill>
                  <a:srgbClr val="F1F5F9"/>
                </a:solidFill>
                <a:latin typeface="Calibri" pitchFamily="34" charset="0"/>
              </a:rPr>
              <a:t>ValueTask&lt;T&gt; is a struct that avoids allocating a Task when the result is already available.</a:t>
            </a:r>
          </a:p>
        </p:txBody>
      </p:sp>
      <p:sp>
        <p:nvSpPr>
          <p:cNvPr id="101" name="Text F4"/>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rPr>
              <a:t>28</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45">
    <p:bg>
      <p:bgPr>
        <a:solidFill>
          <a:srgbClr val="0F172A"/>
        </a:solidFill>
        <a:effectLst/>
      </p:bgPr>
    </p:bg>
    <p:spTree>
      <p:nvGrpSpPr>
        <p:cNvPr id="1" name=""/>
        <p:cNvGrpSpPr/>
        <p:nvPr/>
      </p:nvGrpSpPr>
      <p:grpSpPr>
        <a:xfrm>
          <a:off x="0" y="0"/>
          <a:ext cx="0" cy="0"/>
          <a:chOff x="0" y="0"/>
          <a:chExt cx="0" cy="0"/>
        </a:xfrm>
      </p:grpSpPr>
      <p:sp>
        <p:nvSpPr>
          <p:cNvPr id="2" name="Text T"/>
          <p:cNvSpPr/>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F1F5F9"/>
                </a:solidFill>
                <a:latin typeface="Trebuchet MS" pitchFamily="34" charset="0"/>
              </a:rPr>
              <a:t>The Future of async/await</a:t>
            </a:r>
          </a:p>
        </p:txBody>
      </p:sp>
      <p:sp>
        <p:nvSpPr>
          <p:cNvPr id="3" name="Label"/>
          <p:cNvSpPr/>
          <p:nvPr/>
        </p:nvSpPr>
        <p:spPr>
          <a:xfrm>
            <a:off x="457200" y="960120"/>
            <a:ext cx="4023360" cy="365760"/>
          </a:xfrm>
          <a:prstGeom prst="rect">
            <a:avLst/>
          </a:prstGeom>
          <a:noFill/>
          <a:ln/>
        </p:spPr>
        <p:txBody>
          <a:bodyPr wrap="square" lIns="0" tIns="0" rIns="0" bIns="0" rtlCol="0" anchor="ctr"/>
          <a:lstStyle/>
          <a:p>
            <a:pPr marL="0" indent="0">
              <a:buNone/>
            </a:pPr>
            <a:r>
              <a:rPr lang="en-US" sz="1600" b="1" dirty="0">
                <a:solidFill>
                  <a:srgbClr val="38BDF8"/>
                </a:solidFill>
                <a:latin typeface="Calibri" pitchFamily="34" charset="0"/>
              </a:rPr>
              <a:t>Where We Are</a:t>
            </a:r>
          </a:p>
        </p:txBody>
      </p:sp>
      <p:sp>
        <p:nvSpPr>
          <p:cNvPr id="4" name="Bullets"/>
          <p:cNvSpPr/>
          <p:nvPr/>
        </p:nvSpPr>
        <p:spPr>
          <a:xfrm>
            <a:off x="457200" y="1280160"/>
            <a:ext cx="4023360" cy="21945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E2E8F0"/>
                </a:solidFill>
                <a:latin typeface="Calibri" pitchFamily="34" charset="0"/>
              </a:rPr>
              <a:t>Compiler-generated state machines transform async methods</a:t>
            </a:r>
          </a:p>
          <a:p>
            <a:pPr marL="342900" indent="-342900">
              <a:spcAft>
                <a:spcPts val="600"/>
              </a:spcAft>
              <a:buSzPct val="100000"/>
              <a:buChar char="•"/>
            </a:pPr>
            <a:r>
              <a:rPr lang="en-US" sz="1200" dirty="0">
                <a:solidFill>
                  <a:srgbClr val="E2E8F0"/>
                </a:solidFill>
                <a:latin typeface="Calibri" pitchFamily="34" charset="0"/>
              </a:rPr>
              <a:t>Heap allocation when the state machine suspends (boxing)</a:t>
            </a:r>
          </a:p>
          <a:p>
            <a:pPr marL="342900" indent="-342900">
              <a:spcAft>
                <a:spcPts val="600"/>
              </a:spcAft>
              <a:buSzPct val="100000"/>
              <a:buChar char="•"/>
            </a:pPr>
            <a:r>
              <a:rPr lang="en-US" sz="1200" dirty="0">
                <a:solidFill>
                  <a:srgbClr val="E2E8F0"/>
                </a:solidFill>
                <a:latin typeface="Calibri" pitchFamily="34" charset="0"/>
              </a:rPr>
              <a:t>SynchronizationContext and ThreadPool as scheduling layers</a:t>
            </a:r>
          </a:p>
          <a:p>
            <a:pPr marL="342900" indent="-342900">
              <a:spcAft>
                <a:spcPts val="600"/>
              </a:spcAft>
              <a:buSzPct val="100000"/>
              <a:buChar char="•"/>
            </a:pPr>
            <a:r>
              <a:rPr lang="en-US" sz="1200" dirty="0">
                <a:solidFill>
                  <a:srgbClr val="E2E8F0"/>
                </a:solidFill>
                <a:latin typeface="Calibri" pitchFamily="34" charset="0"/>
              </a:rPr>
              <a:t>ConfigureAwait(false) is a manual concern in library code</a:t>
            </a:r>
          </a:p>
          <a:p>
            <a:pPr marL="342900" indent="-342900">
              <a:spcAft>
                <a:spcPts val="600"/>
              </a:spcAft>
              <a:buSzPct val="100000"/>
              <a:buChar char="•"/>
            </a:pPr>
            <a:r>
              <a:rPr lang="en-US" sz="1200" dirty="0">
                <a:solidFill>
                  <a:srgbClr val="E2E8F0"/>
                </a:solidFill>
                <a:latin typeface="Calibri" pitchFamily="34" charset="0"/>
              </a:rPr>
              <a:t>Sophisticated but complex - context capture, scheduler hops, etc.</a:t>
            </a:r>
          </a:p>
        </p:txBody>
      </p:sp>
      <p:sp>
        <p:nvSpPr>
          <p:cNvPr id="5" name="Label"/>
          <p:cNvSpPr/>
          <p:nvPr/>
        </p:nvSpPr>
        <p:spPr>
          <a:xfrm>
            <a:off x="4663040" y="960120"/>
            <a:ext cx="4023360" cy="365760"/>
          </a:xfrm>
          <a:prstGeom prst="rect">
            <a:avLst/>
          </a:prstGeom>
          <a:noFill/>
          <a:ln/>
        </p:spPr>
        <p:txBody>
          <a:bodyPr wrap="square" lIns="0" tIns="0" rIns="0" bIns="0" rtlCol="0" anchor="ctr"/>
          <a:lstStyle/>
          <a:p>
            <a:pPr marL="0" indent="0">
              <a:buNone/>
            </a:pPr>
            <a:r>
              <a:rPr lang="en-US" sz="1600" b="1" dirty="0">
                <a:solidFill>
                  <a:srgbClr val="4ADE80"/>
                </a:solidFill>
                <a:latin typeface="Calibri" pitchFamily="34" charset="0"/>
              </a:rPr>
              <a:t>Where We're Headed</a:t>
            </a:r>
          </a:p>
        </p:txBody>
      </p:sp>
      <p:sp>
        <p:nvSpPr>
          <p:cNvPr id="6" name="Bullets"/>
          <p:cNvSpPr/>
          <p:nvPr/>
        </p:nvSpPr>
        <p:spPr>
          <a:xfrm>
            <a:off x="4663040" y="1280160"/>
            <a:ext cx="4023360" cy="21945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E2E8F0"/>
                </a:solidFill>
                <a:latin typeface="Calibri" pitchFamily="34" charset="0"/>
              </a:rPr>
              <a:t>Runtime-aware async: .NET team exploring first-class runtime support for continuations</a:t>
            </a:r>
          </a:p>
        </p:txBody>
      </p:sp>
      <p:sp>
        <p:nvSpPr>
          <p:cNvPr id="70" name="CodeBg"/>
          <p:cNvSpPr/>
          <p:nvPr/>
        </p:nvSpPr>
        <p:spPr>
          <a:xfrm>
            <a:off x="457200" y="3108960"/>
            <a:ext cx="8229600" cy="1280160"/>
          </a:xfrm>
          <a:prstGeom prst="rect">
            <a:avLst/>
          </a:prstGeom>
          <a:solidFill>
            <a:srgbClr val="1E293B"/>
          </a:solidFill>
          <a:ln/>
          <a:effectLst>
            <a:outerShdw blurRad="101600" dist="38100" dir="8100000" algn="bl" rotWithShape="0">
              <a:srgbClr val="000000">
                <a:alpha val="30000"/>
              </a:srgbClr>
            </a:outerShdw>
          </a:effectLst>
        </p:spPr>
        <p:txBody>
          <a:bodyPr/>
          <a:lstStyle/>
          <a:p>
            <a:endParaRPr lang="en-US"/>
          </a:p>
        </p:txBody>
      </p:sp>
      <p:sp>
        <p:nvSpPr>
          <p:cNvPr id="7" name="Code"/>
          <p:cNvSpPr/>
          <p:nvPr/>
        </p:nvSpPr>
        <p:spPr>
          <a:xfrm>
            <a:off x="571500" y="3268980"/>
            <a:ext cx="7955280" cy="1097280"/>
          </a:xfrm>
          <a:prstGeom prst="rect">
            <a:avLst/>
          </a:prstGeom>
          <a:noFill/>
          <a:ln/>
        </p:spPr>
        <p:txBody>
          <a:bodyPr wrap="square" lIns="0" tIns="0" rIns="0" bIns="0" rtlCol="0" anchor="t"/>
          <a:lstStyle/>
          <a:p>
            <a:pPr marL="0" indent="0">
              <a:spcAft>
                <a:spcPts val="200"/>
              </a:spcAft>
              <a:buNone/>
            </a:pPr>
            <a:r>
              <a:rPr lang="en-US" sz="1100" dirty="0">
                <a:solidFill>
                  <a:srgbClr val="E2E8F0"/>
                </a:solidFill>
                <a:latin typeface="Consolas" pitchFamily="34" charset="0"/>
              </a:rPr>
              <a:t>// Today: compiler transforms async methods into state machine structs, boxes to heap on suspend</a:t>
            </a:r>
          </a:p>
          <a:p>
            <a:pPr marL="0" indent="0">
              <a:spcAft>
                <a:spcPts val="200"/>
              </a:spcAft>
              <a:buNone/>
            </a:pPr>
            <a:r>
              <a:rPr lang="en-US" sz="1100" dirty="0">
                <a:solidFill>
                  <a:srgbClr val="E2E8F0"/>
                </a:solidFill>
                <a:latin typeface="Consolas" pitchFamily="34" charset="0"/>
              </a:rPr>
              <a:t>// Result: cheaper suspension, less GC pressure, simpler ConfigureAwait story</a:t>
            </a:r>
          </a:p>
          <a:p>
            <a:pPr marL="0" indent="0">
              <a:spcAft>
                <a:spcPts val="200"/>
              </a:spcAft>
              <a:buNone/>
            </a:pPr>
            <a:r>
              <a:rPr lang="en-US" sz="1100" dirty="0">
                <a:solidFill>
                  <a:srgbClr val="E2E8F0"/>
                </a:solidFill>
                <a:latin typeface="Consolas" pitchFamily="34" charset="0"/>
              </a:rPr>
              <a:t>// Watch: dotnet/runtime proposals on GitHub for the next chapter of async in .NET</a:t>
            </a:r>
          </a:p>
        </p:txBody>
      </p:sp>
      <p:sp>
        <p:nvSpPr>
          <p:cNvPr id="98" name="Shape F1"/>
          <p:cNvSpPr/>
          <p:nvPr/>
        </p:nvSpPr>
        <p:spPr>
          <a:xfrm>
            <a:off x="457200" y="4389120"/>
            <a:ext cx="8229600" cy="640080"/>
          </a:xfrm>
          <a:prstGeom prst="rect">
            <a:avLst/>
          </a:prstGeom>
          <a:solidFill>
            <a:srgbClr val="1E293B"/>
          </a:solidFill>
          <a:ln/>
        </p:spPr>
        <p:txBody>
          <a:bodyPr/>
          <a:lstStyle/>
          <a:p>
            <a:endParaRPr lang="en-US"/>
          </a:p>
        </p:txBody>
      </p:sp>
      <p:sp>
        <p:nvSpPr>
          <p:cNvPr id="99" name="Shape F2"/>
          <p:cNvSpPr/>
          <p:nvPr/>
        </p:nvSpPr>
        <p:spPr>
          <a:xfrm>
            <a:off x="457200" y="4389120"/>
            <a:ext cx="73152" cy="640080"/>
          </a:xfrm>
          <a:prstGeom prst="rect">
            <a:avLst/>
          </a:prstGeom>
          <a:solidFill>
            <a:srgbClr val="38BDF8"/>
          </a:solidFill>
          <a:ln/>
        </p:spPr>
        <p:txBody>
          <a:bodyPr/>
          <a:lstStyle/>
          <a:p>
            <a:endParaRPr lang="en-US"/>
          </a:p>
        </p:txBody>
      </p:sp>
      <p:sp>
        <p:nvSpPr>
          <p:cNvPr id="100" name="Text F3"/>
          <p:cNvSpPr/>
          <p:nvPr/>
        </p:nvSpPr>
        <p:spPr>
          <a:xfrm>
            <a:off x="777240" y="4389120"/>
            <a:ext cx="7772400" cy="640080"/>
          </a:xfrm>
          <a:prstGeom prst="rect">
            <a:avLst/>
          </a:prstGeom>
          <a:noFill/>
          <a:ln/>
        </p:spPr>
        <p:txBody>
          <a:bodyPr wrap="square" lIns="0" tIns="0" rIns="0" bIns="0" rtlCol="0" anchor="ctr"/>
          <a:lstStyle/>
          <a:p>
            <a:pPr marL="0" indent="0">
              <a:buNone/>
            </a:pPr>
            <a:r>
              <a:rPr lang="en-US" sz="1300" i="1" dirty="0">
                <a:solidFill>
                  <a:srgbClr val="F1F5F9"/>
                </a:solidFill>
                <a:latin typeface="Calibri" pitchFamily="34" charset="0"/>
              </a:rPr>
              <a:t>async/await today is a compiler trick. Tomorrow, it may be a runtime primitive.</a:t>
            </a:r>
          </a:p>
        </p:txBody>
      </p:sp>
      <p:sp>
        <p:nvSpPr>
          <p:cNvPr id="101" name="Text F4"/>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rPr>
              <a:t>29</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7">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rot="600000">
            <a:off x="5943600" y="3657600"/>
            <a:ext cx="4572000" cy="2743200"/>
          </a:xfrm>
          <a:prstGeom prst="rect">
            <a:avLst/>
          </a:prstGeom>
          <a:solidFill>
            <a:srgbClr val="38BDF8"/>
          </a:solidFill>
          <a:ln/>
        </p:spPr>
        <p:txBody>
          <a:bodyPr/>
          <a:lstStyle/>
          <a:p>
            <a:endParaRPr lang="en-US"/>
          </a:p>
        </p:txBody>
      </p:sp>
      <p:sp>
        <p:nvSpPr>
          <p:cNvPr id="3" name="Shape 1"/>
          <p:cNvSpPr/>
          <p:nvPr/>
        </p:nvSpPr>
        <p:spPr>
          <a:xfrm rot="600000">
            <a:off x="6400800" y="3200400"/>
            <a:ext cx="4572000" cy="2743200"/>
          </a:xfrm>
          <a:prstGeom prst="rect">
            <a:avLst/>
          </a:prstGeom>
          <a:solidFill>
            <a:srgbClr val="A78BFA"/>
          </a:solidFill>
          <a:ln/>
        </p:spPr>
        <p:txBody>
          <a:bodyPr/>
          <a:lstStyle/>
          <a:p>
            <a:endParaRPr lang="en-US"/>
          </a:p>
        </p:txBody>
      </p:sp>
      <p:sp>
        <p:nvSpPr>
          <p:cNvPr id="4" name="Text 2"/>
          <p:cNvSpPr/>
          <p:nvPr/>
        </p:nvSpPr>
        <p:spPr>
          <a:xfrm>
            <a:off x="914400" y="2280819"/>
            <a:ext cx="7315200" cy="548640"/>
          </a:xfrm>
          <a:prstGeom prst="rect">
            <a:avLst/>
          </a:prstGeom>
          <a:noFill/>
          <a:ln/>
        </p:spPr>
        <p:txBody>
          <a:bodyPr wrap="square" lIns="0" tIns="0" rIns="0" bIns="0" rtlCol="0" anchor="ctr"/>
          <a:lstStyle/>
          <a:p>
            <a:pPr marL="0" indent="0">
              <a:buNone/>
            </a:pPr>
            <a:r>
              <a:rPr lang="en-US" sz="2800" dirty="0">
                <a:solidFill>
                  <a:srgbClr val="94A3B8"/>
                </a:solidFill>
                <a:latin typeface="Trebuchet MS" pitchFamily="34" charset="0"/>
                <a:ea typeface="Trebuchet MS" pitchFamily="34" charset="-122"/>
                <a:cs typeface="Trebuchet MS" pitchFamily="34" charset="-120"/>
              </a:rPr>
              <a:t>Thank you</a:t>
            </a:r>
            <a:endParaRPr lang="en-US" sz="2800" dirty="0"/>
          </a:p>
        </p:txBody>
      </p:sp>
      <p:sp>
        <p:nvSpPr>
          <p:cNvPr id="5" name="Text 3"/>
          <p:cNvSpPr/>
          <p:nvPr/>
        </p:nvSpPr>
        <p:spPr>
          <a:xfrm>
            <a:off x="640080" y="1783080"/>
            <a:ext cx="7315200" cy="548640"/>
          </a:xfrm>
          <a:prstGeom prst="rect">
            <a:avLst/>
          </a:prstGeom>
          <a:noFill/>
          <a:ln/>
        </p:spPr>
        <p:txBody>
          <a:bodyPr wrap="square" lIns="0" tIns="0" rIns="0" bIns="0" rtlCol="0" anchor="ctr"/>
          <a:lstStyle/>
          <a:p>
            <a:pPr marL="0" indent="0">
              <a:buNone/>
            </a:pPr>
            <a:endParaRPr lang="en-US" sz="2800" dirty="0"/>
          </a:p>
        </p:txBody>
      </p:sp>
      <p:sp>
        <p:nvSpPr>
          <p:cNvPr id="6" name="Text 4"/>
          <p:cNvSpPr/>
          <p:nvPr/>
        </p:nvSpPr>
        <p:spPr>
          <a:xfrm>
            <a:off x="640080" y="2286000"/>
            <a:ext cx="7315200" cy="548640"/>
          </a:xfrm>
          <a:prstGeom prst="rect">
            <a:avLst/>
          </a:prstGeom>
          <a:noFill/>
          <a:ln/>
        </p:spPr>
        <p:txBody>
          <a:bodyPr wrap="square" lIns="0" tIns="0" rIns="0" bIns="0" rtlCol="0" anchor="ctr"/>
          <a:lstStyle/>
          <a:p>
            <a:pPr marL="0" indent="0">
              <a:buNone/>
            </a:pPr>
            <a:endParaRPr lang="en-US" sz="2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ă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1957</TotalTime>
  <Words>7038</Words>
  <Application>Microsoft Office PowerPoint</Application>
  <PresentationFormat>Expunere pe ecran (16:9)</PresentationFormat>
  <Paragraphs>553</Paragraphs>
  <Slides>32</Slides>
  <Notes>32</Notes>
  <HiddenSlides>0</HiddenSlides>
  <MMClips>0</MMClips>
  <ScaleCrop>false</ScaleCrop>
  <HeadingPairs>
    <vt:vector size="6" baseType="variant">
      <vt:variant>
        <vt:lpstr>Fonturi utilizate</vt:lpstr>
      </vt:variant>
      <vt:variant>
        <vt:i4>4</vt:i4>
      </vt:variant>
      <vt:variant>
        <vt:lpstr>Temă</vt:lpstr>
      </vt:variant>
      <vt:variant>
        <vt:i4>1</vt:i4>
      </vt:variant>
      <vt:variant>
        <vt:lpstr>Titluri diapozitive</vt:lpstr>
      </vt:variant>
      <vt:variant>
        <vt:i4>32</vt:i4>
      </vt:variant>
    </vt:vector>
  </HeadingPairs>
  <TitlesOfParts>
    <vt:vector size="37" baseType="lpstr">
      <vt:lpstr>Arial</vt:lpstr>
      <vt:lpstr>Calibri</vt:lpstr>
      <vt:lpstr>Consolas</vt:lpstr>
      <vt:lpstr>Trebuchet MS</vt:lpstr>
      <vt:lpstr>Office Theme</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Beyond the Basics of async/await</dc:title>
  <cp:lastModifiedBy>Rares Negrut</cp:lastModifiedBy>
  <cp:revision>9</cp:revision>
  <dcterms:created xsi:type="dcterms:W3CDTF">2026-02-15T21:56:44Z</dcterms:created>
  <dcterms:modified xsi:type="dcterms:W3CDTF">2026-03-11T06:04:20Z</dcterms:modified>
</cp:coreProperties>
</file>